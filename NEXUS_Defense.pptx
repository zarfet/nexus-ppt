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 your design recommendation ever been overruled? [Pause.] Because someone more senior had a different opinion. You are not alone. Every person in this room who has worked in a team has felt this. That pattern has a name: the HiPPO effect, documented by McAfee and Brynjolfsson in 2012. NEXUS gives designers a structured argument that holds its ground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something called NEXUS. You put in an interface decision you are about to make. It gives you back a structured report, built from evidence. Not a verdict. A tool that informs. The designer still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interviews. UX designers, tech leads, project managers, quality engineers. Not one described a systematic process for choosing an interface type. One of them put it plainly: I research, I substantiate, and I let go. The decision belongs to someone else. That is not a personal failure. It is a structural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Ilverzon Zarate. Over the next fifteen minutes: the problem, the gap, the framework, the evidence, and a live look at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framework I reviewed assumes you already know what interface type you are building. They guide how to refine it, test it, fit it to users. None of them help you choose the type itself. That is the gap this research confirms.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products had the budget, the team, and the technology. None of them failed because the engineering broke. All of them chose the wrong interface type for the context. Hundreds of millions in documented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isolated. Estrada at MIT found in 2025 that 95% of generative AI pilots fail to deliver measurable impact. RAND found in 2024 that 84% of AI project failures trace to leadership decisions, not engineering. The bottleneck is the decision. No tool exists that checks this decision against documented precedent. That is where NEXUS operates.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NEXUS works in four stages, grounded in the DIKW hierarchy Ackoff established in 1989. First, values: the organisation ranks what it stands for. That ranking is the primary filter. Second, context: fifteen questions about users, frequency, and consequences. Third, pattern matching against five documented failures. Fourth, a report. Not a verdict. The designer reads it and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fifteen questions are not arbitrary. Wisdom layer first: values ranking, before any technical question. Knowledge layer: context factors, who uses the product and how. Information layer: risk factors, what happens if something goes wrong. Data layer last: hard constraints that limit which interface types are viable. The order cannot be reversed.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phases of evidence. First, a literature review confirmed no framework existed for this decision, and fifteen interviews produced the values taxonomy. Second, retrospective testing against five failures using only pre-launch data. Third, validation with the same fifteen practitioners as usability testers.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of documented failure factors detected across all five cases. The threshold was 70%, based on the Landis and Koch criterion from 1977 for substantial agreement in decision support research. We exceeded it. Practitioners told us consistently: the red flags are not prohibitions. They are ammunition for stakeholder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Ana. Product manager in healthtech. AR/VR is being pushed in a meeting by someone senior, with no evidence. She has doubts and no framework to push back. She runs NEXUS in ten minutes. The report flags the same risks she felt but could not articulate. She walks back into that meeting with a PDF. The HiPPO is still in the room. But now so is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NEXUS. No installation. Open source under MIT license. [Switch to browser: values ranking, two questions, report output.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Primary: the first replicable protocol for this decision, grounded in DIKW. For practice: evidence designers can use to hold their ground. For the community: open infrastructure that outlives this defense. And as a position: it informs. It does not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close, this is what all of that looks like in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DIKW is the only framework that explicitly separates what we know from why it matters. Other frameworks optimize process or predict adoption after the fact. None of them address the prior question: what interface type should we be building at all. DIKW does. And it is the only one that places values above technical criteria, which is exactly what this decision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criteria: public documentation, pre-launch data available, commercial failure confirmed, interface type mismatch as primary cause, diverse enough to cover multiple categories. These five meet all five criteria. The selection is bounded, not arbitrary.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Recurrent across the corpus, not universal. That distinction matters. The six patterns appeared in more than one case under similar contextual conditions. They are signals, not laws. The framework flags them. The designer interprets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Each answer is scored on a fixed scale. Scores are weighted by DIKW layer, with Wisdom weighted highest. Weights are adjusted by context modifiers from the product context questions. Scores are aggregated per interface type and ranked.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tie is not a failure. It means two interface types are genuinely comparable given the inputs. The report surfaces both with their full profiles and flags which contextual factors are pushing them apart. The designer uses that to make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Community contributions via GitHub pull requests, reviewed against the existing evidence base. Academic updates when new documented cases meet the selection criteria. And a governance model that prevents single-actor capture of the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bounded. One primary methodological contribution, three subordinate ones. The scope is one decision, one context, one validation cycle. Field validation across organisations is the explicit next step. It is not a gap in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is visible. Values ranking goes in at the top. Nine assessment questions feed a weighted scoring engine. Each of the five interface types receives a score. Red flag detection cross-checks the top recommendation against the values the organisation ranked highest. If there is a conflict, a warning is added. The designer sees the reasoning behind every flag, not just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OPENING QUESTION</a:t>
            </a:r>
            <a:endParaRPr lang="en-US" sz="800" dirty="0"/>
          </a:p>
        </p:txBody>
      </p:sp>
      <p:sp>
        <p:nvSpPr>
          <p:cNvPr id="4" name="Text 2"/>
          <p:cNvSpPr/>
          <p:nvPr/>
        </p:nvSpPr>
        <p:spPr>
          <a:xfrm>
            <a:off x="457200" y="640080"/>
            <a:ext cx="5120640" cy="2651760"/>
          </a:xfrm>
          <a:prstGeom prst="rect">
            <a:avLst/>
          </a:prstGeom>
          <a:noFill/>
          <a:ln/>
        </p:spPr>
        <p:txBody>
          <a:bodyPr wrap="square" lIns="0" tIns="0" rIns="0" bIns="0" rtlCol="0" anchor="ctr"/>
          <a:lstStyle/>
          <a:p>
            <a:pPr indent="0" marL="0">
              <a:lnSpc>
                <a:spcPct val="105000"/>
              </a:lnSpc>
              <a:buNone/>
            </a:pPr>
            <a:r>
              <a:rPr lang="en-US" sz="3600" b="1" spc="-150" kern="0" dirty="0">
                <a:solidFill>
                  <a:srgbClr val="18181F"/>
                </a:solidFill>
                <a:latin typeface="Calibri" pitchFamily="34" charset="0"/>
                <a:ea typeface="Calibri" pitchFamily="34" charset="-122"/>
                <a:cs typeface="Calibri" pitchFamily="34" charset="-120"/>
              </a:rPr>
              <a:t>Has your design</a:t>
            </a:r>
            <a:endParaRPr lang="en-US" sz="3600" dirty="0"/>
          </a:p>
          <a:p>
            <a:pPr indent="0" marL="0">
              <a:lnSpc>
                <a:spcPct val="105000"/>
              </a:lnSpc>
              <a:buNone/>
            </a:pPr>
            <a:r>
              <a:rPr lang="en-US" sz="3600" b="1" spc="-150" kern="0" dirty="0">
                <a:solidFill>
                  <a:srgbClr val="18181F"/>
                </a:solidFill>
                <a:latin typeface="Calibri" pitchFamily="34" charset="0"/>
                <a:ea typeface="Calibri" pitchFamily="34" charset="-122"/>
                <a:cs typeface="Calibri" pitchFamily="34" charset="-120"/>
              </a:rPr>
              <a:t>recommendation</a:t>
            </a:r>
            <a:endParaRPr lang="en-US" sz="3600" dirty="0"/>
          </a:p>
          <a:p>
            <a:pPr indent="0" marL="0">
              <a:lnSpc>
                <a:spcPct val="105000"/>
              </a:lnSpc>
              <a:buNone/>
            </a:pPr>
            <a:r>
              <a:rPr lang="en-US" sz="3600" b="1" spc="-150" kern="0" dirty="0">
                <a:solidFill>
                  <a:srgbClr val="18181F"/>
                </a:solidFill>
                <a:latin typeface="Calibri" pitchFamily="34" charset="0"/>
                <a:ea typeface="Calibri" pitchFamily="34" charset="-122"/>
                <a:cs typeface="Calibri" pitchFamily="34" charset="-120"/>
              </a:rPr>
              <a:t>ever been </a:t>
            </a:r>
            <a:endParaRPr lang="en-US" sz="3600" dirty="0"/>
          </a:p>
          <a:p>
            <a:pPr indent="0" marL="0">
              <a:lnSpc>
                <a:spcPct val="105000"/>
              </a:lnSpc>
              <a:buNone/>
            </a:pPr>
            <a:r>
              <a:rPr lang="en-US" sz="3600" b="1" spc="-150" kern="0" dirty="0">
                <a:solidFill>
                  <a:srgbClr val="2563EB"/>
                </a:solidFill>
                <a:latin typeface="Calibri" pitchFamily="34" charset="0"/>
                <a:ea typeface="Calibri" pitchFamily="34" charset="-122"/>
                <a:cs typeface="Calibri" pitchFamily="34" charset="-120"/>
              </a:rPr>
              <a:t>overruled?</a:t>
            </a:r>
            <a:endParaRPr lang="en-US" sz="3600" dirty="0"/>
          </a:p>
        </p:txBody>
      </p:sp>
      <p:sp>
        <p:nvSpPr>
          <p:cNvPr id="5" name="Text 3"/>
          <p:cNvSpPr/>
          <p:nvPr/>
        </p:nvSpPr>
        <p:spPr>
          <a:xfrm>
            <a:off x="457200" y="3401568"/>
            <a:ext cx="5029200" cy="64008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Because someone more senior had a different opinion.</a:t>
            </a:r>
            <a:endParaRPr lang="en-US" sz="1100" dirty="0"/>
          </a:p>
          <a:p>
            <a:pPr indent="0" marL="0">
              <a:buNone/>
            </a:pPr>
            <a:r>
              <a:rPr lang="en-US" sz="1100" dirty="0">
                <a:solidFill>
                  <a:srgbClr val="4B5563"/>
                </a:solidFill>
                <a:latin typeface="Calibri" pitchFamily="34" charset="0"/>
                <a:ea typeface="Calibri" pitchFamily="34" charset="-122"/>
                <a:cs typeface="Calibri" pitchFamily="34" charset="-120"/>
              </a:rPr>
              <a:t>That pattern has a name: the HiPPO effect (McAfee &amp; Brynjolfsson, 2012).</a:t>
            </a:r>
            <a:endParaRPr lang="en-US" sz="1100" dirty="0"/>
          </a:p>
        </p:txBody>
      </p:sp>
      <p:sp>
        <p:nvSpPr>
          <p:cNvPr id="6" name="Text 4"/>
          <p:cNvSpPr/>
          <p:nvPr/>
        </p:nvSpPr>
        <p:spPr>
          <a:xfrm>
            <a:off x="457200" y="4114800"/>
            <a:ext cx="5029200" cy="457200"/>
          </a:xfrm>
          <a:prstGeom prst="rect">
            <a:avLst/>
          </a:prstGeom>
          <a:noFill/>
          <a:ln/>
        </p:spPr>
        <p:txBody>
          <a:bodyPr wrap="square" lIns="0" tIns="0" rIns="0" bIns="0" rtlCol="0" anchor="ctr"/>
          <a:lstStyle/>
          <a:p>
            <a:pPr indent="0" marL="0">
              <a:buNone/>
            </a:pPr>
            <a:r>
              <a:rPr lang="en-US" sz="1100" b="1" dirty="0">
                <a:solidFill>
                  <a:srgbClr val="18181F"/>
                </a:solidFill>
                <a:latin typeface="Calibri" pitchFamily="34" charset="0"/>
                <a:ea typeface="Calibri" pitchFamily="34" charset="-122"/>
                <a:cs typeface="Calibri" pitchFamily="34" charset="-120"/>
              </a:rPr>
              <a:t>NEXUS gives designers a structured argument that holds its ground in the room.</a:t>
            </a:r>
            <a:endParaRPr lang="en-US" sz="1100" dirty="0"/>
          </a:p>
        </p:txBody>
      </p:sp>
      <p:sp>
        <p:nvSpPr>
          <p:cNvPr id="7" name="Shape 5"/>
          <p:cNvSpPr/>
          <p:nvPr/>
        </p:nvSpPr>
        <p:spPr>
          <a:xfrm>
            <a:off x="5852160" y="621792"/>
            <a:ext cx="2834640" cy="3931920"/>
          </a:xfrm>
          <a:prstGeom prst="rect">
            <a:avLst/>
          </a:prstGeom>
          <a:solidFill>
            <a:srgbClr val="EBEBEE"/>
          </a:solidFill>
          <a:ln w="6350">
            <a:solidFill>
              <a:srgbClr val="E4E4EA"/>
            </a:solidFill>
            <a:prstDash val="solid"/>
          </a:ln>
        </p:spPr>
      </p:sp>
      <p:sp>
        <p:nvSpPr>
          <p:cNvPr id="8" name="Text 6"/>
          <p:cNvSpPr/>
          <p:nvPr/>
        </p:nvSpPr>
        <p:spPr>
          <a:xfrm>
            <a:off x="5852160" y="2286000"/>
            <a:ext cx="2834640" cy="365760"/>
          </a:xfrm>
          <a:prstGeom prst="rect">
            <a:avLst/>
          </a:prstGeom>
          <a:noFill/>
          <a:ln/>
        </p:spPr>
        <p:txBody>
          <a:bodyPr wrap="square" lIns="0" tIns="0" rIns="0" bIns="0" rtlCol="0" anchor="ctr"/>
          <a:lstStyle/>
          <a:p>
            <a:pPr algn="ctr" indent="0" marL="0">
              <a:buNone/>
            </a:pPr>
            <a:r>
              <a:rPr lang="en-US" sz="900" dirty="0">
                <a:solidFill>
                  <a:srgbClr val="6B7280"/>
                </a:solidFill>
                <a:latin typeface="Courier New" pitchFamily="34" charset="0"/>
                <a:ea typeface="Courier New" pitchFamily="34" charset="-122"/>
                <a:cs typeface="Courier New" pitchFamily="34" charset="-120"/>
              </a:rPr>
              <a:t>hippo.png</a:t>
            </a:r>
            <a:endParaRPr lang="en-US" sz="900" dirty="0"/>
          </a:p>
        </p:txBody>
      </p:sp>
      <p:sp>
        <p:nvSpPr>
          <p:cNvPr id="9" name="Text 7"/>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10" name="Text 8"/>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01</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WHAT I BUILT</a:t>
            </a:r>
            <a:endParaRPr lang="en-US" sz="800" dirty="0"/>
          </a:p>
        </p:txBody>
      </p:sp>
      <p:sp>
        <p:nvSpPr>
          <p:cNvPr id="4" name="Text 2"/>
          <p:cNvSpPr/>
          <p:nvPr/>
        </p:nvSpPr>
        <p:spPr>
          <a:xfrm>
            <a:off x="457200" y="59436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Give it a decision.</a:t>
            </a:r>
            <a:endParaRPr lang="en-US" sz="2800" dirty="0"/>
          </a:p>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Get back </a:t>
            </a:r>
            <a:endParaRPr lang="en-US" sz="2800" dirty="0"/>
          </a:p>
          <a:p>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evidence.</a:t>
            </a:r>
            <a:endParaRPr lang="en-US" sz="2800" dirty="0"/>
          </a:p>
        </p:txBody>
      </p:sp>
      <p:sp>
        <p:nvSpPr>
          <p:cNvPr id="5" name="Shape 3"/>
          <p:cNvSpPr/>
          <p:nvPr/>
        </p:nvSpPr>
        <p:spPr>
          <a:xfrm>
            <a:off x="1097280" y="1691640"/>
            <a:ext cx="2377440" cy="2011680"/>
          </a:xfrm>
          <a:prstGeom prst="rect">
            <a:avLst>
              <a:gd name="adj" fmla="val 4545"/>
            </a:avLst>
          </a:prstGeom>
          <a:solidFill>
            <a:srgbClr val="FFFFFF"/>
          </a:solidFill>
          <a:ln w="6350">
            <a:solidFill>
              <a:srgbClr val="E4E4EA"/>
            </a:solidFill>
            <a:prstDash val="solid"/>
          </a:ln>
        </p:spPr>
      </p:sp>
      <p:sp>
        <p:nvSpPr>
          <p:cNvPr id="6" name="Text 4"/>
          <p:cNvSpPr/>
          <p:nvPr/>
        </p:nvSpPr>
        <p:spPr>
          <a:xfrm>
            <a:off x="1097280" y="2468880"/>
            <a:ext cx="2377440" cy="457200"/>
          </a:xfrm>
          <a:prstGeom prst="rect">
            <a:avLst/>
          </a:prstGeom>
          <a:noFill/>
          <a:ln/>
        </p:spPr>
        <p:txBody>
          <a:bodyPr wrap="square" lIns="0" tIns="0" rIns="0" bIns="0" rtlCol="0" anchor="ctr"/>
          <a:lstStyle/>
          <a:p>
            <a:pPr algn="ctr" indent="0" marL="0">
              <a:buNone/>
            </a:pPr>
            <a:r>
              <a:rPr lang="en-US" sz="1400" dirty="0">
                <a:solidFill>
                  <a:srgbClr val="4B5563"/>
                </a:solidFill>
                <a:latin typeface="Calibri" pitchFamily="34" charset="0"/>
                <a:ea typeface="Calibri" pitchFamily="34" charset="-122"/>
                <a:cs typeface="Calibri" pitchFamily="34" charset="-120"/>
              </a:rPr>
              <a:t>Your decision</a:t>
            </a:r>
            <a:endParaRPr lang="en-US" sz="1400" dirty="0"/>
          </a:p>
        </p:txBody>
      </p:sp>
      <p:sp>
        <p:nvSpPr>
          <p:cNvPr id="7" name="Text 5"/>
          <p:cNvSpPr/>
          <p:nvPr/>
        </p:nvSpPr>
        <p:spPr>
          <a:xfrm>
            <a:off x="3566160" y="2514600"/>
            <a:ext cx="457200" cy="36576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8" name="Shape 6"/>
          <p:cNvSpPr/>
          <p:nvPr/>
        </p:nvSpPr>
        <p:spPr>
          <a:xfrm>
            <a:off x="4023360" y="1691640"/>
            <a:ext cx="2377440" cy="2011680"/>
          </a:xfrm>
          <a:prstGeom prst="rect">
            <a:avLst>
              <a:gd name="adj" fmla="val 4545"/>
            </a:avLst>
          </a:prstGeom>
          <a:solidFill>
            <a:srgbClr val="FFFFFF"/>
          </a:solidFill>
          <a:ln w="6350">
            <a:solidFill>
              <a:srgbClr val="E4E4EA"/>
            </a:solidFill>
            <a:prstDash val="solid"/>
          </a:ln>
        </p:spPr>
      </p:sp>
      <p:sp>
        <p:nvSpPr>
          <p:cNvPr id="9" name="Text 7"/>
          <p:cNvSpPr/>
          <p:nvPr/>
        </p:nvSpPr>
        <p:spPr>
          <a:xfrm>
            <a:off x="4023360" y="2468880"/>
            <a:ext cx="2377440" cy="457200"/>
          </a:xfrm>
          <a:prstGeom prst="rect">
            <a:avLst/>
          </a:prstGeom>
          <a:noFill/>
          <a:ln/>
        </p:spPr>
        <p:txBody>
          <a:bodyPr wrap="square" lIns="0" tIns="0" rIns="0" bIns="0" rtlCol="0" anchor="ctr"/>
          <a:lstStyle/>
          <a:p>
            <a:pPr algn="ctr" indent="0" marL="0">
              <a:buNone/>
            </a:pPr>
            <a:r>
              <a:rPr lang="en-US" sz="1800" b="1" dirty="0">
                <a:solidFill>
                  <a:srgbClr val="2563EB"/>
                </a:solidFill>
                <a:latin typeface="Calibri" pitchFamily="34" charset="0"/>
                <a:ea typeface="Calibri" pitchFamily="34" charset="-122"/>
                <a:cs typeface="Calibri" pitchFamily="34" charset="-120"/>
              </a:rPr>
              <a:t>NEXUS</a:t>
            </a:r>
            <a:endParaRPr lang="en-US" sz="1800" dirty="0"/>
          </a:p>
        </p:txBody>
      </p:sp>
      <p:sp>
        <p:nvSpPr>
          <p:cNvPr id="10" name="Text 8"/>
          <p:cNvSpPr/>
          <p:nvPr/>
        </p:nvSpPr>
        <p:spPr>
          <a:xfrm>
            <a:off x="6492240" y="2514600"/>
            <a:ext cx="457200" cy="365760"/>
          </a:xfrm>
          <a:prstGeom prst="rect">
            <a:avLst/>
          </a:prstGeom>
          <a:noFill/>
          <a:ln/>
        </p:spPr>
        <p:txBody>
          <a:bodyPr wrap="square" lIns="0" tIns="0" rIns="0" bIns="0" rtlCol="0" anchor="ctr"/>
          <a:lstStyle/>
          <a:p>
            <a:pPr algn="ctr" indent="0" marL="0">
              <a:buNone/>
            </a:pPr>
            <a:r>
              <a:rPr lang="en-US" sz="1800" dirty="0">
                <a:solidFill>
                  <a:srgbClr val="6B7280"/>
                </a:solidFill>
              </a:rPr>
              <a:t>→</a:t>
            </a:r>
            <a:endParaRPr lang="en-US" sz="1800" dirty="0"/>
          </a:p>
        </p:txBody>
      </p:sp>
      <p:sp>
        <p:nvSpPr>
          <p:cNvPr id="11" name="Shape 9"/>
          <p:cNvSpPr/>
          <p:nvPr/>
        </p:nvSpPr>
        <p:spPr>
          <a:xfrm>
            <a:off x="6949440" y="1691640"/>
            <a:ext cx="2377440" cy="2011680"/>
          </a:xfrm>
          <a:prstGeom prst="rect">
            <a:avLst>
              <a:gd name="adj" fmla="val 4545"/>
            </a:avLst>
          </a:prstGeom>
          <a:solidFill>
            <a:srgbClr val="FFFFFF"/>
          </a:solidFill>
          <a:ln w="6350">
            <a:solidFill>
              <a:srgbClr val="E4E4EA"/>
            </a:solidFill>
            <a:prstDash val="solid"/>
          </a:ln>
        </p:spPr>
      </p:sp>
      <p:sp>
        <p:nvSpPr>
          <p:cNvPr id="12" name="Text 10"/>
          <p:cNvSpPr/>
          <p:nvPr/>
        </p:nvSpPr>
        <p:spPr>
          <a:xfrm>
            <a:off x="6949440" y="2468880"/>
            <a:ext cx="2377440" cy="457200"/>
          </a:xfrm>
          <a:prstGeom prst="rect">
            <a:avLst/>
          </a:prstGeom>
          <a:noFill/>
          <a:ln/>
        </p:spPr>
        <p:txBody>
          <a:bodyPr wrap="square" lIns="0" tIns="0" rIns="0" bIns="0" rtlCol="0" anchor="ctr"/>
          <a:lstStyle/>
          <a:p>
            <a:pPr algn="ctr" indent="0" marL="0">
              <a:buNone/>
            </a:pPr>
            <a:r>
              <a:rPr lang="en-US" sz="1400" dirty="0">
                <a:solidFill>
                  <a:srgbClr val="4B5563"/>
                </a:solidFill>
                <a:latin typeface="Calibri" pitchFamily="34" charset="0"/>
                <a:ea typeface="Calibri" pitchFamily="34" charset="-122"/>
                <a:cs typeface="Calibri" pitchFamily="34" charset="-120"/>
              </a:rPr>
              <a:t>A structured report</a:t>
            </a:r>
            <a:endParaRPr lang="en-US" sz="1400" dirty="0"/>
          </a:p>
        </p:txBody>
      </p:sp>
      <p:sp>
        <p:nvSpPr>
          <p:cNvPr id="13" name="Text 11"/>
          <p:cNvSpPr/>
          <p:nvPr/>
        </p:nvSpPr>
        <p:spPr>
          <a:xfrm>
            <a:off x="457200" y="4023360"/>
            <a:ext cx="8229600" cy="457200"/>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Checked against five documented, public cases. Scoped for a master's thesis, not an industrial system.</a:t>
            </a:r>
            <a:endParaRPr lang="en-US" sz="900" dirty="0"/>
          </a:p>
        </p:txBody>
      </p:sp>
      <p:sp>
        <p:nvSpPr>
          <p:cNvPr id="14" name="Text 12"/>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15" name="Text 13"/>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02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THE GAP IN PRACTICE</a:t>
            </a:r>
            <a:endParaRPr lang="en-US" sz="800" dirty="0"/>
          </a:p>
        </p:txBody>
      </p:sp>
      <p:sp>
        <p:nvSpPr>
          <p:cNvPr id="4" name="Text 2"/>
          <p:cNvSpPr/>
          <p:nvPr/>
        </p:nvSpPr>
        <p:spPr>
          <a:xfrm>
            <a:off x="457200" y="594360"/>
            <a:ext cx="8229600" cy="960120"/>
          </a:xfrm>
          <a:prstGeom prst="rect">
            <a:avLst/>
          </a:prstGeom>
          <a:noFill/>
          <a:ln/>
        </p:spPr>
        <p:txBody>
          <a:bodyPr wrap="square" lIns="0" tIns="0" rIns="0" bIns="0" rtlCol="0" anchor="ctr"/>
          <a:lstStyle/>
          <a:p>
            <a:pPr indent="0" marL="0">
              <a:lnSpc>
                <a:spcPct val="100000"/>
              </a:lnSpc>
              <a:buNone/>
            </a:pPr>
            <a:r>
              <a:rPr lang="en-US" sz="2600" b="1" spc="-100" kern="0" dirty="0">
                <a:solidFill>
                  <a:srgbClr val="18181F"/>
                </a:solidFill>
                <a:latin typeface="Calibri" pitchFamily="34" charset="0"/>
                <a:ea typeface="Calibri" pitchFamily="34" charset="-122"/>
                <a:cs typeface="Calibri" pitchFamily="34" charset="-120"/>
              </a:rPr>
              <a:t>Fifteen professionals.
</a:t>
            </a:r>
            <a:pPr indent="0" marL="0">
              <a:lnSpc>
                <a:spcPct val="100000"/>
              </a:lnSpc>
              <a:buNone/>
            </a:pPr>
            <a:r>
              <a:rPr lang="en-US" sz="2600" b="1" spc="-100" kern="0" dirty="0">
                <a:solidFill>
                  <a:srgbClr val="2563EB"/>
                </a:solidFill>
                <a:latin typeface="Calibri" pitchFamily="34" charset="0"/>
                <a:ea typeface="Calibri" pitchFamily="34" charset="-122"/>
                <a:cs typeface="Calibri" pitchFamily="34" charset="-120"/>
              </a:rPr>
              <a:t>Zero systematic frameworks.</a:t>
            </a:r>
            <a:endParaRPr lang="en-US" sz="2600" dirty="0"/>
          </a:p>
        </p:txBody>
      </p:sp>
      <p:sp>
        <p:nvSpPr>
          <p:cNvPr id="5" name="Text 3"/>
          <p:cNvSpPr/>
          <p:nvPr/>
        </p:nvSpPr>
        <p:spPr>
          <a:xfrm>
            <a:off x="457200" y="1664208"/>
            <a:ext cx="8229600" cy="54864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Across fifteen expert interviews: UX designers, technical leads, quality engineers, project managers, not one described a systematic process for choosing an interface type.</a:t>
            </a:r>
            <a:endParaRPr lang="en-US" sz="1100" dirty="0"/>
          </a:p>
        </p:txBody>
      </p:sp>
      <p:sp>
        <p:nvSpPr>
          <p:cNvPr id="6" name="Shape 4"/>
          <p:cNvSpPr/>
          <p:nvPr/>
        </p:nvSpPr>
        <p:spPr>
          <a:xfrm>
            <a:off x="457200" y="2377440"/>
            <a:ext cx="41148" cy="2194560"/>
          </a:xfrm>
          <a:prstGeom prst="rect">
            <a:avLst/>
          </a:prstGeom>
          <a:solidFill>
            <a:srgbClr val="2563EB"/>
          </a:solidFill>
          <a:ln w="12700">
            <a:solidFill>
              <a:srgbClr val="2563EB"/>
            </a:solidFill>
            <a:prstDash val="solid"/>
          </a:ln>
        </p:spPr>
      </p:sp>
      <p:sp>
        <p:nvSpPr>
          <p:cNvPr id="7" name="Shape 5"/>
          <p:cNvSpPr/>
          <p:nvPr/>
        </p:nvSpPr>
        <p:spPr>
          <a:xfrm>
            <a:off x="498348" y="2377440"/>
            <a:ext cx="2592324" cy="2194560"/>
          </a:xfrm>
          <a:prstGeom prst="rect">
            <a:avLst/>
          </a:prstGeom>
          <a:solidFill>
            <a:srgbClr val="FFFFFF"/>
          </a:solidFill>
          <a:ln w="6350">
            <a:solidFill>
              <a:srgbClr val="E4E4EA"/>
            </a:solidFill>
            <a:prstDash val="solid"/>
          </a:ln>
        </p:spPr>
      </p:sp>
      <p:sp>
        <p:nvSpPr>
          <p:cNvPr id="8" name="Text 6"/>
          <p:cNvSpPr/>
          <p:nvPr/>
        </p:nvSpPr>
        <p:spPr>
          <a:xfrm>
            <a:off x="621792" y="2505456"/>
            <a:ext cx="2377440" cy="1993392"/>
          </a:xfrm>
          <a:prstGeom prst="rect">
            <a:avLst/>
          </a:prstGeom>
          <a:noFill/>
          <a:ln/>
        </p:spPr>
        <p:txBody>
          <a:bodyPr wrap="square" lIns="0" tIns="0" rIns="0" bIns="0" rtlCol="0" anchor="t"/>
          <a:lstStyle/>
          <a:p>
            <a:pPr indent="0" marL="0">
              <a:buNone/>
            </a:pPr>
            <a:r>
              <a:rPr lang="en-US" sz="900" dirty="0">
                <a:solidFill>
                  <a:srgbClr val="18181F"/>
                </a:solidFill>
                <a:latin typeface="Calibri" pitchFamily="34" charset="0"/>
                <a:ea typeface="Calibri" pitchFamily="34" charset="-122"/>
                <a:cs typeface="Calibri" pitchFamily="34" charset="-120"/>
              </a:rPr>
              <a:t>"Decisions here are not grounded in evidence. It is much more authoritarian than evidence-based."</a:t>
            </a:r>
            <a:endParaRPr lang="en-US" sz="900" dirty="0"/>
          </a:p>
          <a:p>
            <a:pPr indent="0" marL="0">
              <a:buNone/>
            </a:pPr>
            <a:endParaRPr lang="en-US" sz="900" dirty="0"/>
          </a:p>
          <a:p>
            <a:pPr indent="0" marL="0">
              <a:buNone/>
            </a:pPr>
            <a:r>
              <a:rPr lang="en-US" sz="750" dirty="0">
                <a:solidFill>
                  <a:srgbClr val="6B7280"/>
                </a:solidFill>
                <a:latin typeface="Courier New" pitchFamily="34" charset="0"/>
                <a:ea typeface="Courier New" pitchFamily="34" charset="-122"/>
                <a:cs typeface="Courier New" pitchFamily="34" charset="-120"/>
              </a:rPr>
              <a:t>UX/Digital Designer · 15 yrs experience</a:t>
            </a:r>
            <a:endParaRPr lang="en-US" sz="900" dirty="0"/>
          </a:p>
        </p:txBody>
      </p:sp>
      <p:sp>
        <p:nvSpPr>
          <p:cNvPr id="9" name="Shape 7"/>
          <p:cNvSpPr/>
          <p:nvPr/>
        </p:nvSpPr>
        <p:spPr>
          <a:xfrm>
            <a:off x="3218688" y="2377440"/>
            <a:ext cx="41148" cy="2194560"/>
          </a:xfrm>
          <a:prstGeom prst="rect">
            <a:avLst/>
          </a:prstGeom>
          <a:solidFill>
            <a:srgbClr val="2563EB"/>
          </a:solidFill>
          <a:ln w="12700">
            <a:solidFill>
              <a:srgbClr val="2563EB"/>
            </a:solidFill>
            <a:prstDash val="solid"/>
          </a:ln>
        </p:spPr>
      </p:sp>
      <p:sp>
        <p:nvSpPr>
          <p:cNvPr id="10" name="Shape 8"/>
          <p:cNvSpPr/>
          <p:nvPr/>
        </p:nvSpPr>
        <p:spPr>
          <a:xfrm>
            <a:off x="3259836" y="2377440"/>
            <a:ext cx="2592324" cy="2194560"/>
          </a:xfrm>
          <a:prstGeom prst="rect">
            <a:avLst/>
          </a:prstGeom>
          <a:solidFill>
            <a:srgbClr val="FFFFFF"/>
          </a:solidFill>
          <a:ln w="6350">
            <a:solidFill>
              <a:srgbClr val="E4E4EA"/>
            </a:solidFill>
            <a:prstDash val="solid"/>
          </a:ln>
        </p:spPr>
      </p:sp>
      <p:sp>
        <p:nvSpPr>
          <p:cNvPr id="11" name="Text 9"/>
          <p:cNvSpPr/>
          <p:nvPr/>
        </p:nvSpPr>
        <p:spPr>
          <a:xfrm>
            <a:off x="3383280" y="2505456"/>
            <a:ext cx="2377440" cy="1993392"/>
          </a:xfrm>
          <a:prstGeom prst="rect">
            <a:avLst/>
          </a:prstGeom>
          <a:noFill/>
          <a:ln/>
        </p:spPr>
        <p:txBody>
          <a:bodyPr wrap="square" lIns="0" tIns="0" rIns="0" bIns="0" rtlCol="0" anchor="t"/>
          <a:lstStyle/>
          <a:p>
            <a:pPr indent="0" marL="0">
              <a:buNone/>
            </a:pPr>
            <a:r>
              <a:rPr lang="en-US" sz="900" dirty="0">
                <a:solidFill>
                  <a:srgbClr val="18181F"/>
                </a:solidFill>
                <a:latin typeface="Calibri" pitchFamily="34" charset="0"/>
                <a:ea typeface="Calibri" pitchFamily="34" charset="-122"/>
                <a:cs typeface="Calibri" pitchFamily="34" charset="-120"/>
              </a:rPr>
              <a:t>"Basically, what prevents me from presenting a structured proposal to the client is the client themselves."</a:t>
            </a:r>
            <a:endParaRPr lang="en-US" sz="900" dirty="0"/>
          </a:p>
          <a:p>
            <a:pPr indent="0" marL="0">
              <a:buNone/>
            </a:pPr>
            <a:endParaRPr lang="en-US" sz="900" dirty="0"/>
          </a:p>
          <a:p>
            <a:pPr indent="0" marL="0">
              <a:buNone/>
            </a:pPr>
            <a:r>
              <a:rPr lang="en-US" sz="750" dirty="0">
                <a:solidFill>
                  <a:srgbClr val="6B7280"/>
                </a:solidFill>
                <a:latin typeface="Courier New" pitchFamily="34" charset="0"/>
                <a:ea typeface="Courier New" pitchFamily="34" charset="-122"/>
                <a:cs typeface="Courier New" pitchFamily="34" charset="-120"/>
              </a:rPr>
              <a:t>Delivery Project Manager · 8 yrs experience</a:t>
            </a:r>
            <a:endParaRPr lang="en-US" sz="900" dirty="0"/>
          </a:p>
        </p:txBody>
      </p:sp>
      <p:sp>
        <p:nvSpPr>
          <p:cNvPr id="12" name="Shape 10"/>
          <p:cNvSpPr/>
          <p:nvPr/>
        </p:nvSpPr>
        <p:spPr>
          <a:xfrm>
            <a:off x="5980176" y="2377440"/>
            <a:ext cx="41148" cy="2194560"/>
          </a:xfrm>
          <a:prstGeom prst="rect">
            <a:avLst/>
          </a:prstGeom>
          <a:solidFill>
            <a:srgbClr val="2563EB"/>
          </a:solidFill>
          <a:ln w="12700">
            <a:solidFill>
              <a:srgbClr val="2563EB"/>
            </a:solidFill>
            <a:prstDash val="solid"/>
          </a:ln>
        </p:spPr>
      </p:sp>
      <p:sp>
        <p:nvSpPr>
          <p:cNvPr id="13" name="Shape 11"/>
          <p:cNvSpPr/>
          <p:nvPr/>
        </p:nvSpPr>
        <p:spPr>
          <a:xfrm>
            <a:off x="6021324" y="2377440"/>
            <a:ext cx="2592324" cy="2194560"/>
          </a:xfrm>
          <a:prstGeom prst="rect">
            <a:avLst/>
          </a:prstGeom>
          <a:solidFill>
            <a:srgbClr val="FFFFFF"/>
          </a:solidFill>
          <a:ln w="6350">
            <a:solidFill>
              <a:srgbClr val="E4E4EA"/>
            </a:solidFill>
            <a:prstDash val="solid"/>
          </a:ln>
        </p:spPr>
      </p:sp>
      <p:sp>
        <p:nvSpPr>
          <p:cNvPr id="14" name="Text 12"/>
          <p:cNvSpPr/>
          <p:nvPr/>
        </p:nvSpPr>
        <p:spPr>
          <a:xfrm>
            <a:off x="6144768" y="2505456"/>
            <a:ext cx="2377440" cy="1993392"/>
          </a:xfrm>
          <a:prstGeom prst="rect">
            <a:avLst/>
          </a:prstGeom>
          <a:noFill/>
          <a:ln/>
        </p:spPr>
        <p:txBody>
          <a:bodyPr wrap="square" lIns="0" tIns="0" rIns="0" bIns="0" rtlCol="0" anchor="t"/>
          <a:lstStyle/>
          <a:p>
            <a:pPr indent="0" marL="0">
              <a:buNone/>
            </a:pPr>
            <a:r>
              <a:rPr lang="en-US" sz="900" dirty="0">
                <a:solidFill>
                  <a:srgbClr val="18181F"/>
                </a:solidFill>
                <a:latin typeface="Calibri" pitchFamily="34" charset="0"/>
                <a:ea typeface="Calibri" pitchFamily="34" charset="-122"/>
                <a:cs typeface="Calibri" pitchFamily="34" charset="-120"/>
              </a:rPr>
              <a:t>"You grab the template you like the most. There is no way to say which interface type suits the project better."</a:t>
            </a:r>
            <a:endParaRPr lang="en-US" sz="900" dirty="0"/>
          </a:p>
          <a:p>
            <a:pPr indent="0" marL="0">
              <a:buNone/>
            </a:pPr>
            <a:endParaRPr lang="en-US" sz="900" dirty="0"/>
          </a:p>
          <a:p>
            <a:pPr indent="0" marL="0">
              <a:buNone/>
            </a:pPr>
            <a:r>
              <a:rPr lang="en-US" sz="750" dirty="0">
                <a:solidFill>
                  <a:srgbClr val="6B7280"/>
                </a:solidFill>
                <a:latin typeface="Courier New" pitchFamily="34" charset="0"/>
                <a:ea typeface="Courier New" pitchFamily="34" charset="-122"/>
                <a:cs typeface="Courier New" pitchFamily="34" charset="-120"/>
              </a:rPr>
              <a:t>Senior Fullstack Developer · 10 yrs experience</a:t>
            </a:r>
            <a:endParaRPr lang="en-US" sz="900" dirty="0"/>
          </a:p>
        </p:txBody>
      </p:sp>
      <p:sp>
        <p:nvSpPr>
          <p:cNvPr id="15" name="Text 13"/>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16" name="Text 14"/>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02</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2563EB"/>
          </a:solidFill>
          <a:ln w="12700">
            <a:solidFill>
              <a:srgbClr val="2563EB"/>
            </a:solidFill>
            <a:prstDash val="solid"/>
          </a:ln>
        </p:spPr>
      </p:sp>
      <p:sp>
        <p:nvSpPr>
          <p:cNvPr id="3" name="Text 1"/>
          <p:cNvSpPr/>
          <p:nvPr/>
        </p:nvSpPr>
        <p:spPr>
          <a:xfrm>
            <a:off x="457200" y="182880"/>
            <a:ext cx="5486400" cy="402336"/>
          </a:xfrm>
          <a:prstGeom prst="rect">
            <a:avLst/>
          </a:prstGeom>
          <a:noFill/>
          <a:ln/>
        </p:spPr>
        <p:txBody>
          <a:bodyPr wrap="square" lIns="0" tIns="0" rIns="0" bIns="0" rtlCol="0" anchor="ctr"/>
          <a:lstStyle/>
          <a:p>
            <a:pPr indent="0" marL="0">
              <a:buNone/>
            </a:pPr>
            <a:r>
              <a:rPr lang="en-US" sz="2200" b="1" spc="500" kern="0" dirty="0">
                <a:solidFill>
                  <a:srgbClr val="18181F"/>
                </a:solidFill>
                <a:latin typeface="Calibri" pitchFamily="34" charset="0"/>
                <a:ea typeface="Calibri" pitchFamily="34" charset="-122"/>
                <a:cs typeface="Calibri" pitchFamily="34" charset="-120"/>
              </a:rPr>
              <a:t>Master's Thesis Defense · 2026</a:t>
            </a:r>
            <a:endParaRPr lang="en-US" sz="2200" dirty="0"/>
          </a:p>
        </p:txBody>
      </p:sp>
      <p:sp>
        <p:nvSpPr>
          <p:cNvPr id="4" name="Shape 2"/>
          <p:cNvSpPr/>
          <p:nvPr/>
        </p:nvSpPr>
        <p:spPr>
          <a:xfrm>
            <a:off x="457200" y="1005840"/>
            <a:ext cx="91440" cy="91440"/>
          </a:xfrm>
          <a:prstGeom prst="ellipse">
            <a:avLst/>
          </a:prstGeom>
          <a:solidFill>
            <a:srgbClr val="2563EB"/>
          </a:solidFill>
          <a:ln w="12700">
            <a:solidFill>
              <a:srgbClr val="2563EB"/>
            </a:solidFill>
            <a:prstDash val="solid"/>
          </a:ln>
        </p:spPr>
      </p:sp>
      <p:sp>
        <p:nvSpPr>
          <p:cNvPr id="5" name="Text 3"/>
          <p:cNvSpPr/>
          <p:nvPr/>
        </p:nvSpPr>
        <p:spPr>
          <a:xfrm>
            <a:off x="621792" y="969264"/>
            <a:ext cx="4114800" cy="201168"/>
          </a:xfrm>
          <a:prstGeom prst="rect">
            <a:avLst/>
          </a:prstGeom>
          <a:noFill/>
          <a:ln/>
        </p:spPr>
        <p:txBody>
          <a:bodyPr wrap="square" lIns="0" tIns="0" rIns="0" bIns="0" rtlCol="0" anchor="ctr"/>
          <a:lstStyle/>
          <a:p>
            <a:pPr indent="0" marL="0">
              <a:buNone/>
            </a:pPr>
            <a:r>
              <a:rPr lang="en-US" sz="800" spc="300" kern="0" dirty="0">
                <a:solidFill>
                  <a:srgbClr val="2563EB"/>
                </a:solidFill>
                <a:latin typeface="Courier New" pitchFamily="34" charset="0"/>
                <a:ea typeface="Courier New" pitchFamily="34" charset="-122"/>
                <a:cs typeface="Courier New" pitchFamily="34" charset="-120"/>
              </a:rPr>
              <a:t>Beyond Intuition:</a:t>
            </a:r>
            <a:endParaRPr lang="en-US" sz="800" dirty="0"/>
          </a:p>
        </p:txBody>
      </p:sp>
      <p:sp>
        <p:nvSpPr>
          <p:cNvPr id="6" name="Text 4"/>
          <p:cNvSpPr/>
          <p:nvPr/>
        </p:nvSpPr>
        <p:spPr>
          <a:xfrm>
            <a:off x="457200" y="1280160"/>
            <a:ext cx="8229600" cy="2377440"/>
          </a:xfrm>
          <a:prstGeom prst="rect">
            <a:avLst/>
          </a:prstGeom>
          <a:noFill/>
          <a:ln/>
        </p:spPr>
        <p:txBody>
          <a:bodyPr wrap="square" lIns="0" tIns="0" rIns="0" bIns="0" rtlCol="0" anchor="ctr"/>
          <a:lstStyle/>
          <a:p>
            <a:pPr indent="0" marL="0">
              <a:lnSpc>
                <a:spcPct val="100000"/>
              </a:lnSpc>
              <a:buNone/>
            </a:pPr>
            <a:r>
              <a:rPr lang="en-US" sz="4200" b="1" spc="-200" kern="0" dirty="0">
                <a:solidFill>
                  <a:srgbClr val="18181F"/>
                </a:solidFill>
                <a:latin typeface="Calibri" pitchFamily="34" charset="0"/>
                <a:ea typeface="Calibri" pitchFamily="34" charset="-122"/>
                <a:cs typeface="Calibri" pitchFamily="34" charset="-120"/>
              </a:rPr>
              <a:t>A Designer's Framework for
</a:t>
            </a:r>
            <a:pPr indent="0" marL="0">
              <a:lnSpc>
                <a:spcPct val="100000"/>
              </a:lnSpc>
              <a:buNone/>
            </a:pPr>
            <a:r>
              <a:rPr lang="en-US" sz="4200" b="1" spc="-200" kern="0" dirty="0">
                <a:solidFill>
                  <a:srgbClr val="2563EB"/>
                </a:solidFill>
                <a:latin typeface="Calibri" pitchFamily="34" charset="0"/>
                <a:ea typeface="Calibri" pitchFamily="34" charset="-122"/>
                <a:cs typeface="Calibri" pitchFamily="34" charset="-120"/>
              </a:rPr>
              <a:t>Interface Type Selection</a:t>
            </a:r>
            <a:endParaRPr lang="en-US" sz="4200" dirty="0"/>
          </a:p>
        </p:txBody>
      </p:sp>
      <p:sp>
        <p:nvSpPr>
          <p:cNvPr id="7" name="Text 5"/>
          <p:cNvSpPr/>
          <p:nvPr/>
        </p:nvSpPr>
        <p:spPr>
          <a:xfrm>
            <a:off x="457200" y="4617720"/>
            <a:ext cx="2743200" cy="384048"/>
          </a:xfrm>
          <a:prstGeom prst="rect">
            <a:avLst/>
          </a:prstGeom>
          <a:noFill/>
          <a:ln/>
        </p:spPr>
        <p:txBody>
          <a:bodyPr wrap="square" lIns="0" tIns="0" rIns="0" bIns="0" rtlCol="0" anchor="ctr"/>
          <a:lstStyle/>
          <a:p>
            <a:pPr indent="0" marL="0">
              <a:buNone/>
            </a:pPr>
            <a:r>
              <a:rPr lang="en-US" sz="700" dirty="0">
                <a:solidFill>
                  <a:srgbClr val="6B7280"/>
                </a:solidFill>
                <a:latin typeface="Courier New" pitchFamily="34" charset="0"/>
                <a:ea typeface="Courier New" pitchFamily="34" charset="-122"/>
                <a:cs typeface="Courier New" pitchFamily="34" charset="-120"/>
              </a:rPr>
              <a:t>Author
</a:t>
            </a:r>
            <a:pPr indent="0" marL="0">
              <a:buNone/>
            </a:pPr>
            <a:r>
              <a:rPr lang="en-US" sz="800" b="1" dirty="0">
                <a:solidFill>
                  <a:srgbClr val="18181F"/>
                </a:solidFill>
                <a:latin typeface="Courier New" pitchFamily="34" charset="0"/>
                <a:ea typeface="Courier New" pitchFamily="34" charset="-122"/>
                <a:cs typeface="Courier New" pitchFamily="34" charset="-120"/>
              </a:rPr>
              <a:t>ZARATE Ilverzon</a:t>
            </a:r>
            <a:endParaRPr lang="en-US" sz="700" dirty="0"/>
          </a:p>
        </p:txBody>
      </p:sp>
      <p:sp>
        <p:nvSpPr>
          <p:cNvPr id="8" name="Text 6"/>
          <p:cNvSpPr/>
          <p:nvPr/>
        </p:nvSpPr>
        <p:spPr>
          <a:xfrm>
            <a:off x="3291840" y="4617720"/>
            <a:ext cx="2743200" cy="384048"/>
          </a:xfrm>
          <a:prstGeom prst="rect">
            <a:avLst/>
          </a:prstGeom>
          <a:noFill/>
          <a:ln/>
        </p:spPr>
        <p:txBody>
          <a:bodyPr wrap="square" lIns="0" tIns="0" rIns="0" bIns="0" rtlCol="0" anchor="ctr"/>
          <a:lstStyle/>
          <a:p>
            <a:pPr indent="0" marL="0">
              <a:buNone/>
            </a:pPr>
            <a:r>
              <a:rPr lang="en-US" sz="700" dirty="0">
                <a:solidFill>
                  <a:srgbClr val="6B7280"/>
                </a:solidFill>
                <a:latin typeface="Courier New" pitchFamily="34" charset="0"/>
                <a:ea typeface="Courier New" pitchFamily="34" charset="-122"/>
                <a:cs typeface="Courier New" pitchFamily="34" charset="-120"/>
              </a:rPr>
              <a:t>Director
</a:t>
            </a:r>
            <a:pPr indent="0" marL="0">
              <a:buNone/>
            </a:pPr>
            <a:r>
              <a:rPr lang="en-US" sz="800" b="1" dirty="0">
                <a:solidFill>
                  <a:srgbClr val="18181F"/>
                </a:solidFill>
                <a:latin typeface="Courier New" pitchFamily="34" charset="0"/>
                <a:ea typeface="Courier New" pitchFamily="34" charset="-122"/>
                <a:cs typeface="Courier New" pitchFamily="34" charset="-120"/>
              </a:rPr>
              <a:t>MONGUET, JM</a:t>
            </a:r>
            <a:endParaRPr lang="en-US" sz="700" dirty="0"/>
          </a:p>
        </p:txBody>
      </p:sp>
      <p:sp>
        <p:nvSpPr>
          <p:cNvPr id="9" name="Text 7"/>
          <p:cNvSpPr/>
          <p:nvPr/>
        </p:nvSpPr>
        <p:spPr>
          <a:xfrm>
            <a:off x="6126480" y="4617720"/>
            <a:ext cx="2743200" cy="384048"/>
          </a:xfrm>
          <a:prstGeom prst="rect">
            <a:avLst/>
          </a:prstGeom>
          <a:noFill/>
          <a:ln/>
        </p:spPr>
        <p:txBody>
          <a:bodyPr wrap="square" lIns="0" tIns="0" rIns="0" bIns="0" rtlCol="0" anchor="ctr"/>
          <a:lstStyle/>
          <a:p>
            <a:pPr indent="0" marL="0">
              <a:buNone/>
            </a:pPr>
            <a:r>
              <a:rPr lang="en-US" sz="700" dirty="0">
                <a:solidFill>
                  <a:srgbClr val="6B7280"/>
                </a:solidFill>
                <a:latin typeface="Courier New" pitchFamily="34" charset="0"/>
                <a:ea typeface="Courier New" pitchFamily="34" charset="-122"/>
                <a:cs typeface="Courier New" pitchFamily="34" charset="-120"/>
              </a:rPr>
              <a:t>Programme
</a:t>
            </a:r>
            <a:pPr indent="0" marL="0">
              <a:buNone/>
            </a:pPr>
            <a:r>
              <a:rPr lang="en-US" sz="800" b="1" dirty="0">
                <a:solidFill>
                  <a:srgbClr val="18181F"/>
                </a:solidFill>
                <a:latin typeface="Courier New" pitchFamily="34" charset="0"/>
                <a:ea typeface="Courier New" pitchFamily="34" charset="-122"/>
                <a:cs typeface="Courier New" pitchFamily="34" charset="-120"/>
              </a:rPr>
              <a:t>MASD · Barcelona (UPC / UB)</a:t>
            </a:r>
            <a:endParaRPr lang="en-US" sz="700" dirty="0"/>
          </a:p>
        </p:txBody>
      </p:sp>
      <p:sp>
        <p:nvSpPr>
          <p:cNvPr id="10" name="Text 8"/>
          <p:cNvSpPr/>
          <p:nvPr/>
        </p:nvSpPr>
        <p:spPr>
          <a:xfrm>
            <a:off x="8503920" y="182880"/>
            <a:ext cx="457200" cy="201168"/>
          </a:xfrm>
          <a:prstGeom prst="rect">
            <a:avLst/>
          </a:prstGeom>
          <a:noFill/>
          <a:ln/>
        </p:spPr>
        <p:txBody>
          <a:bodyPr wrap="square" lIns="0" tIns="0" rIns="0" bIns="0" rtlCol="0" anchor="ctr"/>
          <a:lstStyle/>
          <a:p>
            <a:pPr algn="r" indent="0" marL="0">
              <a:buNone/>
            </a:pPr>
            <a:r>
              <a:rPr lang="en-US" sz="800" spc="200" kern="0" dirty="0">
                <a:solidFill>
                  <a:srgbClr val="6B7280"/>
                </a:solidFill>
                <a:latin typeface="Courier New" pitchFamily="34" charset="0"/>
                <a:ea typeface="Courier New" pitchFamily="34" charset="-122"/>
                <a:cs typeface="Courier New" pitchFamily="34" charset="-120"/>
              </a:rPr>
              <a:t>03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THE GAP</a:t>
            </a:r>
            <a:endParaRPr lang="en-US" sz="800" dirty="0"/>
          </a:p>
        </p:txBody>
      </p:sp>
      <p:sp>
        <p:nvSpPr>
          <p:cNvPr id="4" name="Text 2"/>
          <p:cNvSpPr/>
          <p:nvPr/>
        </p:nvSpPr>
        <p:spPr>
          <a:xfrm>
            <a:off x="457200" y="594360"/>
            <a:ext cx="3749040" cy="1371600"/>
          </a:xfrm>
          <a:prstGeom prst="rect">
            <a:avLst/>
          </a:prstGeom>
          <a:noFill/>
          <a:ln/>
        </p:spPr>
        <p:txBody>
          <a:bodyPr wrap="square" lIns="0" tIns="0" rIns="0" bIns="0" rtlCol="0" anchor="ctr"/>
          <a:lstStyle/>
          <a:p>
            <a:pPr indent="0" marL="0">
              <a:lnSpc>
                <a:spcPct val="100000"/>
              </a:lnSpc>
              <a:buNone/>
            </a:pPr>
            <a:r>
              <a:rPr lang="en-US" sz="2400" b="1" spc="-100" kern="0" dirty="0">
                <a:solidFill>
                  <a:srgbClr val="18181F"/>
                </a:solidFill>
                <a:latin typeface="Calibri" pitchFamily="34" charset="0"/>
                <a:ea typeface="Calibri" pitchFamily="34" charset="-122"/>
                <a:cs typeface="Calibri" pitchFamily="34" charset="-120"/>
              </a:rPr>
              <a:t>Good tools for </a:t>
            </a:r>
            <a:pPr indent="0" marL="0">
              <a:lnSpc>
                <a:spcPct val="100000"/>
              </a:lnSpc>
              <a:buNone/>
            </a:pPr>
            <a:r>
              <a:rPr lang="en-US" sz="2400" b="1" spc="-100" kern="0" dirty="0">
                <a:solidFill>
                  <a:srgbClr val="2563EB"/>
                </a:solidFill>
                <a:latin typeface="Calibri" pitchFamily="34" charset="0"/>
                <a:ea typeface="Calibri" pitchFamily="34" charset="-122"/>
                <a:cs typeface="Calibri" pitchFamily="34" charset="-120"/>
              </a:rPr>
              <a:t>how</a:t>
            </a:r>
            <a:pPr indent="0" marL="0">
              <a:lnSpc>
                <a:spcPct val="100000"/>
              </a:lnSpc>
              <a:buNone/>
            </a:pPr>
            <a:r>
              <a:rPr lang="en-US" sz="2400" b="1" spc="-100" kern="0" dirty="0">
                <a:solidFill>
                  <a:srgbClr val="18181F"/>
                </a:solidFill>
                <a:latin typeface="Calibri" pitchFamily="34" charset="0"/>
                <a:ea typeface="Calibri" pitchFamily="34" charset="-122"/>
                <a:cs typeface="Calibri" pitchFamily="34" charset="-120"/>
              </a:rPr>
              <a:t> to design.</a:t>
            </a:r>
            <a:endParaRPr lang="en-US" sz="2400" dirty="0"/>
          </a:p>
          <a:p>
            <a:pPr indent="0" marL="0">
              <a:lnSpc>
                <a:spcPct val="100000"/>
              </a:lnSpc>
              <a:buNone/>
            </a:pPr>
            <a:r>
              <a:rPr lang="en-US" sz="2400" b="1" spc="-100" kern="0" dirty="0">
                <a:solidFill>
                  <a:srgbClr val="18181F"/>
                </a:solidFill>
                <a:latin typeface="Calibri" pitchFamily="34" charset="0"/>
                <a:ea typeface="Calibri" pitchFamily="34" charset="-122"/>
                <a:cs typeface="Calibri" pitchFamily="34" charset="-120"/>
              </a:rPr>
              <a:t>Nothing for </a:t>
            </a:r>
            <a:endParaRPr lang="en-US" sz="2400" dirty="0"/>
          </a:p>
          <a:p>
            <a:pPr indent="0" marL="0">
              <a:lnSpc>
                <a:spcPct val="100000"/>
              </a:lnSpc>
              <a:buNone/>
            </a:pPr>
            <a:r>
              <a:rPr lang="en-US" sz="2400" b="1" spc="-100" kern="0" dirty="0">
                <a:solidFill>
                  <a:srgbClr val="2563EB"/>
                </a:solidFill>
                <a:latin typeface="Calibri" pitchFamily="34" charset="0"/>
                <a:ea typeface="Calibri" pitchFamily="34" charset="-122"/>
                <a:cs typeface="Calibri" pitchFamily="34" charset="-120"/>
              </a:rPr>
              <a:t>what</a:t>
            </a:r>
            <a:pPr indent="0" marL="0">
              <a:lnSpc>
                <a:spcPct val="100000"/>
              </a:lnSpc>
              <a:buNone/>
            </a:pPr>
            <a:r>
              <a:rPr lang="en-US" sz="2400" b="1" spc="-100" kern="0" dirty="0">
                <a:solidFill>
                  <a:srgbClr val="18181F"/>
                </a:solidFill>
                <a:latin typeface="Calibri" pitchFamily="34" charset="0"/>
                <a:ea typeface="Calibri" pitchFamily="34" charset="-122"/>
                <a:cs typeface="Calibri" pitchFamily="34" charset="-120"/>
              </a:rPr>
              <a:t> to design.</a:t>
            </a:r>
            <a:endParaRPr lang="en-US" sz="2400" dirty="0"/>
          </a:p>
        </p:txBody>
      </p:sp>
      <p:sp>
        <p:nvSpPr>
          <p:cNvPr id="5" name="Text 3"/>
          <p:cNvSpPr/>
          <p:nvPr/>
        </p:nvSpPr>
        <p:spPr>
          <a:xfrm>
            <a:off x="457200" y="2103120"/>
            <a:ext cx="3749040" cy="50292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Every design methodology assumes you have already chosen what kind of interface to build.</a:t>
            </a:r>
            <a:endParaRPr lang="en-US" sz="1100" dirty="0"/>
          </a:p>
        </p:txBody>
      </p:sp>
      <p:sp>
        <p:nvSpPr>
          <p:cNvPr id="6" name="Text 4"/>
          <p:cNvSpPr/>
          <p:nvPr/>
        </p:nvSpPr>
        <p:spPr>
          <a:xfrm>
            <a:off x="457200" y="2670048"/>
            <a:ext cx="3749040" cy="292608"/>
          </a:xfrm>
          <a:prstGeom prst="rect">
            <a:avLst/>
          </a:prstGeom>
          <a:noFill/>
          <a:ln/>
        </p:spPr>
        <p:txBody>
          <a:bodyPr wrap="square" lIns="0" tIns="0" rIns="0" bIns="0" rtlCol="0" anchor="ctr"/>
          <a:lstStyle/>
          <a:p>
            <a:pPr indent="0" marL="0">
              <a:buNone/>
            </a:pPr>
            <a:r>
              <a:rPr lang="en-US" sz="1150" b="1" dirty="0">
                <a:solidFill>
                  <a:srgbClr val="18181F"/>
                </a:solidFill>
                <a:latin typeface="Calibri" pitchFamily="34" charset="0"/>
                <a:ea typeface="Calibri" pitchFamily="34" charset="-122"/>
                <a:cs typeface="Calibri" pitchFamily="34" charset="-120"/>
              </a:rPr>
              <a:t>None of them help you make that choice.</a:t>
            </a:r>
            <a:endParaRPr lang="en-US" sz="1150" dirty="0"/>
          </a:p>
        </p:txBody>
      </p:sp>
      <p:sp>
        <p:nvSpPr>
          <p:cNvPr id="7" name="Shape 5"/>
          <p:cNvSpPr/>
          <p:nvPr/>
        </p:nvSpPr>
        <p:spPr>
          <a:xfrm>
            <a:off x="4617720" y="658368"/>
            <a:ext cx="4069080" cy="886968"/>
          </a:xfrm>
          <a:prstGeom prst="rect">
            <a:avLst/>
          </a:prstGeom>
          <a:solidFill>
            <a:srgbClr val="FFFFFF"/>
          </a:solidFill>
          <a:ln w="6350">
            <a:solidFill>
              <a:srgbClr val="E4E4EA"/>
            </a:solidFill>
            <a:prstDash val="solid"/>
          </a:ln>
        </p:spPr>
      </p:sp>
      <p:sp>
        <p:nvSpPr>
          <p:cNvPr id="8" name="Text 6"/>
          <p:cNvSpPr/>
          <p:nvPr/>
        </p:nvSpPr>
        <p:spPr>
          <a:xfrm>
            <a:off x="4754880" y="749808"/>
            <a:ext cx="3154680" cy="713232"/>
          </a:xfrm>
          <a:prstGeom prst="rect">
            <a:avLst/>
          </a:prstGeom>
          <a:noFill/>
          <a:ln/>
        </p:spPr>
        <p:txBody>
          <a:bodyPr wrap="square" lIns="0" tIns="0" rIns="0" bIns="0" rtlCol="0" anchor="t"/>
          <a:lstStyle/>
          <a:p>
            <a:pPr indent="0" marL="0">
              <a:buNone/>
            </a:pPr>
            <a:r>
              <a:rPr lang="en-US" sz="1000" b="1" dirty="0">
                <a:solidFill>
                  <a:srgbClr val="18181F"/>
                </a:solidFill>
                <a:latin typeface="Calibri" pitchFamily="34" charset="0"/>
                <a:ea typeface="Calibri" pitchFamily="34" charset="-122"/>
                <a:cs typeface="Calibri" pitchFamily="34" charset="-120"/>
              </a:rPr>
              <a:t>Design Thinking
</a:t>
            </a:r>
            <a:pPr indent="0" marL="0">
              <a:buNone/>
            </a:pPr>
            <a:r>
              <a:rPr lang="en-US" sz="850" dirty="0">
                <a:solidFill>
                  <a:srgbClr val="4B5563"/>
                </a:solidFill>
                <a:latin typeface="Calibri" pitchFamily="34" charset="0"/>
                <a:ea typeface="Calibri" pitchFamily="34" charset="-122"/>
                <a:cs typeface="Calibri" pitchFamily="34" charset="-120"/>
              </a:rPr>
              <a:t>How to improve a product once you know what it is</a:t>
            </a:r>
            <a:endParaRPr lang="en-US" sz="1000" dirty="0"/>
          </a:p>
        </p:txBody>
      </p:sp>
      <p:sp>
        <p:nvSpPr>
          <p:cNvPr id="9" name="Text 7"/>
          <p:cNvSpPr/>
          <p:nvPr/>
        </p:nvSpPr>
        <p:spPr>
          <a:xfrm>
            <a:off x="8001000" y="932688"/>
            <a:ext cx="777240" cy="292608"/>
          </a:xfrm>
          <a:prstGeom prst="rect">
            <a:avLst/>
          </a:prstGeom>
          <a:noFill/>
          <a:ln/>
        </p:spPr>
        <p:txBody>
          <a:bodyPr wrap="square" lIns="0" tIns="0" rIns="0" bIns="0" rtlCol="0" anchor="ctr"/>
          <a:lstStyle/>
          <a:p>
            <a:pPr algn="r" indent="0" marL="0">
              <a:buNone/>
            </a:pPr>
            <a:r>
              <a:rPr lang="en-US" sz="750" b="1" dirty="0">
                <a:solidFill>
                  <a:srgbClr val="16A34A"/>
                </a:solidFill>
                <a:latin typeface="Courier New" pitchFamily="34" charset="0"/>
                <a:ea typeface="Courier New" pitchFamily="34" charset="-122"/>
                <a:cs typeface="Courier New" pitchFamily="34" charset="-120"/>
              </a:rPr>
              <a:t>Exists</a:t>
            </a:r>
            <a:endParaRPr lang="en-US" sz="750" dirty="0"/>
          </a:p>
        </p:txBody>
      </p:sp>
      <p:sp>
        <p:nvSpPr>
          <p:cNvPr id="10" name="Shape 8"/>
          <p:cNvSpPr/>
          <p:nvPr/>
        </p:nvSpPr>
        <p:spPr>
          <a:xfrm>
            <a:off x="4617720" y="1618488"/>
            <a:ext cx="4069080" cy="886968"/>
          </a:xfrm>
          <a:prstGeom prst="rect">
            <a:avLst/>
          </a:prstGeom>
          <a:solidFill>
            <a:srgbClr val="FFFFFF"/>
          </a:solidFill>
          <a:ln w="6350">
            <a:solidFill>
              <a:srgbClr val="E4E4EA"/>
            </a:solidFill>
            <a:prstDash val="solid"/>
          </a:ln>
        </p:spPr>
      </p:sp>
      <p:sp>
        <p:nvSpPr>
          <p:cNvPr id="11" name="Text 9"/>
          <p:cNvSpPr/>
          <p:nvPr/>
        </p:nvSpPr>
        <p:spPr>
          <a:xfrm>
            <a:off x="4754880" y="1709928"/>
            <a:ext cx="3154680" cy="713232"/>
          </a:xfrm>
          <a:prstGeom prst="rect">
            <a:avLst/>
          </a:prstGeom>
          <a:noFill/>
          <a:ln/>
        </p:spPr>
        <p:txBody>
          <a:bodyPr wrap="square" lIns="0" tIns="0" rIns="0" bIns="0" rtlCol="0" anchor="t"/>
          <a:lstStyle/>
          <a:p>
            <a:pPr indent="0" marL="0">
              <a:buNone/>
            </a:pPr>
            <a:r>
              <a:rPr lang="en-US" sz="1000" b="1" dirty="0">
                <a:solidFill>
                  <a:srgbClr val="18181F"/>
                </a:solidFill>
                <a:latin typeface="Calibri" pitchFamily="34" charset="0"/>
                <a:ea typeface="Calibri" pitchFamily="34" charset="-122"/>
                <a:cs typeface="Calibri" pitchFamily="34" charset="-120"/>
              </a:rPr>
              <a:t>User-Centered Design
</a:t>
            </a:r>
            <a:pPr indent="0" marL="0">
              <a:buNone/>
            </a:pPr>
            <a:r>
              <a:rPr lang="en-US" sz="850" dirty="0">
                <a:solidFill>
                  <a:srgbClr val="4B5563"/>
                </a:solidFill>
                <a:latin typeface="Calibri" pitchFamily="34" charset="0"/>
                <a:ea typeface="Calibri" pitchFamily="34" charset="-122"/>
                <a:cs typeface="Calibri" pitchFamily="34" charset="-120"/>
              </a:rPr>
              <a:t>How to make a product fit its users</a:t>
            </a:r>
            <a:endParaRPr lang="en-US" sz="1000" dirty="0"/>
          </a:p>
        </p:txBody>
      </p:sp>
      <p:sp>
        <p:nvSpPr>
          <p:cNvPr id="12" name="Text 10"/>
          <p:cNvSpPr/>
          <p:nvPr/>
        </p:nvSpPr>
        <p:spPr>
          <a:xfrm>
            <a:off x="8001000" y="1892808"/>
            <a:ext cx="777240" cy="292608"/>
          </a:xfrm>
          <a:prstGeom prst="rect">
            <a:avLst/>
          </a:prstGeom>
          <a:noFill/>
          <a:ln/>
        </p:spPr>
        <p:txBody>
          <a:bodyPr wrap="square" lIns="0" tIns="0" rIns="0" bIns="0" rtlCol="0" anchor="ctr"/>
          <a:lstStyle/>
          <a:p>
            <a:pPr algn="r" indent="0" marL="0">
              <a:buNone/>
            </a:pPr>
            <a:r>
              <a:rPr lang="en-US" sz="750" b="1" dirty="0">
                <a:solidFill>
                  <a:srgbClr val="16A34A"/>
                </a:solidFill>
                <a:latin typeface="Courier New" pitchFamily="34" charset="0"/>
                <a:ea typeface="Courier New" pitchFamily="34" charset="-122"/>
                <a:cs typeface="Courier New" pitchFamily="34" charset="-120"/>
              </a:rPr>
              <a:t>Exists</a:t>
            </a:r>
            <a:endParaRPr lang="en-US" sz="750" dirty="0"/>
          </a:p>
        </p:txBody>
      </p:sp>
      <p:sp>
        <p:nvSpPr>
          <p:cNvPr id="13" name="Shape 11"/>
          <p:cNvSpPr/>
          <p:nvPr/>
        </p:nvSpPr>
        <p:spPr>
          <a:xfrm>
            <a:off x="4617720" y="2578608"/>
            <a:ext cx="4069080" cy="886968"/>
          </a:xfrm>
          <a:prstGeom prst="rect">
            <a:avLst/>
          </a:prstGeom>
          <a:solidFill>
            <a:srgbClr val="FFFFFF"/>
          </a:solidFill>
          <a:ln w="6350">
            <a:solidFill>
              <a:srgbClr val="E4E4EA"/>
            </a:solidFill>
            <a:prstDash val="solid"/>
          </a:ln>
        </p:spPr>
      </p:sp>
      <p:sp>
        <p:nvSpPr>
          <p:cNvPr id="14" name="Text 12"/>
          <p:cNvSpPr/>
          <p:nvPr/>
        </p:nvSpPr>
        <p:spPr>
          <a:xfrm>
            <a:off x="4754880" y="2670048"/>
            <a:ext cx="3154680" cy="713232"/>
          </a:xfrm>
          <a:prstGeom prst="rect">
            <a:avLst/>
          </a:prstGeom>
          <a:noFill/>
          <a:ln/>
        </p:spPr>
        <p:txBody>
          <a:bodyPr wrap="square" lIns="0" tIns="0" rIns="0" bIns="0" rtlCol="0" anchor="t"/>
          <a:lstStyle/>
          <a:p>
            <a:pPr indent="0" marL="0">
              <a:buNone/>
            </a:pPr>
            <a:r>
              <a:rPr lang="en-US" sz="1000" b="1" dirty="0">
                <a:solidFill>
                  <a:srgbClr val="18181F"/>
                </a:solidFill>
                <a:latin typeface="Calibri" pitchFamily="34" charset="0"/>
                <a:ea typeface="Calibri" pitchFamily="34" charset="-122"/>
                <a:cs typeface="Calibri" pitchFamily="34" charset="-120"/>
              </a:rPr>
              <a:t>HCD / UX methods
</a:t>
            </a:r>
            <a:pPr indent="0" marL="0">
              <a:buNone/>
            </a:pPr>
            <a:r>
              <a:rPr lang="en-US" sz="850" dirty="0">
                <a:solidFill>
                  <a:srgbClr val="4B5563"/>
                </a:solidFill>
                <a:latin typeface="Calibri" pitchFamily="34" charset="0"/>
                <a:ea typeface="Calibri" pitchFamily="34" charset="-122"/>
                <a:cs typeface="Calibri" pitchFamily="34" charset="-120"/>
              </a:rPr>
              <a:t>How to test and refine an interface</a:t>
            </a:r>
            <a:endParaRPr lang="en-US" sz="1000" dirty="0"/>
          </a:p>
        </p:txBody>
      </p:sp>
      <p:sp>
        <p:nvSpPr>
          <p:cNvPr id="15" name="Text 13"/>
          <p:cNvSpPr/>
          <p:nvPr/>
        </p:nvSpPr>
        <p:spPr>
          <a:xfrm>
            <a:off x="8001000" y="2852928"/>
            <a:ext cx="777240" cy="292608"/>
          </a:xfrm>
          <a:prstGeom prst="rect">
            <a:avLst/>
          </a:prstGeom>
          <a:noFill/>
          <a:ln/>
        </p:spPr>
        <p:txBody>
          <a:bodyPr wrap="square" lIns="0" tIns="0" rIns="0" bIns="0" rtlCol="0" anchor="ctr"/>
          <a:lstStyle/>
          <a:p>
            <a:pPr algn="r" indent="0" marL="0">
              <a:buNone/>
            </a:pPr>
            <a:r>
              <a:rPr lang="en-US" sz="750" b="1" dirty="0">
                <a:solidFill>
                  <a:srgbClr val="16A34A"/>
                </a:solidFill>
                <a:latin typeface="Courier New" pitchFamily="34" charset="0"/>
                <a:ea typeface="Courier New" pitchFamily="34" charset="-122"/>
                <a:cs typeface="Courier New" pitchFamily="34" charset="-120"/>
              </a:rPr>
              <a:t>Exists</a:t>
            </a:r>
            <a:endParaRPr lang="en-US" sz="750" dirty="0"/>
          </a:p>
        </p:txBody>
      </p:sp>
      <p:sp>
        <p:nvSpPr>
          <p:cNvPr id="16" name="Shape 14"/>
          <p:cNvSpPr/>
          <p:nvPr/>
        </p:nvSpPr>
        <p:spPr>
          <a:xfrm>
            <a:off x="4617720" y="3538728"/>
            <a:ext cx="4069080" cy="886968"/>
          </a:xfrm>
          <a:prstGeom prst="rect">
            <a:avLst/>
          </a:prstGeom>
          <a:solidFill>
            <a:srgbClr val="EEF2FF"/>
          </a:solidFill>
          <a:ln w="12700">
            <a:solidFill>
              <a:srgbClr val="2563EB"/>
            </a:solidFill>
            <a:prstDash val="solid"/>
          </a:ln>
        </p:spPr>
      </p:sp>
      <p:sp>
        <p:nvSpPr>
          <p:cNvPr id="17" name="Shape 15"/>
          <p:cNvSpPr/>
          <p:nvPr/>
        </p:nvSpPr>
        <p:spPr>
          <a:xfrm>
            <a:off x="4617720" y="3538728"/>
            <a:ext cx="45720" cy="886968"/>
          </a:xfrm>
          <a:prstGeom prst="rect">
            <a:avLst/>
          </a:prstGeom>
          <a:solidFill>
            <a:srgbClr val="2563EB"/>
          </a:solidFill>
          <a:ln w="12700">
            <a:solidFill>
              <a:srgbClr val="2563EB"/>
            </a:solidFill>
            <a:prstDash val="solid"/>
          </a:ln>
        </p:spPr>
      </p:sp>
      <p:sp>
        <p:nvSpPr>
          <p:cNvPr id="18" name="Text 16"/>
          <p:cNvSpPr/>
          <p:nvPr/>
        </p:nvSpPr>
        <p:spPr>
          <a:xfrm>
            <a:off x="4754880" y="3630168"/>
            <a:ext cx="3154680" cy="713232"/>
          </a:xfrm>
          <a:prstGeom prst="rect">
            <a:avLst/>
          </a:prstGeom>
          <a:noFill/>
          <a:ln/>
        </p:spPr>
        <p:txBody>
          <a:bodyPr wrap="square" lIns="0" tIns="0" rIns="0" bIns="0" rtlCol="0" anchor="t"/>
          <a:lstStyle/>
          <a:p>
            <a:pPr indent="0" marL="0">
              <a:buNone/>
            </a:pPr>
            <a:r>
              <a:rPr lang="en-US" sz="1000" b="1" dirty="0">
                <a:solidFill>
                  <a:srgbClr val="18181F"/>
                </a:solidFill>
                <a:latin typeface="Calibri" pitchFamily="34" charset="0"/>
                <a:ea typeface="Calibri" pitchFamily="34" charset="-122"/>
                <a:cs typeface="Calibri" pitchFamily="34" charset="-120"/>
              </a:rPr>
              <a:t>Choosing the interface type
</a:t>
            </a:r>
            <a:pPr indent="0" marL="0">
              <a:buNone/>
            </a:pPr>
            <a:r>
              <a:rPr lang="en-US" sz="850" dirty="0">
                <a:solidFill>
                  <a:srgbClr val="4B5563"/>
                </a:solidFill>
                <a:latin typeface="Calibri" pitchFamily="34" charset="0"/>
                <a:ea typeface="Calibri" pitchFamily="34" charset="-122"/>
                <a:cs typeface="Calibri" pitchFamily="34" charset="-120"/>
              </a:rPr>
              <a:t>Screen · voice · wearable · AI · spatial — which one?</a:t>
            </a:r>
            <a:endParaRPr lang="en-US" sz="1000" dirty="0"/>
          </a:p>
        </p:txBody>
      </p:sp>
      <p:sp>
        <p:nvSpPr>
          <p:cNvPr id="19" name="Text 17"/>
          <p:cNvSpPr/>
          <p:nvPr/>
        </p:nvSpPr>
        <p:spPr>
          <a:xfrm>
            <a:off x="8001000" y="3813048"/>
            <a:ext cx="777240" cy="292608"/>
          </a:xfrm>
          <a:prstGeom prst="rect">
            <a:avLst/>
          </a:prstGeom>
          <a:noFill/>
          <a:ln/>
        </p:spPr>
        <p:txBody>
          <a:bodyPr wrap="square" lIns="0" tIns="0" rIns="0" bIns="0" rtlCol="0" anchor="ctr"/>
          <a:lstStyle/>
          <a:p>
            <a:pPr algn="r" indent="0" marL="0">
              <a:buNone/>
            </a:pPr>
            <a:r>
              <a:rPr lang="en-US" sz="750" b="1" dirty="0">
                <a:solidFill>
                  <a:srgbClr val="2563EB"/>
                </a:solidFill>
                <a:latin typeface="Courier New" pitchFamily="34" charset="0"/>
                <a:ea typeface="Courier New" pitchFamily="34" charset="-122"/>
                <a:cs typeface="Courier New" pitchFamily="34" charset="-120"/>
              </a:rPr>
              <a:t>Missing</a:t>
            </a:r>
            <a:endParaRPr lang="en-US" sz="750" dirty="0"/>
          </a:p>
        </p:txBody>
      </p:sp>
      <p:sp>
        <p:nvSpPr>
          <p:cNvPr id="20" name="Text 18"/>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1" name="Text 19"/>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04</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52044"/>
            <a:ext cx="274320" cy="13716"/>
          </a:xfrm>
          <a:prstGeom prst="rect">
            <a:avLst/>
          </a:prstGeom>
          <a:solidFill>
            <a:srgbClr val="2563EB"/>
          </a:solidFill>
          <a:ln w="12700">
            <a:solidFill>
              <a:srgbClr val="2563EB"/>
            </a:solidFill>
            <a:prstDash val="solid"/>
          </a:ln>
        </p:spPr>
      </p:sp>
      <p:sp>
        <p:nvSpPr>
          <p:cNvPr id="3" name="Text 1"/>
          <p:cNvSpPr/>
          <p:nvPr/>
        </p:nvSpPr>
        <p:spPr>
          <a:xfrm>
            <a:off x="804672" y="30175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WHAT HAPPENS WITHOUT A FRAMEWORK</a:t>
            </a:r>
            <a:endParaRPr lang="en-US" sz="800" dirty="0"/>
          </a:p>
        </p:txBody>
      </p:sp>
      <p:sp>
        <p:nvSpPr>
          <p:cNvPr id="4" name="Text 2"/>
          <p:cNvSpPr/>
          <p:nvPr/>
        </p:nvSpPr>
        <p:spPr>
          <a:xfrm>
            <a:off x="457200" y="548640"/>
            <a:ext cx="8229600" cy="914400"/>
          </a:xfrm>
          <a:prstGeom prst="rect">
            <a:avLst/>
          </a:prstGeom>
          <a:noFill/>
          <a:ln/>
        </p:spPr>
        <p:txBody>
          <a:bodyPr wrap="square" lIns="0" tIns="0" rIns="0" bIns="0" rtlCol="0" anchor="ctr"/>
          <a:lstStyle/>
          <a:p>
            <a:pPr indent="0" marL="0">
              <a:lnSpc>
                <a:spcPct val="100000"/>
              </a:lnSpc>
              <a:buNone/>
            </a:pPr>
            <a:r>
              <a:rPr lang="en-US" sz="2600" b="1" spc="-100" kern="0" dirty="0">
                <a:solidFill>
                  <a:srgbClr val="18181F"/>
                </a:solidFill>
                <a:latin typeface="Calibri" pitchFamily="34" charset="0"/>
                <a:ea typeface="Calibri" pitchFamily="34" charset="-122"/>
                <a:cs typeface="Calibri" pitchFamily="34" charset="-120"/>
              </a:rPr>
              <a:t>Right technology.
</a:t>
            </a:r>
            <a:pPr indent="0" marL="0">
              <a:lnSpc>
                <a:spcPct val="100000"/>
              </a:lnSpc>
              <a:buNone/>
            </a:pPr>
            <a:r>
              <a:rPr lang="en-US" sz="2600" b="1" spc="-100" kern="0" dirty="0">
                <a:solidFill>
                  <a:srgbClr val="2563EB"/>
                </a:solidFill>
                <a:latin typeface="Calibri" pitchFamily="34" charset="0"/>
                <a:ea typeface="Calibri" pitchFamily="34" charset="-122"/>
                <a:cs typeface="Calibri" pitchFamily="34" charset="-120"/>
              </a:rPr>
              <a:t>Wrong interface type.</a:t>
            </a:r>
            <a:endParaRPr lang="en-US" sz="2600" dirty="0"/>
          </a:p>
        </p:txBody>
      </p:sp>
      <p:sp>
        <p:nvSpPr>
          <p:cNvPr id="5" name="Shape 3"/>
          <p:cNvSpPr/>
          <p:nvPr/>
        </p:nvSpPr>
        <p:spPr>
          <a:xfrm>
            <a:off x="457200" y="1572768"/>
            <a:ext cx="1609344" cy="2816352"/>
          </a:xfrm>
          <a:prstGeom prst="rect">
            <a:avLst/>
          </a:prstGeom>
          <a:solidFill>
            <a:srgbClr val="FFFFFF"/>
          </a:solidFill>
          <a:ln w="6350">
            <a:solidFill>
              <a:srgbClr val="E4E4EA"/>
            </a:solidFill>
            <a:prstDash val="solid"/>
          </a:ln>
        </p:spPr>
      </p:sp>
      <p:sp>
        <p:nvSpPr>
          <p:cNvPr id="6" name="Text 4"/>
          <p:cNvSpPr/>
          <p:nvPr/>
        </p:nvSpPr>
        <p:spPr>
          <a:xfrm>
            <a:off x="566928" y="1664208"/>
            <a:ext cx="1426464" cy="274320"/>
          </a:xfrm>
          <a:prstGeom prst="rect">
            <a:avLst/>
          </a:prstGeom>
          <a:noFill/>
          <a:ln/>
        </p:spPr>
        <p:txBody>
          <a:bodyPr wrap="square" lIns="0" tIns="0" rIns="0" bIns="0" rtlCol="0" anchor="ctr"/>
          <a:lstStyle/>
          <a:p>
            <a:pPr indent="0" marL="0">
              <a:buNone/>
            </a:pPr>
            <a:r>
              <a:rPr lang="en-US" sz="950" b="1" dirty="0">
                <a:solidFill>
                  <a:srgbClr val="18181F"/>
                </a:solidFill>
                <a:latin typeface="Calibri" pitchFamily="34" charset="0"/>
                <a:ea typeface="Calibri" pitchFamily="34" charset="-122"/>
                <a:cs typeface="Calibri" pitchFamily="34" charset="-120"/>
              </a:rPr>
              <a:t>Google Glass</a:t>
            </a:r>
            <a:endParaRPr lang="en-US" sz="950" dirty="0"/>
          </a:p>
        </p:txBody>
      </p:sp>
      <p:sp>
        <p:nvSpPr>
          <p:cNvPr id="7" name="Text 5"/>
          <p:cNvSpPr/>
          <p:nvPr/>
        </p:nvSpPr>
        <p:spPr>
          <a:xfrm>
            <a:off x="566928" y="1956816"/>
            <a:ext cx="1426464" cy="201168"/>
          </a:xfrm>
          <a:prstGeom prst="rect">
            <a:avLst/>
          </a:prstGeom>
          <a:noFill/>
          <a:ln/>
        </p:spPr>
        <p:txBody>
          <a:bodyPr wrap="square" lIns="0" tIns="0" rIns="0" bIns="0" rtlCol="0" anchor="ctr"/>
          <a:lstStyle/>
          <a:p>
            <a:pPr indent="0" marL="0">
              <a:buNone/>
            </a:pPr>
            <a:r>
              <a:rPr lang="en-US" sz="750" dirty="0">
                <a:solidFill>
                  <a:srgbClr val="6B7280"/>
                </a:solidFill>
                <a:latin typeface="Courier New" pitchFamily="34" charset="0"/>
                <a:ea typeface="Courier New" pitchFamily="34" charset="-122"/>
                <a:cs typeface="Courier New" pitchFamily="34" charset="-120"/>
              </a:rPr>
              <a:t>2013</a:t>
            </a:r>
            <a:endParaRPr lang="en-US" sz="750" dirty="0"/>
          </a:p>
        </p:txBody>
      </p:sp>
      <p:sp>
        <p:nvSpPr>
          <p:cNvPr id="8" name="Shape 6"/>
          <p:cNvSpPr/>
          <p:nvPr/>
        </p:nvSpPr>
        <p:spPr>
          <a:xfrm>
            <a:off x="566928" y="2231136"/>
            <a:ext cx="1389888" cy="0"/>
          </a:xfrm>
          <a:prstGeom prst="line">
            <a:avLst/>
          </a:prstGeom>
          <a:noFill/>
          <a:ln w="6350">
            <a:solidFill>
              <a:srgbClr val="E4E4EA"/>
            </a:solidFill>
            <a:prstDash val="solid"/>
          </a:ln>
        </p:spPr>
      </p:sp>
      <p:sp>
        <p:nvSpPr>
          <p:cNvPr id="9" name="Text 7"/>
          <p:cNvSpPr/>
          <p:nvPr/>
        </p:nvSpPr>
        <p:spPr>
          <a:xfrm>
            <a:off x="566928" y="2286000"/>
            <a:ext cx="1426464" cy="219456"/>
          </a:xfrm>
          <a:prstGeom prst="rect">
            <a:avLst/>
          </a:prstGeom>
          <a:noFill/>
          <a:ln/>
        </p:spPr>
        <p:txBody>
          <a:bodyPr wrap="square" lIns="0" tIns="0" rIns="0" bIns="0" rtlCol="0" anchor="ctr"/>
          <a:lstStyle/>
          <a:p>
            <a:pPr indent="0" marL="0">
              <a:buNone/>
            </a:pPr>
            <a:r>
              <a:rPr lang="en-US" sz="700" b="1" spc="100" kern="0" dirty="0">
                <a:solidFill>
                  <a:srgbClr val="2563EB"/>
                </a:solidFill>
                <a:latin typeface="Courier New" pitchFamily="34" charset="0"/>
                <a:ea typeface="Courier New" pitchFamily="34" charset="-122"/>
                <a:cs typeface="Courier New" pitchFamily="34" charset="-120"/>
              </a:rPr>
              <a:t>VALUES MISMATCH</a:t>
            </a:r>
            <a:endParaRPr lang="en-US" sz="700" dirty="0"/>
          </a:p>
        </p:txBody>
      </p:sp>
      <p:sp>
        <p:nvSpPr>
          <p:cNvPr id="10" name="Text 8"/>
          <p:cNvSpPr/>
          <p:nvPr/>
        </p:nvSpPr>
        <p:spPr>
          <a:xfrm>
            <a:off x="566928" y="2542032"/>
            <a:ext cx="1426464" cy="1691640"/>
          </a:xfrm>
          <a:prstGeom prst="rect">
            <a:avLst/>
          </a:prstGeom>
          <a:noFill/>
          <a:ln/>
        </p:spPr>
        <p:txBody>
          <a:bodyPr wrap="square" lIns="0" tIns="0" rIns="0" bIns="0" rtlCol="0" anchor="t"/>
          <a:lstStyle/>
          <a:p>
            <a:pPr indent="0" marL="0">
              <a:buNone/>
            </a:pPr>
            <a:r>
              <a:rPr lang="en-US" sz="800" dirty="0">
                <a:solidFill>
                  <a:srgbClr val="4B5563"/>
                </a:solidFill>
                <a:latin typeface="Calibri" pitchFamily="34" charset="0"/>
                <a:ea typeface="Calibri" pitchFamily="34" charset="-122"/>
                <a:cs typeface="Calibri" pitchFamily="34" charset="-120"/>
              </a:rPr>
              <a:t>Spatial interface forced onto everyday social contexts. Rejected on privacy, not technology.</a:t>
            </a:r>
            <a:endParaRPr lang="en-US" sz="800" dirty="0"/>
          </a:p>
        </p:txBody>
      </p:sp>
      <p:sp>
        <p:nvSpPr>
          <p:cNvPr id="11" name="Shape 9"/>
          <p:cNvSpPr/>
          <p:nvPr/>
        </p:nvSpPr>
        <p:spPr>
          <a:xfrm>
            <a:off x="2135124" y="1572768"/>
            <a:ext cx="1609344" cy="2816352"/>
          </a:xfrm>
          <a:prstGeom prst="rect">
            <a:avLst/>
          </a:prstGeom>
          <a:solidFill>
            <a:srgbClr val="FFFFFF"/>
          </a:solidFill>
          <a:ln w="6350">
            <a:solidFill>
              <a:srgbClr val="E4E4EA"/>
            </a:solidFill>
            <a:prstDash val="solid"/>
          </a:ln>
        </p:spPr>
      </p:sp>
      <p:sp>
        <p:nvSpPr>
          <p:cNvPr id="12" name="Text 10"/>
          <p:cNvSpPr/>
          <p:nvPr/>
        </p:nvSpPr>
        <p:spPr>
          <a:xfrm>
            <a:off x="2244852" y="1664208"/>
            <a:ext cx="1426464" cy="274320"/>
          </a:xfrm>
          <a:prstGeom prst="rect">
            <a:avLst/>
          </a:prstGeom>
          <a:noFill/>
          <a:ln/>
        </p:spPr>
        <p:txBody>
          <a:bodyPr wrap="square" lIns="0" tIns="0" rIns="0" bIns="0" rtlCol="0" anchor="ctr"/>
          <a:lstStyle/>
          <a:p>
            <a:pPr indent="0" marL="0">
              <a:buNone/>
            </a:pPr>
            <a:r>
              <a:rPr lang="en-US" sz="950" b="1" dirty="0">
                <a:solidFill>
                  <a:srgbClr val="18181F"/>
                </a:solidFill>
                <a:latin typeface="Calibri" pitchFamily="34" charset="0"/>
                <a:ea typeface="Calibri" pitchFamily="34" charset="-122"/>
                <a:cs typeface="Calibri" pitchFamily="34" charset="-120"/>
              </a:rPr>
              <a:t>Humane AI Pin</a:t>
            </a:r>
            <a:endParaRPr lang="en-US" sz="950" dirty="0"/>
          </a:p>
        </p:txBody>
      </p:sp>
      <p:sp>
        <p:nvSpPr>
          <p:cNvPr id="13" name="Text 11"/>
          <p:cNvSpPr/>
          <p:nvPr/>
        </p:nvSpPr>
        <p:spPr>
          <a:xfrm>
            <a:off x="2244852" y="1956816"/>
            <a:ext cx="1426464" cy="201168"/>
          </a:xfrm>
          <a:prstGeom prst="rect">
            <a:avLst/>
          </a:prstGeom>
          <a:noFill/>
          <a:ln/>
        </p:spPr>
        <p:txBody>
          <a:bodyPr wrap="square" lIns="0" tIns="0" rIns="0" bIns="0" rtlCol="0" anchor="ctr"/>
          <a:lstStyle/>
          <a:p>
            <a:pPr indent="0" marL="0">
              <a:buNone/>
            </a:pPr>
            <a:r>
              <a:rPr lang="en-US" sz="750" dirty="0">
                <a:solidFill>
                  <a:srgbClr val="6B7280"/>
                </a:solidFill>
                <a:latin typeface="Courier New" pitchFamily="34" charset="0"/>
                <a:ea typeface="Courier New" pitchFamily="34" charset="-122"/>
                <a:cs typeface="Courier New" pitchFamily="34" charset="-120"/>
              </a:rPr>
              <a:t>2024</a:t>
            </a:r>
            <a:endParaRPr lang="en-US" sz="750" dirty="0"/>
          </a:p>
        </p:txBody>
      </p:sp>
      <p:sp>
        <p:nvSpPr>
          <p:cNvPr id="14" name="Shape 12"/>
          <p:cNvSpPr/>
          <p:nvPr/>
        </p:nvSpPr>
        <p:spPr>
          <a:xfrm>
            <a:off x="2244852" y="2231136"/>
            <a:ext cx="1389888" cy="0"/>
          </a:xfrm>
          <a:prstGeom prst="line">
            <a:avLst/>
          </a:prstGeom>
          <a:noFill/>
          <a:ln w="6350">
            <a:solidFill>
              <a:srgbClr val="E4E4EA"/>
            </a:solidFill>
            <a:prstDash val="solid"/>
          </a:ln>
        </p:spPr>
      </p:sp>
      <p:sp>
        <p:nvSpPr>
          <p:cNvPr id="15" name="Text 13"/>
          <p:cNvSpPr/>
          <p:nvPr/>
        </p:nvSpPr>
        <p:spPr>
          <a:xfrm>
            <a:off x="2244852" y="2286000"/>
            <a:ext cx="1426464" cy="219456"/>
          </a:xfrm>
          <a:prstGeom prst="rect">
            <a:avLst/>
          </a:prstGeom>
          <a:noFill/>
          <a:ln/>
        </p:spPr>
        <p:txBody>
          <a:bodyPr wrap="square" lIns="0" tIns="0" rIns="0" bIns="0" rtlCol="0" anchor="ctr"/>
          <a:lstStyle/>
          <a:p>
            <a:pPr indent="0" marL="0">
              <a:buNone/>
            </a:pPr>
            <a:r>
              <a:rPr lang="en-US" sz="700" b="1" spc="100" kern="0" dirty="0">
                <a:solidFill>
                  <a:srgbClr val="2563EB"/>
                </a:solidFill>
                <a:latin typeface="Courier New" pitchFamily="34" charset="0"/>
                <a:ea typeface="Courier New" pitchFamily="34" charset="-122"/>
                <a:cs typeface="Courier New" pitchFamily="34" charset="-120"/>
              </a:rPr>
              <a:t>LATENCY + REDUNDANCY</a:t>
            </a:r>
            <a:endParaRPr lang="en-US" sz="700" dirty="0"/>
          </a:p>
        </p:txBody>
      </p:sp>
      <p:sp>
        <p:nvSpPr>
          <p:cNvPr id="16" name="Text 14"/>
          <p:cNvSpPr/>
          <p:nvPr/>
        </p:nvSpPr>
        <p:spPr>
          <a:xfrm>
            <a:off x="2244852" y="2542032"/>
            <a:ext cx="1426464" cy="1691640"/>
          </a:xfrm>
          <a:prstGeom prst="rect">
            <a:avLst/>
          </a:prstGeom>
          <a:noFill/>
          <a:ln/>
        </p:spPr>
        <p:txBody>
          <a:bodyPr wrap="square" lIns="0" tIns="0" rIns="0" bIns="0" rtlCol="0" anchor="t"/>
          <a:lstStyle/>
          <a:p>
            <a:pPr indent="0" marL="0">
              <a:buNone/>
            </a:pPr>
            <a:r>
              <a:rPr lang="en-US" sz="800" dirty="0">
                <a:solidFill>
                  <a:srgbClr val="4B5563"/>
                </a:solidFill>
                <a:latin typeface="Calibri" pitchFamily="34" charset="0"/>
                <a:ea typeface="Calibri" pitchFamily="34" charset="-122"/>
                <a:cs typeface="Calibri" pitchFamily="34" charset="-120"/>
              </a:rPr>
              <a:t>Screenless wearable with 5–10s delays. Smartphones already solved this.</a:t>
            </a:r>
            <a:endParaRPr lang="en-US" sz="800" dirty="0"/>
          </a:p>
        </p:txBody>
      </p:sp>
      <p:sp>
        <p:nvSpPr>
          <p:cNvPr id="17" name="Shape 15"/>
          <p:cNvSpPr/>
          <p:nvPr/>
        </p:nvSpPr>
        <p:spPr>
          <a:xfrm>
            <a:off x="3813048" y="1572768"/>
            <a:ext cx="1609344" cy="2816352"/>
          </a:xfrm>
          <a:prstGeom prst="rect">
            <a:avLst/>
          </a:prstGeom>
          <a:solidFill>
            <a:srgbClr val="FFFFFF"/>
          </a:solidFill>
          <a:ln w="6350">
            <a:solidFill>
              <a:srgbClr val="E4E4EA"/>
            </a:solidFill>
            <a:prstDash val="solid"/>
          </a:ln>
        </p:spPr>
      </p:sp>
      <p:sp>
        <p:nvSpPr>
          <p:cNvPr id="18" name="Text 16"/>
          <p:cNvSpPr/>
          <p:nvPr/>
        </p:nvSpPr>
        <p:spPr>
          <a:xfrm>
            <a:off x="3922776" y="1664208"/>
            <a:ext cx="1426464" cy="274320"/>
          </a:xfrm>
          <a:prstGeom prst="rect">
            <a:avLst/>
          </a:prstGeom>
          <a:noFill/>
          <a:ln/>
        </p:spPr>
        <p:txBody>
          <a:bodyPr wrap="square" lIns="0" tIns="0" rIns="0" bIns="0" rtlCol="0" anchor="ctr"/>
          <a:lstStyle/>
          <a:p>
            <a:pPr indent="0" marL="0">
              <a:buNone/>
            </a:pPr>
            <a:r>
              <a:rPr lang="en-US" sz="950" b="1" dirty="0">
                <a:solidFill>
                  <a:srgbClr val="18181F"/>
                </a:solidFill>
                <a:latin typeface="Calibri" pitchFamily="34" charset="0"/>
                <a:ea typeface="Calibri" pitchFamily="34" charset="-122"/>
                <a:cs typeface="Calibri" pitchFamily="34" charset="-120"/>
              </a:rPr>
              <a:t>Rabbit R1</a:t>
            </a:r>
            <a:endParaRPr lang="en-US" sz="950" dirty="0"/>
          </a:p>
        </p:txBody>
      </p:sp>
      <p:sp>
        <p:nvSpPr>
          <p:cNvPr id="19" name="Text 17"/>
          <p:cNvSpPr/>
          <p:nvPr/>
        </p:nvSpPr>
        <p:spPr>
          <a:xfrm>
            <a:off x="3922776" y="1956816"/>
            <a:ext cx="1426464" cy="201168"/>
          </a:xfrm>
          <a:prstGeom prst="rect">
            <a:avLst/>
          </a:prstGeom>
          <a:noFill/>
          <a:ln/>
        </p:spPr>
        <p:txBody>
          <a:bodyPr wrap="square" lIns="0" tIns="0" rIns="0" bIns="0" rtlCol="0" anchor="ctr"/>
          <a:lstStyle/>
          <a:p>
            <a:pPr indent="0" marL="0">
              <a:buNone/>
            </a:pPr>
            <a:r>
              <a:rPr lang="en-US" sz="750" dirty="0">
                <a:solidFill>
                  <a:srgbClr val="6B7280"/>
                </a:solidFill>
                <a:latin typeface="Courier New" pitchFamily="34" charset="0"/>
                <a:ea typeface="Courier New" pitchFamily="34" charset="-122"/>
                <a:cs typeface="Courier New" pitchFamily="34" charset="-120"/>
              </a:rPr>
              <a:t>2024</a:t>
            </a:r>
            <a:endParaRPr lang="en-US" sz="750" dirty="0"/>
          </a:p>
        </p:txBody>
      </p:sp>
      <p:sp>
        <p:nvSpPr>
          <p:cNvPr id="20" name="Shape 18"/>
          <p:cNvSpPr/>
          <p:nvPr/>
        </p:nvSpPr>
        <p:spPr>
          <a:xfrm>
            <a:off x="3922776" y="2231136"/>
            <a:ext cx="1389888" cy="0"/>
          </a:xfrm>
          <a:prstGeom prst="line">
            <a:avLst/>
          </a:prstGeom>
          <a:noFill/>
          <a:ln w="6350">
            <a:solidFill>
              <a:srgbClr val="E4E4EA"/>
            </a:solidFill>
            <a:prstDash val="solid"/>
          </a:ln>
        </p:spPr>
      </p:sp>
      <p:sp>
        <p:nvSpPr>
          <p:cNvPr id="21" name="Text 19"/>
          <p:cNvSpPr/>
          <p:nvPr/>
        </p:nvSpPr>
        <p:spPr>
          <a:xfrm>
            <a:off x="3922776" y="2286000"/>
            <a:ext cx="1426464" cy="219456"/>
          </a:xfrm>
          <a:prstGeom prst="rect">
            <a:avLst/>
          </a:prstGeom>
          <a:noFill/>
          <a:ln/>
        </p:spPr>
        <p:txBody>
          <a:bodyPr wrap="square" lIns="0" tIns="0" rIns="0" bIns="0" rtlCol="0" anchor="ctr"/>
          <a:lstStyle/>
          <a:p>
            <a:pPr indent="0" marL="0">
              <a:buNone/>
            </a:pPr>
            <a:r>
              <a:rPr lang="en-US" sz="700" b="1" spc="100" kern="0" dirty="0">
                <a:solidFill>
                  <a:srgbClr val="2563EB"/>
                </a:solidFill>
                <a:latin typeface="Courier New" pitchFamily="34" charset="0"/>
                <a:ea typeface="Courier New" pitchFamily="34" charset="-122"/>
                <a:cs typeface="Courier New" pitchFamily="34" charset="-120"/>
              </a:rPr>
              <a:t>VALUE PROPOSITION</a:t>
            </a:r>
            <a:endParaRPr lang="en-US" sz="700" dirty="0"/>
          </a:p>
        </p:txBody>
      </p:sp>
      <p:sp>
        <p:nvSpPr>
          <p:cNvPr id="22" name="Text 20"/>
          <p:cNvSpPr/>
          <p:nvPr/>
        </p:nvSpPr>
        <p:spPr>
          <a:xfrm>
            <a:off x="3922776" y="2542032"/>
            <a:ext cx="1426464" cy="1691640"/>
          </a:xfrm>
          <a:prstGeom prst="rect">
            <a:avLst/>
          </a:prstGeom>
          <a:noFill/>
          <a:ln/>
        </p:spPr>
        <p:txBody>
          <a:bodyPr wrap="square" lIns="0" tIns="0" rIns="0" bIns="0" rtlCol="0" anchor="t"/>
          <a:lstStyle/>
          <a:p>
            <a:pPr indent="0" marL="0">
              <a:buNone/>
            </a:pPr>
            <a:r>
              <a:rPr lang="en-US" sz="800" dirty="0">
                <a:solidFill>
                  <a:srgbClr val="4B5563"/>
                </a:solidFill>
                <a:latin typeface="Calibri" pitchFamily="34" charset="0"/>
                <a:ea typeface="Calibri" pitchFamily="34" charset="-122"/>
                <a:cs typeface="Calibri" pitchFamily="34" charset="-120"/>
              </a:rPr>
              <a:t>Dedicated AI hardware with no answer to: "why not just use my phone?"</a:t>
            </a:r>
            <a:endParaRPr lang="en-US" sz="800" dirty="0"/>
          </a:p>
        </p:txBody>
      </p:sp>
      <p:sp>
        <p:nvSpPr>
          <p:cNvPr id="23" name="Shape 21"/>
          <p:cNvSpPr/>
          <p:nvPr/>
        </p:nvSpPr>
        <p:spPr>
          <a:xfrm>
            <a:off x="5490972" y="1572768"/>
            <a:ext cx="1609344" cy="2816352"/>
          </a:xfrm>
          <a:prstGeom prst="rect">
            <a:avLst/>
          </a:prstGeom>
          <a:solidFill>
            <a:srgbClr val="FFFFFF"/>
          </a:solidFill>
          <a:ln w="6350">
            <a:solidFill>
              <a:srgbClr val="E4E4EA"/>
            </a:solidFill>
            <a:prstDash val="solid"/>
          </a:ln>
        </p:spPr>
      </p:sp>
      <p:sp>
        <p:nvSpPr>
          <p:cNvPr id="24" name="Text 22"/>
          <p:cNvSpPr/>
          <p:nvPr/>
        </p:nvSpPr>
        <p:spPr>
          <a:xfrm>
            <a:off x="5600700" y="1664208"/>
            <a:ext cx="1426464" cy="274320"/>
          </a:xfrm>
          <a:prstGeom prst="rect">
            <a:avLst/>
          </a:prstGeom>
          <a:noFill/>
          <a:ln/>
        </p:spPr>
        <p:txBody>
          <a:bodyPr wrap="square" lIns="0" tIns="0" rIns="0" bIns="0" rtlCol="0" anchor="ctr"/>
          <a:lstStyle/>
          <a:p>
            <a:pPr indent="0" marL="0">
              <a:buNone/>
            </a:pPr>
            <a:r>
              <a:rPr lang="en-US" sz="950" b="1" dirty="0">
                <a:solidFill>
                  <a:srgbClr val="18181F"/>
                </a:solidFill>
                <a:latin typeface="Calibri" pitchFamily="34" charset="0"/>
                <a:ea typeface="Calibri" pitchFamily="34" charset="-122"/>
                <a:cs typeface="Calibri" pitchFamily="34" charset="-120"/>
              </a:rPr>
              <a:t>Fire Phone</a:t>
            </a:r>
            <a:endParaRPr lang="en-US" sz="950" dirty="0"/>
          </a:p>
        </p:txBody>
      </p:sp>
      <p:sp>
        <p:nvSpPr>
          <p:cNvPr id="25" name="Text 23"/>
          <p:cNvSpPr/>
          <p:nvPr/>
        </p:nvSpPr>
        <p:spPr>
          <a:xfrm>
            <a:off x="5600700" y="1956816"/>
            <a:ext cx="1426464" cy="201168"/>
          </a:xfrm>
          <a:prstGeom prst="rect">
            <a:avLst/>
          </a:prstGeom>
          <a:noFill/>
          <a:ln/>
        </p:spPr>
        <p:txBody>
          <a:bodyPr wrap="square" lIns="0" tIns="0" rIns="0" bIns="0" rtlCol="0" anchor="ctr"/>
          <a:lstStyle/>
          <a:p>
            <a:pPr indent="0" marL="0">
              <a:buNone/>
            </a:pPr>
            <a:r>
              <a:rPr lang="en-US" sz="750" dirty="0">
                <a:solidFill>
                  <a:srgbClr val="6B7280"/>
                </a:solidFill>
                <a:latin typeface="Courier New" pitchFamily="34" charset="0"/>
                <a:ea typeface="Courier New" pitchFamily="34" charset="-122"/>
                <a:cs typeface="Courier New" pitchFamily="34" charset="-120"/>
              </a:rPr>
              <a:t>2014</a:t>
            </a:r>
            <a:endParaRPr lang="en-US" sz="750" dirty="0"/>
          </a:p>
        </p:txBody>
      </p:sp>
      <p:sp>
        <p:nvSpPr>
          <p:cNvPr id="26" name="Shape 24"/>
          <p:cNvSpPr/>
          <p:nvPr/>
        </p:nvSpPr>
        <p:spPr>
          <a:xfrm>
            <a:off x="5600700" y="2231136"/>
            <a:ext cx="1389888" cy="0"/>
          </a:xfrm>
          <a:prstGeom prst="line">
            <a:avLst/>
          </a:prstGeom>
          <a:noFill/>
          <a:ln w="6350">
            <a:solidFill>
              <a:srgbClr val="E4E4EA"/>
            </a:solidFill>
            <a:prstDash val="solid"/>
          </a:ln>
        </p:spPr>
      </p:sp>
      <p:sp>
        <p:nvSpPr>
          <p:cNvPr id="27" name="Text 25"/>
          <p:cNvSpPr/>
          <p:nvPr/>
        </p:nvSpPr>
        <p:spPr>
          <a:xfrm>
            <a:off x="5600700" y="2286000"/>
            <a:ext cx="1426464" cy="219456"/>
          </a:xfrm>
          <a:prstGeom prst="rect">
            <a:avLst/>
          </a:prstGeom>
          <a:noFill/>
          <a:ln/>
        </p:spPr>
        <p:txBody>
          <a:bodyPr wrap="square" lIns="0" tIns="0" rIns="0" bIns="0" rtlCol="0" anchor="ctr"/>
          <a:lstStyle/>
          <a:p>
            <a:pPr indent="0" marL="0">
              <a:buNone/>
            </a:pPr>
            <a:r>
              <a:rPr lang="en-US" sz="700" b="1" spc="100" kern="0" dirty="0">
                <a:solidFill>
                  <a:srgbClr val="2563EB"/>
                </a:solidFill>
                <a:latin typeface="Courier New" pitchFamily="34" charset="0"/>
                <a:ea typeface="Courier New" pitchFamily="34" charset="-122"/>
                <a:cs typeface="Courier New" pitchFamily="34" charset="-120"/>
              </a:rPr>
              <a:t>TASK MISMATCH</a:t>
            </a:r>
            <a:endParaRPr lang="en-US" sz="700" dirty="0"/>
          </a:p>
        </p:txBody>
      </p:sp>
      <p:sp>
        <p:nvSpPr>
          <p:cNvPr id="28" name="Text 26"/>
          <p:cNvSpPr/>
          <p:nvPr/>
        </p:nvSpPr>
        <p:spPr>
          <a:xfrm>
            <a:off x="5600700" y="2542032"/>
            <a:ext cx="1426464" cy="1691640"/>
          </a:xfrm>
          <a:prstGeom prst="rect">
            <a:avLst/>
          </a:prstGeom>
          <a:noFill/>
          <a:ln/>
        </p:spPr>
        <p:txBody>
          <a:bodyPr wrap="square" lIns="0" tIns="0" rIns="0" bIns="0" rtlCol="0" anchor="t"/>
          <a:lstStyle/>
          <a:p>
            <a:pPr indent="0" marL="0">
              <a:buNone/>
            </a:pPr>
            <a:r>
              <a:rPr lang="en-US" sz="800" dirty="0">
                <a:solidFill>
                  <a:srgbClr val="4B5563"/>
                </a:solidFill>
                <a:latin typeface="Calibri" pitchFamily="34" charset="0"/>
                <a:ea typeface="Calibri" pitchFamily="34" charset="-122"/>
                <a:cs typeface="Calibri" pitchFamily="34" charset="-120"/>
              </a:rPr>
              <a:t>3D spatial UI on a phone where no daily task required it. $170M writedown.</a:t>
            </a:r>
            <a:endParaRPr lang="en-US" sz="800" dirty="0"/>
          </a:p>
        </p:txBody>
      </p:sp>
      <p:sp>
        <p:nvSpPr>
          <p:cNvPr id="29" name="Shape 27"/>
          <p:cNvSpPr/>
          <p:nvPr/>
        </p:nvSpPr>
        <p:spPr>
          <a:xfrm>
            <a:off x="7168896" y="1572768"/>
            <a:ext cx="1609344" cy="2816352"/>
          </a:xfrm>
          <a:prstGeom prst="rect">
            <a:avLst/>
          </a:prstGeom>
          <a:solidFill>
            <a:srgbClr val="FFFFFF"/>
          </a:solidFill>
          <a:ln w="6350">
            <a:solidFill>
              <a:srgbClr val="E4E4EA"/>
            </a:solidFill>
            <a:prstDash val="solid"/>
          </a:ln>
        </p:spPr>
      </p:sp>
      <p:sp>
        <p:nvSpPr>
          <p:cNvPr id="30" name="Text 28"/>
          <p:cNvSpPr/>
          <p:nvPr/>
        </p:nvSpPr>
        <p:spPr>
          <a:xfrm>
            <a:off x="7278624" y="1664208"/>
            <a:ext cx="1426464" cy="274320"/>
          </a:xfrm>
          <a:prstGeom prst="rect">
            <a:avLst/>
          </a:prstGeom>
          <a:noFill/>
          <a:ln/>
        </p:spPr>
        <p:txBody>
          <a:bodyPr wrap="square" lIns="0" tIns="0" rIns="0" bIns="0" rtlCol="0" anchor="ctr"/>
          <a:lstStyle/>
          <a:p>
            <a:pPr indent="0" marL="0">
              <a:buNone/>
            </a:pPr>
            <a:r>
              <a:rPr lang="en-US" sz="950" b="1" dirty="0">
                <a:solidFill>
                  <a:srgbClr val="18181F"/>
                </a:solidFill>
                <a:latin typeface="Calibri" pitchFamily="34" charset="0"/>
                <a:ea typeface="Calibri" pitchFamily="34" charset="-122"/>
                <a:cs typeface="Calibri" pitchFamily="34" charset="-120"/>
              </a:rPr>
              <a:t>Clippy</a:t>
            </a:r>
            <a:endParaRPr lang="en-US" sz="950" dirty="0"/>
          </a:p>
        </p:txBody>
      </p:sp>
      <p:sp>
        <p:nvSpPr>
          <p:cNvPr id="31" name="Text 29"/>
          <p:cNvSpPr/>
          <p:nvPr/>
        </p:nvSpPr>
        <p:spPr>
          <a:xfrm>
            <a:off x="7278624" y="1956816"/>
            <a:ext cx="1426464" cy="201168"/>
          </a:xfrm>
          <a:prstGeom prst="rect">
            <a:avLst/>
          </a:prstGeom>
          <a:noFill/>
          <a:ln/>
        </p:spPr>
        <p:txBody>
          <a:bodyPr wrap="square" lIns="0" tIns="0" rIns="0" bIns="0" rtlCol="0" anchor="ctr"/>
          <a:lstStyle/>
          <a:p>
            <a:pPr indent="0" marL="0">
              <a:buNone/>
            </a:pPr>
            <a:r>
              <a:rPr lang="en-US" sz="750" dirty="0">
                <a:solidFill>
                  <a:srgbClr val="6B7280"/>
                </a:solidFill>
                <a:latin typeface="Courier New" pitchFamily="34" charset="0"/>
                <a:ea typeface="Courier New" pitchFamily="34" charset="-122"/>
                <a:cs typeface="Courier New" pitchFamily="34" charset="-120"/>
              </a:rPr>
              <a:t>2001</a:t>
            </a:r>
            <a:endParaRPr lang="en-US" sz="750" dirty="0"/>
          </a:p>
        </p:txBody>
      </p:sp>
      <p:sp>
        <p:nvSpPr>
          <p:cNvPr id="32" name="Shape 30"/>
          <p:cNvSpPr/>
          <p:nvPr/>
        </p:nvSpPr>
        <p:spPr>
          <a:xfrm>
            <a:off x="7278624" y="2231136"/>
            <a:ext cx="1389888" cy="0"/>
          </a:xfrm>
          <a:prstGeom prst="line">
            <a:avLst/>
          </a:prstGeom>
          <a:noFill/>
          <a:ln w="6350">
            <a:solidFill>
              <a:srgbClr val="E4E4EA"/>
            </a:solidFill>
            <a:prstDash val="solid"/>
          </a:ln>
        </p:spPr>
      </p:sp>
      <p:sp>
        <p:nvSpPr>
          <p:cNvPr id="33" name="Text 31"/>
          <p:cNvSpPr/>
          <p:nvPr/>
        </p:nvSpPr>
        <p:spPr>
          <a:xfrm>
            <a:off x="7278624" y="2286000"/>
            <a:ext cx="1426464" cy="219456"/>
          </a:xfrm>
          <a:prstGeom prst="rect">
            <a:avLst/>
          </a:prstGeom>
          <a:noFill/>
          <a:ln/>
        </p:spPr>
        <p:txBody>
          <a:bodyPr wrap="square" lIns="0" tIns="0" rIns="0" bIns="0" rtlCol="0" anchor="ctr"/>
          <a:lstStyle/>
          <a:p>
            <a:pPr indent="0" marL="0">
              <a:buNone/>
            </a:pPr>
            <a:r>
              <a:rPr lang="en-US" sz="700" b="1" spc="100" kern="0" dirty="0">
                <a:solidFill>
                  <a:srgbClr val="2563EB"/>
                </a:solidFill>
                <a:latin typeface="Courier New" pitchFamily="34" charset="0"/>
                <a:ea typeface="Courier New" pitchFamily="34" charset="-122"/>
                <a:cs typeface="Courier New" pitchFamily="34" charset="-120"/>
              </a:rPr>
              <a:t>INTERACTION INITIATION</a:t>
            </a:r>
            <a:endParaRPr lang="en-US" sz="700" dirty="0"/>
          </a:p>
        </p:txBody>
      </p:sp>
      <p:sp>
        <p:nvSpPr>
          <p:cNvPr id="34" name="Text 32"/>
          <p:cNvSpPr/>
          <p:nvPr/>
        </p:nvSpPr>
        <p:spPr>
          <a:xfrm>
            <a:off x="7278624" y="2542032"/>
            <a:ext cx="1426464" cy="1691640"/>
          </a:xfrm>
          <a:prstGeom prst="rect">
            <a:avLst/>
          </a:prstGeom>
          <a:noFill/>
          <a:ln/>
        </p:spPr>
        <p:txBody>
          <a:bodyPr wrap="square" lIns="0" tIns="0" rIns="0" bIns="0" rtlCol="0" anchor="t"/>
          <a:lstStyle/>
          <a:p>
            <a:pPr indent="0" marL="0">
              <a:buNone/>
            </a:pPr>
            <a:r>
              <a:rPr lang="en-US" sz="800" dirty="0">
                <a:solidFill>
                  <a:srgbClr val="4B5563"/>
                </a:solidFill>
                <a:latin typeface="Calibri" pitchFamily="34" charset="0"/>
                <a:ea typeface="Calibri" pitchFamily="34" charset="-122"/>
                <a:cs typeface="Calibri" pitchFamily="34" charset="-120"/>
              </a:rPr>
              <a:t>System interrupted users who needed full control. Users demanded removal.</a:t>
            </a:r>
            <a:endParaRPr lang="en-US" sz="800" dirty="0"/>
          </a:p>
        </p:txBody>
      </p:sp>
      <p:sp>
        <p:nvSpPr>
          <p:cNvPr id="35" name="Text 33"/>
          <p:cNvSpPr/>
          <p:nvPr/>
        </p:nvSpPr>
        <p:spPr>
          <a:xfrm>
            <a:off x="457200" y="4498848"/>
            <a:ext cx="8229600" cy="256032"/>
          </a:xfrm>
          <a:prstGeom prst="rect">
            <a:avLst/>
          </a:prstGeom>
          <a:noFill/>
          <a:ln/>
        </p:spPr>
        <p:txBody>
          <a:bodyPr wrap="square" lIns="0" tIns="0" rIns="0" bIns="0" rtlCol="0" anchor="ctr"/>
          <a:lstStyle/>
          <a:p>
            <a:pPr indent="0" marL="0">
              <a:buNone/>
            </a:pPr>
            <a:r>
              <a:rPr lang="en-US" sz="900" dirty="0">
                <a:solidFill>
                  <a:srgbClr val="4B5563"/>
                </a:solidFill>
                <a:latin typeface="Calibri" pitchFamily="34" charset="0"/>
                <a:ea typeface="Calibri" pitchFamily="34" charset="-122"/>
                <a:cs typeface="Calibri" pitchFamily="34" charset="-120"/>
              </a:rPr>
              <a:t>Millions in combined documented losses across just five cases. Only the numbers companies disclosed.</a:t>
            </a:r>
            <a:endParaRPr lang="en-US" sz="900" dirty="0"/>
          </a:p>
        </p:txBody>
      </p:sp>
      <p:sp>
        <p:nvSpPr>
          <p:cNvPr id="36" name="Text 34"/>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37" name="Text 35"/>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05</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181F"/>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8AB4FF"/>
          </a:solidFill>
          <a:ln w="12700">
            <a:solidFill>
              <a:srgbClr val="8AB4FF"/>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8AB4FF"/>
                </a:solidFill>
                <a:latin typeface="Courier New" pitchFamily="34" charset="0"/>
                <a:ea typeface="Courier New" pitchFamily="34" charset="-122"/>
                <a:cs typeface="Courier New" pitchFamily="34" charset="-120"/>
              </a:rPr>
              <a:t>IT IS NOT AN ISOLATED PATTERN</a:t>
            </a:r>
            <a:endParaRPr lang="en-US" sz="800" dirty="0"/>
          </a:p>
        </p:txBody>
      </p:sp>
      <p:sp>
        <p:nvSpPr>
          <p:cNvPr id="4" name="Text 2"/>
          <p:cNvSpPr/>
          <p:nvPr/>
        </p:nvSpPr>
        <p:spPr>
          <a:xfrm>
            <a:off x="457200" y="621792"/>
            <a:ext cx="8229600" cy="960120"/>
          </a:xfrm>
          <a:prstGeom prst="rect">
            <a:avLst/>
          </a:prstGeom>
          <a:noFill/>
          <a:ln/>
        </p:spPr>
        <p:txBody>
          <a:bodyPr wrap="square" lIns="0" tIns="0" rIns="0" bIns="0" rtlCol="0" anchor="ctr"/>
          <a:lstStyle/>
          <a:p>
            <a:pPr indent="0" marL="0">
              <a:lnSpc>
                <a:spcPct val="100000"/>
              </a:lnSpc>
              <a:buNone/>
            </a:pPr>
            <a:r>
              <a:rPr lang="en-US" sz="2700" b="1" spc="-100" kern="0" dirty="0">
                <a:solidFill>
                  <a:srgbClr val="FFFFFF"/>
                </a:solidFill>
                <a:latin typeface="Calibri" pitchFamily="34" charset="0"/>
                <a:ea typeface="Calibri" pitchFamily="34" charset="-122"/>
                <a:cs typeface="Calibri" pitchFamily="34" charset="-120"/>
              </a:rPr>
              <a:t>The failure is not technical.
</a:t>
            </a:r>
            <a:pPr indent="0" marL="0">
              <a:lnSpc>
                <a:spcPct val="100000"/>
              </a:lnSpc>
              <a:buNone/>
            </a:pPr>
            <a:r>
              <a:rPr lang="en-US" sz="2700" b="1" spc="-100" kern="0" dirty="0">
                <a:solidFill>
                  <a:srgbClr val="8AB4FF"/>
                </a:solidFill>
                <a:latin typeface="Calibri" pitchFamily="34" charset="0"/>
                <a:ea typeface="Calibri" pitchFamily="34" charset="-122"/>
                <a:cs typeface="Calibri" pitchFamily="34" charset="-120"/>
              </a:rPr>
              <a:t>It is structural.</a:t>
            </a:r>
            <a:endParaRPr lang="en-US" sz="2700" dirty="0"/>
          </a:p>
        </p:txBody>
      </p:sp>
      <p:sp>
        <p:nvSpPr>
          <p:cNvPr id="5" name="Text 3"/>
          <p:cNvSpPr/>
          <p:nvPr/>
        </p:nvSpPr>
        <p:spPr>
          <a:xfrm>
            <a:off x="457200" y="1691640"/>
            <a:ext cx="2743200" cy="960120"/>
          </a:xfrm>
          <a:prstGeom prst="rect">
            <a:avLst/>
          </a:prstGeom>
          <a:noFill/>
          <a:ln/>
        </p:spPr>
        <p:txBody>
          <a:bodyPr wrap="square" lIns="0" tIns="0" rIns="0" bIns="0" rtlCol="0" anchor="ctr"/>
          <a:lstStyle/>
          <a:p>
            <a:pPr indent="0" marL="0">
              <a:buNone/>
            </a:pPr>
            <a:r>
              <a:rPr lang="en-US" sz="5200" b="1" spc="-200" kern="0" dirty="0">
                <a:solidFill>
                  <a:srgbClr val="8AB4FF"/>
                </a:solidFill>
                <a:latin typeface="Courier New" pitchFamily="34" charset="0"/>
                <a:ea typeface="Courier New" pitchFamily="34" charset="-122"/>
                <a:cs typeface="Courier New" pitchFamily="34" charset="-120"/>
              </a:rPr>
              <a:t>95%</a:t>
            </a:r>
            <a:endParaRPr lang="en-US" sz="5200" dirty="0"/>
          </a:p>
        </p:txBody>
      </p:sp>
      <p:sp>
        <p:nvSpPr>
          <p:cNvPr id="6" name="Text 4"/>
          <p:cNvSpPr/>
          <p:nvPr/>
        </p:nvSpPr>
        <p:spPr>
          <a:xfrm>
            <a:off x="457200" y="2761488"/>
            <a:ext cx="2651760" cy="640080"/>
          </a:xfrm>
          <a:prstGeom prst="rect">
            <a:avLst/>
          </a:prstGeom>
          <a:noFill/>
          <a:ln/>
        </p:spPr>
        <p:txBody>
          <a:bodyPr wrap="square" lIns="0" tIns="0" rIns="0" bIns="0" rtlCol="0" anchor="ctr"/>
          <a:lstStyle/>
          <a:p>
            <a:pPr indent="0" marL="0">
              <a:buNone/>
            </a:pPr>
            <a:r>
              <a:rPr lang="en-US" sz="950" dirty="0">
                <a:solidFill>
                  <a:srgbClr val="B5B7C2"/>
                </a:solidFill>
                <a:latin typeface="Calibri" pitchFamily="34" charset="0"/>
                <a:ea typeface="Calibri" pitchFamily="34" charset="-122"/>
                <a:cs typeface="Calibri" pitchFamily="34" charset="-120"/>
              </a:rPr>
              <a:t>of generative AI pilots fail to deliver measurable impact.</a:t>
            </a:r>
            <a:endParaRPr lang="en-US" sz="950" dirty="0"/>
          </a:p>
        </p:txBody>
      </p:sp>
      <p:sp>
        <p:nvSpPr>
          <p:cNvPr id="7" name="Text 5"/>
          <p:cNvSpPr/>
          <p:nvPr/>
        </p:nvSpPr>
        <p:spPr>
          <a:xfrm>
            <a:off x="457200" y="3474720"/>
            <a:ext cx="2651760" cy="201168"/>
          </a:xfrm>
          <a:prstGeom prst="rect">
            <a:avLst/>
          </a:prstGeom>
          <a:noFill/>
          <a:ln/>
        </p:spPr>
        <p:txBody>
          <a:bodyPr wrap="square" lIns="0" tIns="0" rIns="0" bIns="0" rtlCol="0" anchor="ctr"/>
          <a:lstStyle/>
          <a:p>
            <a:pPr indent="0" marL="0">
              <a:buNone/>
            </a:pPr>
            <a:r>
              <a:rPr lang="en-US" sz="750" dirty="0">
                <a:solidFill>
                  <a:srgbClr val="858896"/>
                </a:solidFill>
                <a:latin typeface="Courier New" pitchFamily="34" charset="0"/>
                <a:ea typeface="Courier New" pitchFamily="34" charset="-122"/>
                <a:cs typeface="Courier New" pitchFamily="34" charset="-120"/>
              </a:rPr>
              <a:t>MIT NANDA · 2025</a:t>
            </a:r>
            <a:endParaRPr lang="en-US" sz="750" dirty="0"/>
          </a:p>
        </p:txBody>
      </p:sp>
      <p:sp>
        <p:nvSpPr>
          <p:cNvPr id="8" name="Text 6"/>
          <p:cNvSpPr/>
          <p:nvPr/>
        </p:nvSpPr>
        <p:spPr>
          <a:xfrm>
            <a:off x="3310128" y="1691640"/>
            <a:ext cx="2743200" cy="960120"/>
          </a:xfrm>
          <a:prstGeom prst="rect">
            <a:avLst/>
          </a:prstGeom>
          <a:noFill/>
          <a:ln/>
        </p:spPr>
        <p:txBody>
          <a:bodyPr wrap="square" lIns="0" tIns="0" rIns="0" bIns="0" rtlCol="0" anchor="ctr"/>
          <a:lstStyle/>
          <a:p>
            <a:pPr indent="0" marL="0">
              <a:buNone/>
            </a:pPr>
            <a:r>
              <a:rPr lang="en-US" sz="5200" b="1" spc="-200" kern="0" dirty="0">
                <a:solidFill>
                  <a:srgbClr val="8AB4FF"/>
                </a:solidFill>
                <a:latin typeface="Courier New" pitchFamily="34" charset="0"/>
                <a:ea typeface="Courier New" pitchFamily="34" charset="-122"/>
                <a:cs typeface="Courier New" pitchFamily="34" charset="-120"/>
              </a:rPr>
              <a:t>80%</a:t>
            </a:r>
            <a:endParaRPr lang="en-US" sz="5200" dirty="0"/>
          </a:p>
        </p:txBody>
      </p:sp>
      <p:sp>
        <p:nvSpPr>
          <p:cNvPr id="9" name="Text 7"/>
          <p:cNvSpPr/>
          <p:nvPr/>
        </p:nvSpPr>
        <p:spPr>
          <a:xfrm>
            <a:off x="3310128" y="2761488"/>
            <a:ext cx="2651760" cy="640080"/>
          </a:xfrm>
          <a:prstGeom prst="rect">
            <a:avLst/>
          </a:prstGeom>
          <a:noFill/>
          <a:ln/>
        </p:spPr>
        <p:txBody>
          <a:bodyPr wrap="square" lIns="0" tIns="0" rIns="0" bIns="0" rtlCol="0" anchor="ctr"/>
          <a:lstStyle/>
          <a:p>
            <a:pPr indent="0" marL="0">
              <a:buNone/>
            </a:pPr>
            <a:r>
              <a:rPr lang="en-US" sz="950" dirty="0">
                <a:solidFill>
                  <a:srgbClr val="B5B7C2"/>
                </a:solidFill>
                <a:latin typeface="Calibri" pitchFamily="34" charset="0"/>
                <a:ea typeface="Calibri" pitchFamily="34" charset="-122"/>
                <a:cs typeface="Calibri" pitchFamily="34" charset="-120"/>
              </a:rPr>
              <a:t>of AI projects never reach real use, twice conventional IT.</a:t>
            </a:r>
            <a:endParaRPr lang="en-US" sz="950" dirty="0"/>
          </a:p>
        </p:txBody>
      </p:sp>
      <p:sp>
        <p:nvSpPr>
          <p:cNvPr id="10" name="Text 8"/>
          <p:cNvSpPr/>
          <p:nvPr/>
        </p:nvSpPr>
        <p:spPr>
          <a:xfrm>
            <a:off x="3310128" y="3474720"/>
            <a:ext cx="2651760" cy="201168"/>
          </a:xfrm>
          <a:prstGeom prst="rect">
            <a:avLst/>
          </a:prstGeom>
          <a:noFill/>
          <a:ln/>
        </p:spPr>
        <p:txBody>
          <a:bodyPr wrap="square" lIns="0" tIns="0" rIns="0" bIns="0" rtlCol="0" anchor="ctr"/>
          <a:lstStyle/>
          <a:p>
            <a:pPr indent="0" marL="0">
              <a:buNone/>
            </a:pPr>
            <a:r>
              <a:rPr lang="en-US" sz="750" dirty="0">
                <a:solidFill>
                  <a:srgbClr val="858896"/>
                </a:solidFill>
                <a:latin typeface="Courier New" pitchFamily="34" charset="0"/>
                <a:ea typeface="Courier New" pitchFamily="34" charset="-122"/>
                <a:cs typeface="Courier New" pitchFamily="34" charset="-120"/>
              </a:rPr>
              <a:t>RAND Corporation · 2024</a:t>
            </a:r>
            <a:endParaRPr lang="en-US" sz="750" dirty="0"/>
          </a:p>
        </p:txBody>
      </p:sp>
      <p:sp>
        <p:nvSpPr>
          <p:cNvPr id="11" name="Text 9"/>
          <p:cNvSpPr/>
          <p:nvPr/>
        </p:nvSpPr>
        <p:spPr>
          <a:xfrm>
            <a:off x="6163056" y="1691640"/>
            <a:ext cx="2743200" cy="960120"/>
          </a:xfrm>
          <a:prstGeom prst="rect">
            <a:avLst/>
          </a:prstGeom>
          <a:noFill/>
          <a:ln/>
        </p:spPr>
        <p:txBody>
          <a:bodyPr wrap="square" lIns="0" tIns="0" rIns="0" bIns="0" rtlCol="0" anchor="ctr"/>
          <a:lstStyle/>
          <a:p>
            <a:pPr indent="0" marL="0">
              <a:buNone/>
            </a:pPr>
            <a:r>
              <a:rPr lang="en-US" sz="5200" b="1" spc="-200" kern="0" dirty="0">
                <a:solidFill>
                  <a:srgbClr val="8AB4FF"/>
                </a:solidFill>
                <a:latin typeface="Courier New" pitchFamily="34" charset="0"/>
                <a:ea typeface="Courier New" pitchFamily="34" charset="-122"/>
                <a:cs typeface="Courier New" pitchFamily="34" charset="-120"/>
              </a:rPr>
              <a:t>84%</a:t>
            </a:r>
            <a:endParaRPr lang="en-US" sz="5200" dirty="0"/>
          </a:p>
        </p:txBody>
      </p:sp>
      <p:sp>
        <p:nvSpPr>
          <p:cNvPr id="12" name="Text 10"/>
          <p:cNvSpPr/>
          <p:nvPr/>
        </p:nvSpPr>
        <p:spPr>
          <a:xfrm>
            <a:off x="6163056" y="2761488"/>
            <a:ext cx="2651760" cy="640080"/>
          </a:xfrm>
          <a:prstGeom prst="rect">
            <a:avLst/>
          </a:prstGeom>
          <a:noFill/>
          <a:ln/>
        </p:spPr>
        <p:txBody>
          <a:bodyPr wrap="square" lIns="0" tIns="0" rIns="0" bIns="0" rtlCol="0" anchor="ctr"/>
          <a:lstStyle/>
          <a:p>
            <a:pPr indent="0" marL="0">
              <a:buNone/>
            </a:pPr>
            <a:r>
              <a:rPr lang="en-US" sz="950" dirty="0">
                <a:solidFill>
                  <a:srgbClr val="B5B7C2"/>
                </a:solidFill>
                <a:latin typeface="Calibri" pitchFamily="34" charset="0"/>
                <a:ea typeface="Calibri" pitchFamily="34" charset="-122"/>
                <a:cs typeface="Calibri" pitchFamily="34" charset="-120"/>
              </a:rPr>
              <a:t>of those failures trace to leadership decisions, not engineering.</a:t>
            </a:r>
            <a:endParaRPr lang="en-US" sz="950" dirty="0"/>
          </a:p>
        </p:txBody>
      </p:sp>
      <p:sp>
        <p:nvSpPr>
          <p:cNvPr id="13" name="Text 11"/>
          <p:cNvSpPr/>
          <p:nvPr/>
        </p:nvSpPr>
        <p:spPr>
          <a:xfrm>
            <a:off x="6163056" y="3474720"/>
            <a:ext cx="2651760" cy="201168"/>
          </a:xfrm>
          <a:prstGeom prst="rect">
            <a:avLst/>
          </a:prstGeom>
          <a:noFill/>
          <a:ln/>
        </p:spPr>
        <p:txBody>
          <a:bodyPr wrap="square" lIns="0" tIns="0" rIns="0" bIns="0" rtlCol="0" anchor="ctr"/>
          <a:lstStyle/>
          <a:p>
            <a:pPr indent="0" marL="0">
              <a:buNone/>
            </a:pPr>
            <a:r>
              <a:rPr lang="en-US" sz="750" dirty="0">
                <a:solidFill>
                  <a:srgbClr val="858896"/>
                </a:solidFill>
                <a:latin typeface="Courier New" pitchFamily="34" charset="0"/>
                <a:ea typeface="Courier New" pitchFamily="34" charset="-122"/>
                <a:cs typeface="Courier New" pitchFamily="34" charset="-120"/>
              </a:rPr>
              <a:t>RAND Corporation · 2024</a:t>
            </a:r>
            <a:endParaRPr lang="en-US" sz="750" dirty="0"/>
          </a:p>
        </p:txBody>
      </p:sp>
      <p:sp>
        <p:nvSpPr>
          <p:cNvPr id="14" name="Shape 12"/>
          <p:cNvSpPr/>
          <p:nvPr/>
        </p:nvSpPr>
        <p:spPr>
          <a:xfrm>
            <a:off x="457200" y="3858768"/>
            <a:ext cx="41148" cy="658368"/>
          </a:xfrm>
          <a:prstGeom prst="rect">
            <a:avLst/>
          </a:prstGeom>
          <a:solidFill>
            <a:srgbClr val="8AB4FF"/>
          </a:solidFill>
          <a:ln w="12700">
            <a:solidFill>
              <a:srgbClr val="8AB4FF"/>
            </a:solidFill>
            <a:prstDash val="solid"/>
          </a:ln>
        </p:spPr>
      </p:sp>
      <p:sp>
        <p:nvSpPr>
          <p:cNvPr id="15" name="Shape 13"/>
          <p:cNvSpPr/>
          <p:nvPr/>
        </p:nvSpPr>
        <p:spPr>
          <a:xfrm>
            <a:off x="498348" y="3858768"/>
            <a:ext cx="8229600" cy="658368"/>
          </a:xfrm>
          <a:prstGeom prst="rect">
            <a:avLst/>
          </a:prstGeom>
          <a:solidFill>
            <a:srgbClr val="1E1E26"/>
          </a:solidFill>
          <a:ln w="12700">
            <a:solidFill>
              <a:srgbClr val="1E1E26"/>
            </a:solidFill>
            <a:prstDash val="solid"/>
          </a:ln>
        </p:spPr>
      </p:sp>
      <p:sp>
        <p:nvSpPr>
          <p:cNvPr id="16" name="Text 14"/>
          <p:cNvSpPr/>
          <p:nvPr/>
        </p:nvSpPr>
        <p:spPr>
          <a:xfrm>
            <a:off x="685800" y="3950208"/>
            <a:ext cx="79552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bottleneck is the decision. Not the technology.</a:t>
            </a:r>
            <a:endParaRPr lang="en-US" sz="1200" dirty="0"/>
          </a:p>
        </p:txBody>
      </p:sp>
      <p:sp>
        <p:nvSpPr>
          <p:cNvPr id="17" name="Text 15"/>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FFFFFF"/>
                </a:solidFill>
                <a:latin typeface="Courier New" pitchFamily="34" charset="0"/>
                <a:ea typeface="Courier New" pitchFamily="34" charset="-122"/>
                <a:cs typeface="Courier New" pitchFamily="34" charset="-120"/>
              </a:rPr>
              <a:t>NEXUS</a:t>
            </a:r>
            <a:pPr indent="0" marL="0">
              <a:buNone/>
            </a:pPr>
            <a:r>
              <a:rPr lang="en-US" sz="700" spc="200" kern="0" dirty="0">
                <a:solidFill>
                  <a:srgbClr val="858896"/>
                </a:solidFill>
                <a:latin typeface="Courier New" pitchFamily="34" charset="0"/>
                <a:ea typeface="Courier New" pitchFamily="34" charset="-122"/>
                <a:cs typeface="Courier New" pitchFamily="34" charset="-120"/>
              </a:rPr>
              <a:t> · Defense</a:t>
            </a:r>
            <a:endParaRPr lang="en-US" sz="700" dirty="0"/>
          </a:p>
        </p:txBody>
      </p:sp>
      <p:sp>
        <p:nvSpPr>
          <p:cNvPr id="18" name="Text 16"/>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858896"/>
                </a:solidFill>
                <a:latin typeface="Courier New" pitchFamily="34" charset="0"/>
                <a:ea typeface="Courier New" pitchFamily="34" charset="-122"/>
                <a:cs typeface="Courier New" pitchFamily="34" charset="-120"/>
              </a:rPr>
              <a:t>06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THE FRAMEWORK</a:t>
            </a:r>
            <a:endParaRPr lang="en-US" sz="800" dirty="0"/>
          </a:p>
        </p:txBody>
      </p:sp>
      <p:sp>
        <p:nvSpPr>
          <p:cNvPr id="4" name="Text 2"/>
          <p:cNvSpPr/>
          <p:nvPr/>
        </p:nvSpPr>
        <p:spPr>
          <a:xfrm>
            <a:off x="457200" y="594360"/>
            <a:ext cx="3749040" cy="1143000"/>
          </a:xfrm>
          <a:prstGeom prst="rect">
            <a:avLst/>
          </a:prstGeom>
          <a:noFill/>
          <a:ln/>
        </p:spPr>
        <p:txBody>
          <a:bodyPr wrap="square" lIns="0" tIns="0" rIns="0" bIns="0" rtlCol="0" anchor="ctr"/>
          <a:lstStyle/>
          <a:p>
            <a:pPr indent="0" marL="0">
              <a:lnSpc>
                <a:spcPct val="100000"/>
              </a:lnSpc>
              <a:buNone/>
            </a:pPr>
            <a:r>
              <a:rPr lang="en-US" sz="2400" b="1" spc="-100" kern="0" dirty="0">
                <a:solidFill>
                  <a:srgbClr val="18181F"/>
                </a:solidFill>
                <a:latin typeface="Calibri" pitchFamily="34" charset="0"/>
                <a:ea typeface="Calibri" pitchFamily="34" charset="-122"/>
                <a:cs typeface="Calibri" pitchFamily="34" charset="-120"/>
              </a:rPr>
              <a:t>A structured conversation,</a:t>
            </a:r>
            <a:endParaRPr lang="en-US" sz="2400" dirty="0"/>
          </a:p>
          <a:p>
            <a:pPr indent="0" marL="0">
              <a:lnSpc>
                <a:spcPct val="100000"/>
              </a:lnSpc>
              <a:buNone/>
            </a:pPr>
            <a:r>
              <a:rPr lang="en-US" sz="2400" b="1" spc="-100" kern="0" dirty="0">
                <a:solidFill>
                  <a:srgbClr val="18181F"/>
                </a:solidFill>
                <a:latin typeface="Calibri" pitchFamily="34" charset="0"/>
                <a:ea typeface="Calibri" pitchFamily="34" charset="-122"/>
                <a:cs typeface="Calibri" pitchFamily="34" charset="-120"/>
              </a:rPr>
              <a:t>in </a:t>
            </a:r>
            <a:endParaRPr lang="en-US" sz="2400" dirty="0"/>
          </a:p>
          <a:p>
            <a:pPr indent="0" marL="0">
              <a:lnSpc>
                <a:spcPct val="100000"/>
              </a:lnSpc>
              <a:buNone/>
            </a:pPr>
            <a:r>
              <a:rPr lang="en-US" sz="2400" b="1" spc="-100" kern="0" dirty="0">
                <a:solidFill>
                  <a:srgbClr val="2563EB"/>
                </a:solidFill>
                <a:latin typeface="Calibri" pitchFamily="34" charset="0"/>
                <a:ea typeface="Calibri" pitchFamily="34" charset="-122"/>
                <a:cs typeface="Calibri" pitchFamily="34" charset="-120"/>
              </a:rPr>
              <a:t>four stages.</a:t>
            </a:r>
            <a:endParaRPr lang="en-US" sz="2400" dirty="0"/>
          </a:p>
        </p:txBody>
      </p:sp>
      <p:sp>
        <p:nvSpPr>
          <p:cNvPr id="5" name="Text 3"/>
          <p:cNvSpPr/>
          <p:nvPr/>
        </p:nvSpPr>
        <p:spPr>
          <a:xfrm>
            <a:off x="457200" y="1828800"/>
            <a:ext cx="3749040" cy="594360"/>
          </a:xfrm>
          <a:prstGeom prst="rect">
            <a:avLst/>
          </a:prstGeom>
          <a:noFill/>
          <a:ln/>
        </p:spPr>
        <p:txBody>
          <a:bodyPr wrap="square" lIns="0" tIns="0" rIns="0" bIns="0" rtlCol="0" anchor="ctr"/>
          <a:lstStyle/>
          <a:p>
            <a:pPr indent="0" marL="0">
              <a:buNone/>
            </a:pPr>
            <a:r>
              <a:rPr lang="en-US" sz="1050" dirty="0">
                <a:solidFill>
                  <a:srgbClr val="4B5563"/>
                </a:solidFill>
                <a:latin typeface="Calibri" pitchFamily="34" charset="0"/>
                <a:ea typeface="Calibri" pitchFamily="34" charset="-122"/>
                <a:cs typeface="Calibri" pitchFamily="34" charset="-120"/>
              </a:rPr>
              <a:t>The decision that happens before the first mockup. Made explicit, documented, and defensible.</a:t>
            </a:r>
            <a:endParaRPr lang="en-US" sz="1050" dirty="0"/>
          </a:p>
        </p:txBody>
      </p:sp>
      <p:sp>
        <p:nvSpPr>
          <p:cNvPr id="6" name="Shape 4"/>
          <p:cNvSpPr/>
          <p:nvPr/>
        </p:nvSpPr>
        <p:spPr>
          <a:xfrm>
            <a:off x="457200" y="2560320"/>
            <a:ext cx="3749040" cy="1097280"/>
          </a:xfrm>
          <a:prstGeom prst="rect">
            <a:avLst/>
          </a:prstGeom>
          <a:solidFill>
            <a:srgbClr val="EEF2FF"/>
          </a:solidFill>
          <a:ln w="6350">
            <a:solidFill>
              <a:srgbClr val="2563EB"/>
            </a:solidFill>
            <a:prstDash val="solid"/>
          </a:ln>
        </p:spPr>
      </p:sp>
      <p:sp>
        <p:nvSpPr>
          <p:cNvPr id="7" name="Text 5"/>
          <p:cNvSpPr/>
          <p:nvPr/>
        </p:nvSpPr>
        <p:spPr>
          <a:xfrm>
            <a:off x="594360" y="2651760"/>
            <a:ext cx="2011680" cy="182880"/>
          </a:xfrm>
          <a:prstGeom prst="rect">
            <a:avLst/>
          </a:prstGeom>
          <a:noFill/>
          <a:ln/>
        </p:spPr>
        <p:txBody>
          <a:bodyPr wrap="square" lIns="0" tIns="0" rIns="0" bIns="0" rtlCol="0" anchor="ctr"/>
          <a:lstStyle/>
          <a:p>
            <a:pPr indent="0" marL="0">
              <a:buNone/>
            </a:pPr>
            <a:r>
              <a:rPr lang="en-US" sz="700" b="1" spc="300" kern="0" dirty="0">
                <a:solidFill>
                  <a:srgbClr val="2563EB"/>
                </a:solidFill>
                <a:latin typeface="Courier New" pitchFamily="34" charset="0"/>
                <a:ea typeface="Courier New" pitchFamily="34" charset="-122"/>
                <a:cs typeface="Courier New" pitchFamily="34" charset="-120"/>
              </a:rPr>
              <a:t>CORE PRINCIPLE</a:t>
            </a:r>
            <a:endParaRPr lang="en-US" sz="700" dirty="0"/>
          </a:p>
        </p:txBody>
      </p:sp>
      <p:sp>
        <p:nvSpPr>
          <p:cNvPr id="8" name="Text 6"/>
          <p:cNvSpPr/>
          <p:nvPr/>
        </p:nvSpPr>
        <p:spPr>
          <a:xfrm>
            <a:off x="594360" y="2871216"/>
            <a:ext cx="3474720" cy="502920"/>
          </a:xfrm>
          <a:prstGeom prst="rect">
            <a:avLst/>
          </a:prstGeom>
          <a:noFill/>
          <a:ln/>
        </p:spPr>
        <p:txBody>
          <a:bodyPr wrap="square" lIns="0" tIns="0" rIns="0" bIns="0" rtlCol="0" anchor="ctr"/>
          <a:lstStyle/>
          <a:p>
            <a:pPr indent="0" marL="0">
              <a:buNone/>
            </a:pPr>
            <a:r>
              <a:rPr lang="en-US" sz="1100" b="1" dirty="0">
                <a:solidFill>
                  <a:srgbClr val="18181F"/>
                </a:solidFill>
                <a:latin typeface="Calibri" pitchFamily="34" charset="0"/>
                <a:ea typeface="Calibri" pitchFamily="34" charset="-122"/>
                <a:cs typeface="Calibri" pitchFamily="34" charset="-120"/>
              </a:rPr>
              <a:t>Values come first.</a:t>
            </a:r>
            <a:endParaRPr lang="en-US" sz="1100" dirty="0"/>
          </a:p>
          <a:p>
            <a:pPr indent="0" marL="0">
              <a:buNone/>
            </a:pPr>
            <a:r>
              <a:rPr lang="en-US" sz="1100" b="1" dirty="0">
                <a:solidFill>
                  <a:srgbClr val="18181F"/>
                </a:solidFill>
                <a:latin typeface="Calibri" pitchFamily="34" charset="0"/>
                <a:ea typeface="Calibri" pitchFamily="34" charset="-122"/>
                <a:cs typeface="Calibri" pitchFamily="34" charset="-120"/>
              </a:rPr>
              <a:t>Before any technical question.</a:t>
            </a:r>
            <a:endParaRPr lang="en-US" sz="1100" dirty="0"/>
          </a:p>
        </p:txBody>
      </p:sp>
      <p:sp>
        <p:nvSpPr>
          <p:cNvPr id="9" name="Shape 7"/>
          <p:cNvSpPr/>
          <p:nvPr/>
        </p:nvSpPr>
        <p:spPr>
          <a:xfrm>
            <a:off x="4617720" y="594360"/>
            <a:ext cx="4069080" cy="1024128"/>
          </a:xfrm>
          <a:prstGeom prst="rect">
            <a:avLst/>
          </a:prstGeom>
          <a:solidFill>
            <a:srgbClr val="EEF2FF"/>
          </a:solidFill>
          <a:ln w="12700">
            <a:solidFill>
              <a:srgbClr val="2563EB"/>
            </a:solidFill>
            <a:prstDash val="solid"/>
          </a:ln>
        </p:spPr>
      </p:sp>
      <p:sp>
        <p:nvSpPr>
          <p:cNvPr id="10" name="Shape 8"/>
          <p:cNvSpPr/>
          <p:nvPr/>
        </p:nvSpPr>
        <p:spPr>
          <a:xfrm>
            <a:off x="4617720" y="594360"/>
            <a:ext cx="50292" cy="1024128"/>
          </a:xfrm>
          <a:prstGeom prst="rect">
            <a:avLst/>
          </a:prstGeom>
          <a:solidFill>
            <a:srgbClr val="2563EB"/>
          </a:solidFill>
          <a:ln w="12700">
            <a:solidFill>
              <a:srgbClr val="2563EB"/>
            </a:solidFill>
            <a:prstDash val="solid"/>
          </a:ln>
        </p:spPr>
      </p:sp>
      <p:sp>
        <p:nvSpPr>
          <p:cNvPr id="11" name="Text 9"/>
          <p:cNvSpPr/>
          <p:nvPr/>
        </p:nvSpPr>
        <p:spPr>
          <a:xfrm>
            <a:off x="4727448" y="731520"/>
            <a:ext cx="621792" cy="219456"/>
          </a:xfrm>
          <a:prstGeom prst="rect">
            <a:avLst/>
          </a:prstGeom>
          <a:noFill/>
          <a:ln/>
        </p:spPr>
        <p:txBody>
          <a:bodyPr wrap="square" lIns="0" tIns="0" rIns="0" bIns="0" rtlCol="0" anchor="ctr"/>
          <a:lstStyle/>
          <a:p>
            <a:pPr indent="0" marL="0">
              <a:buNone/>
            </a:pPr>
            <a:r>
              <a:rPr lang="en-US" sz="800" b="1" dirty="0">
                <a:solidFill>
                  <a:srgbClr val="2563EB"/>
                </a:solidFill>
                <a:latin typeface="Courier New" pitchFamily="34" charset="0"/>
                <a:ea typeface="Courier New" pitchFamily="34" charset="-122"/>
                <a:cs typeface="Courier New" pitchFamily="34" charset="-120"/>
              </a:rPr>
              <a:t>01 —</a:t>
            </a:r>
            <a:endParaRPr lang="en-US" sz="800" dirty="0"/>
          </a:p>
        </p:txBody>
      </p:sp>
      <p:sp>
        <p:nvSpPr>
          <p:cNvPr id="12" name="Text 10"/>
          <p:cNvSpPr/>
          <p:nvPr/>
        </p:nvSpPr>
        <p:spPr>
          <a:xfrm>
            <a:off x="5394960" y="685800"/>
            <a:ext cx="3154680" cy="292608"/>
          </a:xfrm>
          <a:prstGeom prst="rect">
            <a:avLst/>
          </a:prstGeom>
          <a:noFill/>
          <a:ln/>
        </p:spPr>
        <p:txBody>
          <a:bodyPr wrap="square" lIns="0" tIns="0" rIns="0" bIns="0" rtlCol="0" anchor="ctr"/>
          <a:lstStyle/>
          <a:p>
            <a:pPr indent="0" marL="0">
              <a:buNone/>
            </a:pPr>
            <a:r>
              <a:rPr lang="en-US" sz="1050" b="1" dirty="0">
                <a:solidFill>
                  <a:srgbClr val="18181F"/>
                </a:solidFill>
                <a:latin typeface="Calibri" pitchFamily="34" charset="0"/>
                <a:ea typeface="Calibri" pitchFamily="34" charset="-122"/>
                <a:cs typeface="Calibri" pitchFamily="34" charset="-120"/>
              </a:rPr>
              <a:t>Values</a:t>
            </a:r>
            <a:endParaRPr lang="en-US" sz="1050" dirty="0"/>
          </a:p>
        </p:txBody>
      </p:sp>
      <p:sp>
        <p:nvSpPr>
          <p:cNvPr id="13" name="Text 11"/>
          <p:cNvSpPr/>
          <p:nvPr/>
        </p:nvSpPr>
        <p:spPr>
          <a:xfrm>
            <a:off x="5394960" y="996696"/>
            <a:ext cx="3154680" cy="548640"/>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Rank what the organisation stands for. That ranking is the primary filter.</a:t>
            </a:r>
            <a:endParaRPr lang="en-US" sz="850" dirty="0"/>
          </a:p>
        </p:txBody>
      </p:sp>
      <p:sp>
        <p:nvSpPr>
          <p:cNvPr id="14" name="Shape 12"/>
          <p:cNvSpPr/>
          <p:nvPr/>
        </p:nvSpPr>
        <p:spPr>
          <a:xfrm>
            <a:off x="4617720" y="1673352"/>
            <a:ext cx="4069080" cy="1024128"/>
          </a:xfrm>
          <a:prstGeom prst="rect">
            <a:avLst/>
          </a:prstGeom>
          <a:solidFill>
            <a:srgbClr val="FFFFFF"/>
          </a:solidFill>
          <a:ln w="6350">
            <a:solidFill>
              <a:srgbClr val="E4E4EA"/>
            </a:solidFill>
            <a:prstDash val="solid"/>
          </a:ln>
        </p:spPr>
      </p:sp>
      <p:sp>
        <p:nvSpPr>
          <p:cNvPr id="15" name="Text 13"/>
          <p:cNvSpPr/>
          <p:nvPr/>
        </p:nvSpPr>
        <p:spPr>
          <a:xfrm>
            <a:off x="4727448" y="1810512"/>
            <a:ext cx="621792" cy="219456"/>
          </a:xfrm>
          <a:prstGeom prst="rect">
            <a:avLst/>
          </a:prstGeom>
          <a:noFill/>
          <a:ln/>
        </p:spPr>
        <p:txBody>
          <a:bodyPr wrap="square" lIns="0" tIns="0" rIns="0" bIns="0" rtlCol="0" anchor="ctr"/>
          <a:lstStyle/>
          <a:p>
            <a:pPr indent="0" marL="0">
              <a:buNone/>
            </a:pPr>
            <a:r>
              <a:rPr lang="en-US" sz="800" b="1" dirty="0">
                <a:solidFill>
                  <a:srgbClr val="2563EB"/>
                </a:solidFill>
                <a:latin typeface="Courier New" pitchFamily="34" charset="0"/>
                <a:ea typeface="Courier New" pitchFamily="34" charset="-122"/>
                <a:cs typeface="Courier New" pitchFamily="34" charset="-120"/>
              </a:rPr>
              <a:t>02 —</a:t>
            </a:r>
            <a:endParaRPr lang="en-US" sz="800" dirty="0"/>
          </a:p>
        </p:txBody>
      </p:sp>
      <p:sp>
        <p:nvSpPr>
          <p:cNvPr id="16" name="Text 14"/>
          <p:cNvSpPr/>
          <p:nvPr/>
        </p:nvSpPr>
        <p:spPr>
          <a:xfrm>
            <a:off x="5394960" y="1764792"/>
            <a:ext cx="3154680" cy="292608"/>
          </a:xfrm>
          <a:prstGeom prst="rect">
            <a:avLst/>
          </a:prstGeom>
          <a:noFill/>
          <a:ln/>
        </p:spPr>
        <p:txBody>
          <a:bodyPr wrap="square" lIns="0" tIns="0" rIns="0" bIns="0" rtlCol="0" anchor="ctr"/>
          <a:lstStyle/>
          <a:p>
            <a:pPr indent="0" marL="0">
              <a:buNone/>
            </a:pPr>
            <a:r>
              <a:rPr lang="en-US" sz="1050" b="1" dirty="0">
                <a:solidFill>
                  <a:srgbClr val="18181F"/>
                </a:solidFill>
                <a:latin typeface="Calibri" pitchFamily="34" charset="0"/>
                <a:ea typeface="Calibri" pitchFamily="34" charset="-122"/>
                <a:cs typeface="Calibri" pitchFamily="34" charset="-120"/>
              </a:rPr>
              <a:t>Context</a:t>
            </a:r>
            <a:endParaRPr lang="en-US" sz="1050" dirty="0"/>
          </a:p>
        </p:txBody>
      </p:sp>
      <p:sp>
        <p:nvSpPr>
          <p:cNvPr id="17" name="Text 15"/>
          <p:cNvSpPr/>
          <p:nvPr/>
        </p:nvSpPr>
        <p:spPr>
          <a:xfrm>
            <a:off x="5394960" y="2075688"/>
            <a:ext cx="3154680" cy="548640"/>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Fifteen questions: users, frequency, environment, consequence of failure.</a:t>
            </a:r>
            <a:endParaRPr lang="en-US" sz="850" dirty="0"/>
          </a:p>
        </p:txBody>
      </p:sp>
      <p:sp>
        <p:nvSpPr>
          <p:cNvPr id="18" name="Shape 16"/>
          <p:cNvSpPr/>
          <p:nvPr/>
        </p:nvSpPr>
        <p:spPr>
          <a:xfrm>
            <a:off x="4617720" y="2752344"/>
            <a:ext cx="4069080" cy="1024128"/>
          </a:xfrm>
          <a:prstGeom prst="rect">
            <a:avLst/>
          </a:prstGeom>
          <a:solidFill>
            <a:srgbClr val="FFFFFF"/>
          </a:solidFill>
          <a:ln w="6350">
            <a:solidFill>
              <a:srgbClr val="E4E4EA"/>
            </a:solidFill>
            <a:prstDash val="solid"/>
          </a:ln>
        </p:spPr>
      </p:sp>
      <p:sp>
        <p:nvSpPr>
          <p:cNvPr id="19" name="Text 17"/>
          <p:cNvSpPr/>
          <p:nvPr/>
        </p:nvSpPr>
        <p:spPr>
          <a:xfrm>
            <a:off x="4727448" y="2889504"/>
            <a:ext cx="621792" cy="219456"/>
          </a:xfrm>
          <a:prstGeom prst="rect">
            <a:avLst/>
          </a:prstGeom>
          <a:noFill/>
          <a:ln/>
        </p:spPr>
        <p:txBody>
          <a:bodyPr wrap="square" lIns="0" tIns="0" rIns="0" bIns="0" rtlCol="0" anchor="ctr"/>
          <a:lstStyle/>
          <a:p>
            <a:pPr indent="0" marL="0">
              <a:buNone/>
            </a:pPr>
            <a:r>
              <a:rPr lang="en-US" sz="800" b="1" dirty="0">
                <a:solidFill>
                  <a:srgbClr val="2563EB"/>
                </a:solidFill>
                <a:latin typeface="Courier New" pitchFamily="34" charset="0"/>
                <a:ea typeface="Courier New" pitchFamily="34" charset="-122"/>
                <a:cs typeface="Courier New" pitchFamily="34" charset="-120"/>
              </a:rPr>
              <a:t>03 —</a:t>
            </a:r>
            <a:endParaRPr lang="en-US" sz="800" dirty="0"/>
          </a:p>
        </p:txBody>
      </p:sp>
      <p:sp>
        <p:nvSpPr>
          <p:cNvPr id="20" name="Text 18"/>
          <p:cNvSpPr/>
          <p:nvPr/>
        </p:nvSpPr>
        <p:spPr>
          <a:xfrm>
            <a:off x="5394960" y="2843784"/>
            <a:ext cx="3154680" cy="292608"/>
          </a:xfrm>
          <a:prstGeom prst="rect">
            <a:avLst/>
          </a:prstGeom>
          <a:noFill/>
          <a:ln/>
        </p:spPr>
        <p:txBody>
          <a:bodyPr wrap="square" lIns="0" tIns="0" rIns="0" bIns="0" rtlCol="0" anchor="ctr"/>
          <a:lstStyle/>
          <a:p>
            <a:pPr indent="0" marL="0">
              <a:buNone/>
            </a:pPr>
            <a:r>
              <a:rPr lang="en-US" sz="1050" b="1" dirty="0">
                <a:solidFill>
                  <a:srgbClr val="18181F"/>
                </a:solidFill>
                <a:latin typeface="Calibri" pitchFamily="34" charset="0"/>
                <a:ea typeface="Calibri" pitchFamily="34" charset="-122"/>
                <a:cs typeface="Calibri" pitchFamily="34" charset="-120"/>
              </a:rPr>
              <a:t>Patterns</a:t>
            </a:r>
            <a:endParaRPr lang="en-US" sz="1050" dirty="0"/>
          </a:p>
        </p:txBody>
      </p:sp>
      <p:sp>
        <p:nvSpPr>
          <p:cNvPr id="21" name="Text 19"/>
          <p:cNvSpPr/>
          <p:nvPr/>
        </p:nvSpPr>
        <p:spPr>
          <a:xfrm>
            <a:off x="5394960" y="3154680"/>
            <a:ext cx="3154680" cy="548640"/>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Does this resemble any of the five documented failures? The framework flags it.</a:t>
            </a:r>
            <a:endParaRPr lang="en-US" sz="850" dirty="0"/>
          </a:p>
        </p:txBody>
      </p:sp>
      <p:sp>
        <p:nvSpPr>
          <p:cNvPr id="22" name="Shape 20"/>
          <p:cNvSpPr/>
          <p:nvPr/>
        </p:nvSpPr>
        <p:spPr>
          <a:xfrm>
            <a:off x="4617720" y="3831336"/>
            <a:ext cx="4069080" cy="1024128"/>
          </a:xfrm>
          <a:prstGeom prst="rect">
            <a:avLst/>
          </a:prstGeom>
          <a:solidFill>
            <a:srgbClr val="FFFFFF"/>
          </a:solidFill>
          <a:ln w="6350">
            <a:solidFill>
              <a:srgbClr val="E4E4EA"/>
            </a:solidFill>
            <a:prstDash val="solid"/>
          </a:ln>
        </p:spPr>
      </p:sp>
      <p:sp>
        <p:nvSpPr>
          <p:cNvPr id="23" name="Text 21"/>
          <p:cNvSpPr/>
          <p:nvPr/>
        </p:nvSpPr>
        <p:spPr>
          <a:xfrm>
            <a:off x="4727448" y="3968496"/>
            <a:ext cx="621792" cy="219456"/>
          </a:xfrm>
          <a:prstGeom prst="rect">
            <a:avLst/>
          </a:prstGeom>
          <a:noFill/>
          <a:ln/>
        </p:spPr>
        <p:txBody>
          <a:bodyPr wrap="square" lIns="0" tIns="0" rIns="0" bIns="0" rtlCol="0" anchor="ctr"/>
          <a:lstStyle/>
          <a:p>
            <a:pPr indent="0" marL="0">
              <a:buNone/>
            </a:pPr>
            <a:r>
              <a:rPr lang="en-US" sz="800" b="1" dirty="0">
                <a:solidFill>
                  <a:srgbClr val="2563EB"/>
                </a:solidFill>
                <a:latin typeface="Courier New" pitchFamily="34" charset="0"/>
                <a:ea typeface="Courier New" pitchFamily="34" charset="-122"/>
                <a:cs typeface="Courier New" pitchFamily="34" charset="-120"/>
              </a:rPr>
              <a:t>04 —</a:t>
            </a:r>
            <a:endParaRPr lang="en-US" sz="800" dirty="0"/>
          </a:p>
        </p:txBody>
      </p:sp>
      <p:sp>
        <p:nvSpPr>
          <p:cNvPr id="24" name="Text 22"/>
          <p:cNvSpPr/>
          <p:nvPr/>
        </p:nvSpPr>
        <p:spPr>
          <a:xfrm>
            <a:off x="5394960" y="3922776"/>
            <a:ext cx="3154680" cy="292608"/>
          </a:xfrm>
          <a:prstGeom prst="rect">
            <a:avLst/>
          </a:prstGeom>
          <a:noFill/>
          <a:ln/>
        </p:spPr>
        <p:txBody>
          <a:bodyPr wrap="square" lIns="0" tIns="0" rIns="0" bIns="0" rtlCol="0" anchor="ctr"/>
          <a:lstStyle/>
          <a:p>
            <a:pPr indent="0" marL="0">
              <a:buNone/>
            </a:pPr>
            <a:r>
              <a:rPr lang="en-US" sz="1050" b="1" dirty="0">
                <a:solidFill>
                  <a:srgbClr val="18181F"/>
                </a:solidFill>
                <a:latin typeface="Calibri" pitchFamily="34" charset="0"/>
                <a:ea typeface="Calibri" pitchFamily="34" charset="-122"/>
                <a:cs typeface="Calibri" pitchFamily="34" charset="-120"/>
              </a:rPr>
              <a:t>Report</a:t>
            </a:r>
            <a:endParaRPr lang="en-US" sz="1050" dirty="0"/>
          </a:p>
        </p:txBody>
      </p:sp>
      <p:sp>
        <p:nvSpPr>
          <p:cNvPr id="25" name="Text 23"/>
          <p:cNvSpPr/>
          <p:nvPr/>
        </p:nvSpPr>
        <p:spPr>
          <a:xfrm>
            <a:off x="5394960" y="4233672"/>
            <a:ext cx="3154680" cy="548640"/>
          </a:xfrm>
          <a:prstGeom prst="rect">
            <a:avLst/>
          </a:prstGeom>
          <a:noFill/>
          <a:ln/>
        </p:spPr>
        <p:txBody>
          <a:bodyPr wrap="square" lIns="0" tIns="0" rIns="0" bIns="0" rtlCol="0" anchor="ctr"/>
          <a:lstStyle/>
          <a:p>
            <a:pPr indent="0" marL="0">
              <a:buNone/>
            </a:pPr>
            <a:r>
              <a:rPr lang="en-US" sz="850" dirty="0">
                <a:solidFill>
                  <a:srgbClr val="4B5563"/>
                </a:solidFill>
                <a:latin typeface="Calibri" pitchFamily="34" charset="0"/>
                <a:ea typeface="Calibri" pitchFamily="34" charset="-122"/>
                <a:cs typeface="Calibri" pitchFamily="34" charset="-120"/>
              </a:rPr>
              <a:t>Not a verdict. Alignments, tensions, precedents. You read it. You decide.</a:t>
            </a:r>
            <a:endParaRPr lang="en-US" sz="850" dirty="0"/>
          </a:p>
        </p:txBody>
      </p:sp>
      <p:sp>
        <p:nvSpPr>
          <p:cNvPr id="26" name="Text 24"/>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7" name="Text 25"/>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07</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THE FRAMEWORK · DIKW STRUCTURE</a:t>
            </a:r>
            <a:endParaRPr lang="en-US" sz="800" dirty="0"/>
          </a:p>
        </p:txBody>
      </p:sp>
      <p:sp>
        <p:nvSpPr>
          <p:cNvPr id="4" name="Text 2"/>
          <p:cNvSpPr/>
          <p:nvPr/>
        </p:nvSpPr>
        <p:spPr>
          <a:xfrm>
            <a:off x="457200" y="59436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15 questions,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four DIKW layers.</a:t>
            </a:r>
            <a:endParaRPr lang="en-US" sz="2800" dirty="0"/>
          </a:p>
        </p:txBody>
      </p:sp>
      <p:sp>
        <p:nvSpPr>
          <p:cNvPr id="5" name="Text 3"/>
          <p:cNvSpPr/>
          <p:nvPr/>
        </p:nvSpPr>
        <p:spPr>
          <a:xfrm>
            <a:off x="457200" y="1572768"/>
            <a:ext cx="8229600" cy="411480"/>
          </a:xfrm>
          <a:prstGeom prst="rect">
            <a:avLst/>
          </a:prstGeom>
          <a:noFill/>
          <a:ln/>
        </p:spPr>
        <p:txBody>
          <a:bodyPr wrap="square" lIns="0" tIns="0" rIns="0" bIns="0" rtlCol="0" anchor="ctr"/>
          <a:lstStyle/>
          <a:p>
            <a:pPr indent="0" marL="0">
              <a:buNone/>
            </a:pPr>
            <a:r>
              <a:rPr lang="en-US" sz="1000" dirty="0">
                <a:solidFill>
                  <a:srgbClr val="4B5563"/>
                </a:solidFill>
                <a:latin typeface="Calibri" pitchFamily="34" charset="0"/>
                <a:ea typeface="Calibri" pitchFamily="34" charset="-122"/>
                <a:cs typeface="Calibri" pitchFamily="34" charset="-120"/>
              </a:rPr>
              <a:t>Each question maps to a layer of the DIKW hierarchy established by Ackoff in 1989. The framework cannot be short-circuited: values are always evaluated before any technical question.</a:t>
            </a:r>
            <a:endParaRPr lang="en-US" sz="1000" dirty="0"/>
          </a:p>
        </p:txBody>
      </p:sp>
      <p:sp>
        <p:nvSpPr>
          <p:cNvPr id="6" name="Shape 4"/>
          <p:cNvSpPr/>
          <p:nvPr/>
        </p:nvSpPr>
        <p:spPr>
          <a:xfrm>
            <a:off x="457200" y="2103120"/>
            <a:ext cx="1965960" cy="2560320"/>
          </a:xfrm>
          <a:prstGeom prst="rect">
            <a:avLst>
              <a:gd name="adj" fmla="val 3721"/>
            </a:avLst>
          </a:prstGeom>
          <a:solidFill>
            <a:srgbClr val="EEF2FF"/>
          </a:solidFill>
          <a:ln w="19050">
            <a:solidFill>
              <a:srgbClr val="2563EB"/>
            </a:solidFill>
            <a:prstDash val="solid"/>
          </a:ln>
        </p:spPr>
      </p:sp>
      <p:sp>
        <p:nvSpPr>
          <p:cNvPr id="7" name="Text 5"/>
          <p:cNvSpPr/>
          <p:nvPr/>
        </p:nvSpPr>
        <p:spPr>
          <a:xfrm>
            <a:off x="594360" y="2212848"/>
            <a:ext cx="1691640" cy="228600"/>
          </a:xfrm>
          <a:prstGeom prst="rect">
            <a:avLst/>
          </a:prstGeom>
          <a:noFill/>
          <a:ln/>
        </p:spPr>
        <p:txBody>
          <a:bodyPr wrap="square" lIns="0" tIns="0" rIns="0" bIns="0" rtlCol="0" anchor="ctr"/>
          <a:lstStyle/>
          <a:p>
            <a:pPr indent="0" marL="0">
              <a:buNone/>
            </a:pPr>
            <a:r>
              <a:rPr lang="en-US" sz="800" b="1" spc="200" kern="0" dirty="0">
                <a:solidFill>
                  <a:srgbClr val="2563EB"/>
                </a:solidFill>
                <a:latin typeface="Courier New" pitchFamily="34" charset="0"/>
                <a:ea typeface="Courier New" pitchFamily="34" charset="-122"/>
                <a:cs typeface="Courier New" pitchFamily="34" charset="-120"/>
              </a:rPr>
              <a:t>WISDOM</a:t>
            </a:r>
            <a:endParaRPr lang="en-US" sz="800" dirty="0"/>
          </a:p>
        </p:txBody>
      </p:sp>
      <p:sp>
        <p:nvSpPr>
          <p:cNvPr id="8" name="Text 6"/>
          <p:cNvSpPr/>
          <p:nvPr/>
        </p:nvSpPr>
        <p:spPr>
          <a:xfrm>
            <a:off x="594360" y="2487168"/>
            <a:ext cx="1691640" cy="365760"/>
          </a:xfrm>
          <a:prstGeom prst="rect">
            <a:avLst/>
          </a:prstGeom>
          <a:noFill/>
          <a:ln/>
        </p:spPr>
        <p:txBody>
          <a:bodyPr wrap="square" lIns="0" tIns="0" rIns="0" bIns="0" rtlCol="0" anchor="ctr"/>
          <a:lstStyle/>
          <a:p>
            <a:pPr indent="0" marL="0">
              <a:buNone/>
            </a:pPr>
            <a:r>
              <a:rPr lang="en-US" sz="1300" b="1" dirty="0">
                <a:solidFill>
                  <a:srgbClr val="18181F"/>
                </a:solidFill>
                <a:latin typeface="Calibri" pitchFamily="34" charset="0"/>
                <a:ea typeface="Calibri" pitchFamily="34" charset="-122"/>
                <a:cs typeface="Calibri" pitchFamily="34" charset="-120"/>
              </a:rPr>
              <a:t>Values ranking</a:t>
            </a:r>
            <a:endParaRPr lang="en-US" sz="1300" dirty="0"/>
          </a:p>
        </p:txBody>
      </p:sp>
      <p:sp>
        <p:nvSpPr>
          <p:cNvPr id="9" name="Text 7"/>
          <p:cNvSpPr/>
          <p:nvPr/>
        </p:nvSpPr>
        <p:spPr>
          <a:xfrm>
            <a:off x="594360" y="2907792"/>
            <a:ext cx="1691640" cy="1600200"/>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What does your organisation actually stand for? Primary filter. Evaluated before any technical question.</a:t>
            </a:r>
            <a:endParaRPr lang="en-US" sz="900" dirty="0"/>
          </a:p>
        </p:txBody>
      </p:sp>
      <p:sp>
        <p:nvSpPr>
          <p:cNvPr id="10" name="Shape 8"/>
          <p:cNvSpPr/>
          <p:nvPr/>
        </p:nvSpPr>
        <p:spPr>
          <a:xfrm>
            <a:off x="2514600" y="2103120"/>
            <a:ext cx="1965960" cy="2560320"/>
          </a:xfrm>
          <a:prstGeom prst="rect">
            <a:avLst>
              <a:gd name="adj" fmla="val 3721"/>
            </a:avLst>
          </a:prstGeom>
          <a:solidFill>
            <a:srgbClr val="FFFFFF"/>
          </a:solidFill>
          <a:ln w="6350">
            <a:solidFill>
              <a:srgbClr val="E4E4EA"/>
            </a:solidFill>
            <a:prstDash val="solid"/>
          </a:ln>
        </p:spPr>
      </p:sp>
      <p:sp>
        <p:nvSpPr>
          <p:cNvPr id="11" name="Text 9"/>
          <p:cNvSpPr/>
          <p:nvPr/>
        </p:nvSpPr>
        <p:spPr>
          <a:xfrm>
            <a:off x="2651760" y="2212848"/>
            <a:ext cx="1691640" cy="228600"/>
          </a:xfrm>
          <a:prstGeom prst="rect">
            <a:avLst/>
          </a:prstGeom>
          <a:noFill/>
          <a:ln/>
        </p:spPr>
        <p:txBody>
          <a:bodyPr wrap="square" lIns="0" tIns="0" rIns="0" bIns="0" rtlCol="0" anchor="ctr"/>
          <a:lstStyle/>
          <a:p>
            <a:pPr indent="0" marL="0">
              <a:buNone/>
            </a:pPr>
            <a:r>
              <a:rPr lang="en-US" sz="800" b="1" spc="200" kern="0" dirty="0">
                <a:solidFill>
                  <a:srgbClr val="6B7280"/>
                </a:solidFill>
                <a:latin typeface="Courier New" pitchFamily="34" charset="0"/>
                <a:ea typeface="Courier New" pitchFamily="34" charset="-122"/>
                <a:cs typeface="Courier New" pitchFamily="34" charset="-120"/>
              </a:rPr>
              <a:t>KNOWLEDGE</a:t>
            </a:r>
            <a:endParaRPr lang="en-US" sz="800" dirty="0"/>
          </a:p>
        </p:txBody>
      </p:sp>
      <p:sp>
        <p:nvSpPr>
          <p:cNvPr id="12" name="Text 10"/>
          <p:cNvSpPr/>
          <p:nvPr/>
        </p:nvSpPr>
        <p:spPr>
          <a:xfrm>
            <a:off x="2651760" y="2487168"/>
            <a:ext cx="1691640" cy="365760"/>
          </a:xfrm>
          <a:prstGeom prst="rect">
            <a:avLst/>
          </a:prstGeom>
          <a:noFill/>
          <a:ln/>
        </p:spPr>
        <p:txBody>
          <a:bodyPr wrap="square" lIns="0" tIns="0" rIns="0" bIns="0" rtlCol="0" anchor="ctr"/>
          <a:lstStyle/>
          <a:p>
            <a:pPr indent="0" marL="0">
              <a:buNone/>
            </a:pPr>
            <a:r>
              <a:rPr lang="en-US" sz="1300" b="1" dirty="0">
                <a:solidFill>
                  <a:srgbClr val="18181F"/>
                </a:solidFill>
                <a:latin typeface="Calibri" pitchFamily="34" charset="0"/>
                <a:ea typeface="Calibri" pitchFamily="34" charset="-122"/>
                <a:cs typeface="Calibri" pitchFamily="34" charset="-120"/>
              </a:rPr>
              <a:t>Context factors</a:t>
            </a:r>
            <a:endParaRPr lang="en-US" sz="1300" dirty="0"/>
          </a:p>
        </p:txBody>
      </p:sp>
      <p:sp>
        <p:nvSpPr>
          <p:cNvPr id="13" name="Text 11"/>
          <p:cNvSpPr/>
          <p:nvPr/>
        </p:nvSpPr>
        <p:spPr>
          <a:xfrm>
            <a:off x="2651760" y="2907792"/>
            <a:ext cx="1691640" cy="1600200"/>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Task complexity, frequency, predictability, context of use, information type. Who are the users and how do they work?</a:t>
            </a:r>
            <a:endParaRPr lang="en-US" sz="900" dirty="0"/>
          </a:p>
        </p:txBody>
      </p:sp>
      <p:sp>
        <p:nvSpPr>
          <p:cNvPr id="14" name="Shape 12"/>
          <p:cNvSpPr/>
          <p:nvPr/>
        </p:nvSpPr>
        <p:spPr>
          <a:xfrm>
            <a:off x="4572000" y="2103120"/>
            <a:ext cx="1965960" cy="2560320"/>
          </a:xfrm>
          <a:prstGeom prst="rect">
            <a:avLst>
              <a:gd name="adj" fmla="val 3721"/>
            </a:avLst>
          </a:prstGeom>
          <a:solidFill>
            <a:srgbClr val="FFFFFF"/>
          </a:solidFill>
          <a:ln w="6350">
            <a:solidFill>
              <a:srgbClr val="E4E4EA"/>
            </a:solidFill>
            <a:prstDash val="solid"/>
          </a:ln>
        </p:spPr>
      </p:sp>
      <p:sp>
        <p:nvSpPr>
          <p:cNvPr id="15" name="Text 13"/>
          <p:cNvSpPr/>
          <p:nvPr/>
        </p:nvSpPr>
        <p:spPr>
          <a:xfrm>
            <a:off x="4709160" y="2212848"/>
            <a:ext cx="1691640" cy="228600"/>
          </a:xfrm>
          <a:prstGeom prst="rect">
            <a:avLst/>
          </a:prstGeom>
          <a:noFill/>
          <a:ln/>
        </p:spPr>
        <p:txBody>
          <a:bodyPr wrap="square" lIns="0" tIns="0" rIns="0" bIns="0" rtlCol="0" anchor="ctr"/>
          <a:lstStyle/>
          <a:p>
            <a:pPr indent="0" marL="0">
              <a:buNone/>
            </a:pPr>
            <a:r>
              <a:rPr lang="en-US" sz="800" b="1" spc="200" kern="0" dirty="0">
                <a:solidFill>
                  <a:srgbClr val="6B7280"/>
                </a:solidFill>
                <a:latin typeface="Courier New" pitchFamily="34" charset="0"/>
                <a:ea typeface="Courier New" pitchFamily="34" charset="-122"/>
                <a:cs typeface="Courier New" pitchFamily="34" charset="-120"/>
              </a:rPr>
              <a:t>INFORMATION</a:t>
            </a:r>
            <a:endParaRPr lang="en-US" sz="800" dirty="0"/>
          </a:p>
        </p:txBody>
      </p:sp>
      <p:sp>
        <p:nvSpPr>
          <p:cNvPr id="16" name="Text 14"/>
          <p:cNvSpPr/>
          <p:nvPr/>
        </p:nvSpPr>
        <p:spPr>
          <a:xfrm>
            <a:off x="4709160" y="2487168"/>
            <a:ext cx="1691640" cy="365760"/>
          </a:xfrm>
          <a:prstGeom prst="rect">
            <a:avLst/>
          </a:prstGeom>
          <a:noFill/>
          <a:ln/>
        </p:spPr>
        <p:txBody>
          <a:bodyPr wrap="square" lIns="0" tIns="0" rIns="0" bIns="0" rtlCol="0" anchor="ctr"/>
          <a:lstStyle/>
          <a:p>
            <a:pPr indent="0" marL="0">
              <a:buNone/>
            </a:pPr>
            <a:r>
              <a:rPr lang="en-US" sz="1300" b="1" dirty="0">
                <a:solidFill>
                  <a:srgbClr val="18181F"/>
                </a:solidFill>
                <a:latin typeface="Calibri" pitchFamily="34" charset="0"/>
                <a:ea typeface="Calibri" pitchFamily="34" charset="-122"/>
                <a:cs typeface="Calibri" pitchFamily="34" charset="-120"/>
              </a:rPr>
              <a:t>Risk factors</a:t>
            </a:r>
            <a:endParaRPr lang="en-US" sz="1300" dirty="0"/>
          </a:p>
        </p:txBody>
      </p:sp>
      <p:sp>
        <p:nvSpPr>
          <p:cNvPr id="17" name="Text 15"/>
          <p:cNvSpPr/>
          <p:nvPr/>
        </p:nvSpPr>
        <p:spPr>
          <a:xfrm>
            <a:off x="4709160" y="2907792"/>
            <a:ext cx="1691640" cy="1600200"/>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Error consequence, control preference, user demographics, exploration mode. What happens if something goes wrong?</a:t>
            </a:r>
            <a:endParaRPr lang="en-US" sz="900" dirty="0"/>
          </a:p>
        </p:txBody>
      </p:sp>
      <p:sp>
        <p:nvSpPr>
          <p:cNvPr id="18" name="Shape 16"/>
          <p:cNvSpPr/>
          <p:nvPr/>
        </p:nvSpPr>
        <p:spPr>
          <a:xfrm>
            <a:off x="6629400" y="2103120"/>
            <a:ext cx="1965960" cy="2560320"/>
          </a:xfrm>
          <a:prstGeom prst="rect">
            <a:avLst>
              <a:gd name="adj" fmla="val 3721"/>
            </a:avLst>
          </a:prstGeom>
          <a:solidFill>
            <a:srgbClr val="FFFFFF"/>
          </a:solidFill>
          <a:ln w="6350">
            <a:solidFill>
              <a:srgbClr val="E4E4EA"/>
            </a:solidFill>
            <a:prstDash val="solid"/>
          </a:ln>
        </p:spPr>
      </p:sp>
      <p:sp>
        <p:nvSpPr>
          <p:cNvPr id="19" name="Text 17"/>
          <p:cNvSpPr/>
          <p:nvPr/>
        </p:nvSpPr>
        <p:spPr>
          <a:xfrm>
            <a:off x="6766560" y="2212848"/>
            <a:ext cx="1691640" cy="228600"/>
          </a:xfrm>
          <a:prstGeom prst="rect">
            <a:avLst/>
          </a:prstGeom>
          <a:noFill/>
          <a:ln/>
        </p:spPr>
        <p:txBody>
          <a:bodyPr wrap="square" lIns="0" tIns="0" rIns="0" bIns="0" rtlCol="0" anchor="ctr"/>
          <a:lstStyle/>
          <a:p>
            <a:pPr indent="0" marL="0">
              <a:buNone/>
            </a:pPr>
            <a:r>
              <a:rPr lang="en-US" sz="800" b="1" spc="200" kern="0" dirty="0">
                <a:solidFill>
                  <a:srgbClr val="6B7280"/>
                </a:solidFill>
                <a:latin typeface="Courier New" pitchFamily="34" charset="0"/>
                <a:ea typeface="Courier New" pitchFamily="34" charset="-122"/>
                <a:cs typeface="Courier New" pitchFamily="34" charset="-120"/>
              </a:rPr>
              <a:t>DATA</a:t>
            </a:r>
            <a:endParaRPr lang="en-US" sz="800" dirty="0"/>
          </a:p>
        </p:txBody>
      </p:sp>
      <p:sp>
        <p:nvSpPr>
          <p:cNvPr id="20" name="Text 18"/>
          <p:cNvSpPr/>
          <p:nvPr/>
        </p:nvSpPr>
        <p:spPr>
          <a:xfrm>
            <a:off x="6766560" y="2487168"/>
            <a:ext cx="1691640" cy="365760"/>
          </a:xfrm>
          <a:prstGeom prst="rect">
            <a:avLst/>
          </a:prstGeom>
          <a:noFill/>
          <a:ln/>
        </p:spPr>
        <p:txBody>
          <a:bodyPr wrap="square" lIns="0" tIns="0" rIns="0" bIns="0" rtlCol="0" anchor="ctr"/>
          <a:lstStyle/>
          <a:p>
            <a:pPr indent="0" marL="0">
              <a:buNone/>
            </a:pPr>
            <a:r>
              <a:rPr lang="en-US" sz="1300" b="1" dirty="0">
                <a:solidFill>
                  <a:srgbClr val="18181F"/>
                </a:solidFill>
                <a:latin typeface="Calibri" pitchFamily="34" charset="0"/>
                <a:ea typeface="Calibri" pitchFamily="34" charset="-122"/>
                <a:cs typeface="Calibri" pitchFamily="34" charset="-120"/>
              </a:rPr>
              <a:t>Constraints</a:t>
            </a:r>
            <a:endParaRPr lang="en-US" sz="1300" dirty="0"/>
          </a:p>
        </p:txBody>
      </p:sp>
      <p:sp>
        <p:nvSpPr>
          <p:cNvPr id="21" name="Text 19"/>
          <p:cNvSpPr/>
          <p:nvPr/>
        </p:nvSpPr>
        <p:spPr>
          <a:xfrm>
            <a:off x="6766560" y="2907792"/>
            <a:ext cx="1691640" cy="1600200"/>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Product type, existing solutions, interaction initiation, geography. Hard limits that constrain viable interface types.</a:t>
            </a:r>
            <a:endParaRPr lang="en-US" sz="900" dirty="0"/>
          </a:p>
        </p:txBody>
      </p:sp>
      <p:sp>
        <p:nvSpPr>
          <p:cNvPr id="22" name="Text 20"/>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3" name="Text 21"/>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09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RESEARCH METHOD</a:t>
            </a:r>
            <a:endParaRPr lang="en-US" sz="800" dirty="0"/>
          </a:p>
        </p:txBody>
      </p:sp>
      <p:sp>
        <p:nvSpPr>
          <p:cNvPr id="4" name="Text 2"/>
          <p:cNvSpPr/>
          <p:nvPr/>
        </p:nvSpPr>
        <p:spPr>
          <a:xfrm>
            <a:off x="457200" y="594360"/>
            <a:ext cx="8229600" cy="914400"/>
          </a:xfrm>
          <a:prstGeom prst="rect">
            <a:avLst/>
          </a:prstGeom>
          <a:noFill/>
          <a:ln/>
        </p:spPr>
        <p:txBody>
          <a:bodyPr wrap="square" lIns="0" tIns="0" rIns="0" bIns="0" rtlCol="0" anchor="ctr"/>
          <a:lstStyle/>
          <a:p>
            <a:pPr indent="0" marL="0">
              <a:lnSpc>
                <a:spcPct val="100000"/>
              </a:lnSpc>
              <a:buNone/>
            </a:pPr>
            <a:r>
              <a:rPr lang="en-US" sz="2600" b="1" spc="-100" kern="0" dirty="0">
                <a:solidFill>
                  <a:srgbClr val="18181F"/>
                </a:solidFill>
                <a:latin typeface="Calibri" pitchFamily="34" charset="0"/>
                <a:ea typeface="Calibri" pitchFamily="34" charset="-122"/>
                <a:cs typeface="Calibri" pitchFamily="34" charset="-120"/>
              </a:rPr>
              <a:t>Three phases.
</a:t>
            </a:r>
            <a:pPr indent="0" marL="0">
              <a:lnSpc>
                <a:spcPct val="100000"/>
              </a:lnSpc>
              <a:buNone/>
            </a:pPr>
            <a:r>
              <a:rPr lang="en-US" sz="2600" b="1" spc="-100" kern="0" dirty="0">
                <a:solidFill>
                  <a:srgbClr val="2563EB"/>
                </a:solidFill>
                <a:latin typeface="Calibri" pitchFamily="34" charset="0"/>
                <a:ea typeface="Calibri" pitchFamily="34" charset="-122"/>
                <a:cs typeface="Calibri" pitchFamily="34" charset="-120"/>
              </a:rPr>
              <a:t>Three kinds of evidence.</a:t>
            </a:r>
            <a:endParaRPr lang="en-US" sz="2600" dirty="0"/>
          </a:p>
        </p:txBody>
      </p:sp>
      <p:sp>
        <p:nvSpPr>
          <p:cNvPr id="5" name="Shape 3"/>
          <p:cNvSpPr/>
          <p:nvPr/>
        </p:nvSpPr>
        <p:spPr>
          <a:xfrm>
            <a:off x="457200" y="1600200"/>
            <a:ext cx="2679192" cy="3218688"/>
          </a:xfrm>
          <a:prstGeom prst="rect">
            <a:avLst/>
          </a:prstGeom>
          <a:solidFill>
            <a:srgbClr val="FFFFFF"/>
          </a:solidFill>
          <a:ln w="6350">
            <a:solidFill>
              <a:srgbClr val="E4E4EA"/>
            </a:solidFill>
            <a:prstDash val="solid"/>
          </a:ln>
        </p:spPr>
      </p:sp>
      <p:sp>
        <p:nvSpPr>
          <p:cNvPr id="6" name="Text 4"/>
          <p:cNvSpPr/>
          <p:nvPr/>
        </p:nvSpPr>
        <p:spPr>
          <a:xfrm>
            <a:off x="585216" y="1709928"/>
            <a:ext cx="1371600" cy="201168"/>
          </a:xfrm>
          <a:prstGeom prst="rect">
            <a:avLst/>
          </a:prstGeom>
          <a:noFill/>
          <a:ln/>
        </p:spPr>
        <p:txBody>
          <a:bodyPr wrap="square" lIns="0" tIns="0" rIns="0" bIns="0" rtlCol="0" anchor="ctr"/>
          <a:lstStyle/>
          <a:p>
            <a:pPr indent="0" marL="0">
              <a:buNone/>
            </a:pPr>
            <a:r>
              <a:rPr lang="en-US" sz="750" b="1" spc="200" kern="0" dirty="0">
                <a:solidFill>
                  <a:srgbClr val="2563EB"/>
                </a:solidFill>
                <a:latin typeface="Courier New" pitchFamily="34" charset="0"/>
                <a:ea typeface="Courier New" pitchFamily="34" charset="-122"/>
                <a:cs typeface="Courier New" pitchFamily="34" charset="-120"/>
              </a:rPr>
              <a:t>PHASE 01</a:t>
            </a:r>
            <a:endParaRPr lang="en-US" sz="750" dirty="0"/>
          </a:p>
        </p:txBody>
      </p:sp>
      <p:sp>
        <p:nvSpPr>
          <p:cNvPr id="7" name="Text 5"/>
          <p:cNvSpPr/>
          <p:nvPr/>
        </p:nvSpPr>
        <p:spPr>
          <a:xfrm>
            <a:off x="1965960" y="1709928"/>
            <a:ext cx="1051560" cy="201168"/>
          </a:xfrm>
          <a:prstGeom prst="rect">
            <a:avLst/>
          </a:prstGeom>
          <a:noFill/>
          <a:ln/>
        </p:spPr>
        <p:txBody>
          <a:bodyPr wrap="square" lIns="0" tIns="0" rIns="0" bIns="0" rtlCol="0" anchor="ctr"/>
          <a:lstStyle/>
          <a:p>
            <a:pPr algn="r" indent="0" marL="0">
              <a:buNone/>
            </a:pPr>
            <a:r>
              <a:rPr lang="en-US" sz="750" dirty="0">
                <a:solidFill>
                  <a:srgbClr val="6B7280"/>
                </a:solidFill>
                <a:latin typeface="Courier New" pitchFamily="34" charset="0"/>
                <a:ea typeface="Courier New" pitchFamily="34" charset="-122"/>
                <a:cs typeface="Courier New" pitchFamily="34" charset="-120"/>
              </a:rPr>
              <a:t>CONSTRUCTION</a:t>
            </a:r>
            <a:endParaRPr lang="en-US" sz="750" dirty="0"/>
          </a:p>
        </p:txBody>
      </p:sp>
      <p:sp>
        <p:nvSpPr>
          <p:cNvPr id="8" name="Text 6"/>
          <p:cNvSpPr/>
          <p:nvPr/>
        </p:nvSpPr>
        <p:spPr>
          <a:xfrm>
            <a:off x="585216" y="1965960"/>
            <a:ext cx="2423160" cy="402336"/>
          </a:xfrm>
          <a:prstGeom prst="rect">
            <a:avLst/>
          </a:prstGeom>
          <a:noFill/>
          <a:ln/>
        </p:spPr>
        <p:txBody>
          <a:bodyPr wrap="square" lIns="0" tIns="0" rIns="0" bIns="0" rtlCol="0" anchor="ctr"/>
          <a:lstStyle/>
          <a:p>
            <a:pPr indent="0" marL="0">
              <a:buNone/>
            </a:pPr>
            <a:r>
              <a:rPr lang="en-US" sz="1100" b="1" dirty="0">
                <a:solidFill>
                  <a:srgbClr val="18181F"/>
                </a:solidFill>
                <a:latin typeface="Calibri" pitchFamily="34" charset="0"/>
                <a:ea typeface="Calibri" pitchFamily="34" charset="-122"/>
                <a:cs typeface="Calibri" pitchFamily="34" charset="-120"/>
              </a:rPr>
              <a:t>Built from the literature</a:t>
            </a:r>
            <a:endParaRPr lang="en-US" sz="1100" dirty="0"/>
          </a:p>
        </p:txBody>
      </p:sp>
      <p:sp>
        <p:nvSpPr>
          <p:cNvPr id="9" name="Text 7"/>
          <p:cNvSpPr/>
          <p:nvPr/>
        </p:nvSpPr>
        <p:spPr>
          <a:xfrm>
            <a:off x="585216" y="2414016"/>
            <a:ext cx="2423160" cy="1389888"/>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Literature confirmed the gap. Fifteen practitioner interviews produced the values taxonomy and framework structure.</a:t>
            </a:r>
            <a:endParaRPr lang="en-US" sz="850" dirty="0"/>
          </a:p>
        </p:txBody>
      </p:sp>
      <p:sp>
        <p:nvSpPr>
          <p:cNvPr id="10" name="Shape 8"/>
          <p:cNvSpPr/>
          <p:nvPr/>
        </p:nvSpPr>
        <p:spPr>
          <a:xfrm>
            <a:off x="585216" y="3877056"/>
            <a:ext cx="2423160" cy="0"/>
          </a:xfrm>
          <a:prstGeom prst="line">
            <a:avLst/>
          </a:prstGeom>
          <a:noFill/>
          <a:ln w="6350">
            <a:solidFill>
              <a:srgbClr val="E4E4EA"/>
            </a:solidFill>
            <a:prstDash val="solid"/>
          </a:ln>
        </p:spPr>
      </p:sp>
      <p:sp>
        <p:nvSpPr>
          <p:cNvPr id="11" name="Text 9"/>
          <p:cNvSpPr/>
          <p:nvPr/>
        </p:nvSpPr>
        <p:spPr>
          <a:xfrm>
            <a:off x="585216" y="3959352"/>
            <a:ext cx="566928" cy="475488"/>
          </a:xfrm>
          <a:prstGeom prst="rect">
            <a:avLst/>
          </a:prstGeom>
          <a:noFill/>
          <a:ln/>
        </p:spPr>
        <p:txBody>
          <a:bodyPr wrap="square" lIns="0" tIns="0" rIns="0" bIns="0" rtlCol="0" anchor="ctr"/>
          <a:lstStyle/>
          <a:p>
            <a:pPr indent="0" marL="0">
              <a:buNone/>
            </a:pPr>
            <a:r>
              <a:rPr lang="en-US" sz="2000" b="1" dirty="0">
                <a:solidFill>
                  <a:srgbClr val="2563EB"/>
                </a:solidFill>
                <a:latin typeface="Courier New" pitchFamily="34" charset="0"/>
                <a:ea typeface="Courier New" pitchFamily="34" charset="-122"/>
                <a:cs typeface="Courier New" pitchFamily="34" charset="-120"/>
              </a:rPr>
              <a:t>15</a:t>
            </a:r>
            <a:endParaRPr lang="en-US" sz="2000" dirty="0"/>
          </a:p>
        </p:txBody>
      </p:sp>
      <p:sp>
        <p:nvSpPr>
          <p:cNvPr id="12" name="Text 10"/>
          <p:cNvSpPr/>
          <p:nvPr/>
        </p:nvSpPr>
        <p:spPr>
          <a:xfrm>
            <a:off x="1234440" y="3959352"/>
            <a:ext cx="1764792" cy="502920"/>
          </a:xfrm>
          <a:prstGeom prst="rect">
            <a:avLst/>
          </a:prstGeom>
          <a:noFill/>
          <a:ln/>
        </p:spPr>
        <p:txBody>
          <a:bodyPr wrap="square" lIns="0" tIns="0" rIns="0" bIns="0" rtlCol="0" anchor="ctr"/>
          <a:lstStyle/>
          <a:p>
            <a:pPr indent="0" marL="0">
              <a:buNone/>
            </a:pPr>
            <a:r>
              <a:rPr lang="en-US" sz="800" dirty="0">
                <a:solidFill>
                  <a:srgbClr val="4B5563"/>
                </a:solidFill>
                <a:latin typeface="Courier New" pitchFamily="34" charset="0"/>
                <a:ea typeface="Courier New" pitchFamily="34" charset="-122"/>
                <a:cs typeface="Courier New" pitchFamily="34" charset="-120"/>
              </a:rPr>
              <a:t>practitioners interviewed
</a:t>
            </a:r>
            <a:pPr indent="0" marL="0">
              <a:buNone/>
            </a:pPr>
            <a:r>
              <a:rPr lang="en-US" sz="650" dirty="0">
                <a:solidFill>
                  <a:srgbClr val="6B7280"/>
                </a:solidFill>
                <a:latin typeface="Courier New" pitchFamily="34" charset="0"/>
                <a:ea typeface="Courier New" pitchFamily="34" charset="-122"/>
                <a:cs typeface="Courier New" pitchFamily="34" charset="-120"/>
              </a:rPr>
              <a:t>UX designers · technical leads · quality engineers · project managers</a:t>
            </a:r>
            <a:endParaRPr lang="en-US" sz="800" dirty="0"/>
          </a:p>
        </p:txBody>
      </p:sp>
      <p:sp>
        <p:nvSpPr>
          <p:cNvPr id="13" name="Shape 11"/>
          <p:cNvSpPr/>
          <p:nvPr/>
        </p:nvSpPr>
        <p:spPr>
          <a:xfrm>
            <a:off x="3214116" y="1600200"/>
            <a:ext cx="2679192" cy="3218688"/>
          </a:xfrm>
          <a:prstGeom prst="rect">
            <a:avLst/>
          </a:prstGeom>
          <a:solidFill>
            <a:srgbClr val="FFFFFF"/>
          </a:solidFill>
          <a:ln w="6350">
            <a:solidFill>
              <a:srgbClr val="E4E4EA"/>
            </a:solidFill>
            <a:prstDash val="solid"/>
          </a:ln>
        </p:spPr>
      </p:sp>
      <p:sp>
        <p:nvSpPr>
          <p:cNvPr id="14" name="Text 12"/>
          <p:cNvSpPr/>
          <p:nvPr/>
        </p:nvSpPr>
        <p:spPr>
          <a:xfrm>
            <a:off x="3342132" y="1709928"/>
            <a:ext cx="1371600" cy="201168"/>
          </a:xfrm>
          <a:prstGeom prst="rect">
            <a:avLst/>
          </a:prstGeom>
          <a:noFill/>
          <a:ln/>
        </p:spPr>
        <p:txBody>
          <a:bodyPr wrap="square" lIns="0" tIns="0" rIns="0" bIns="0" rtlCol="0" anchor="ctr"/>
          <a:lstStyle/>
          <a:p>
            <a:pPr indent="0" marL="0">
              <a:buNone/>
            </a:pPr>
            <a:r>
              <a:rPr lang="en-US" sz="750" b="1" spc="200" kern="0" dirty="0">
                <a:solidFill>
                  <a:srgbClr val="2563EB"/>
                </a:solidFill>
                <a:latin typeface="Courier New" pitchFamily="34" charset="0"/>
                <a:ea typeface="Courier New" pitchFamily="34" charset="-122"/>
                <a:cs typeface="Courier New" pitchFamily="34" charset="-120"/>
              </a:rPr>
              <a:t>PHASE 02</a:t>
            </a:r>
            <a:endParaRPr lang="en-US" sz="750" dirty="0"/>
          </a:p>
        </p:txBody>
      </p:sp>
      <p:sp>
        <p:nvSpPr>
          <p:cNvPr id="15" name="Text 13"/>
          <p:cNvSpPr/>
          <p:nvPr/>
        </p:nvSpPr>
        <p:spPr>
          <a:xfrm>
            <a:off x="4722876" y="1709928"/>
            <a:ext cx="1051560" cy="201168"/>
          </a:xfrm>
          <a:prstGeom prst="rect">
            <a:avLst/>
          </a:prstGeom>
          <a:noFill/>
          <a:ln/>
        </p:spPr>
        <p:txBody>
          <a:bodyPr wrap="square" lIns="0" tIns="0" rIns="0" bIns="0" rtlCol="0" anchor="ctr"/>
          <a:lstStyle/>
          <a:p>
            <a:pPr algn="r" indent="0" marL="0">
              <a:buNone/>
            </a:pPr>
            <a:r>
              <a:rPr lang="en-US" sz="750" dirty="0">
                <a:solidFill>
                  <a:srgbClr val="6B7280"/>
                </a:solidFill>
                <a:latin typeface="Courier New" pitchFamily="34" charset="0"/>
                <a:ea typeface="Courier New" pitchFamily="34" charset="-122"/>
                <a:cs typeface="Courier New" pitchFamily="34" charset="-120"/>
              </a:rPr>
              <a:t>RETROSPECTIVE</a:t>
            </a:r>
            <a:endParaRPr lang="en-US" sz="750" dirty="0"/>
          </a:p>
        </p:txBody>
      </p:sp>
      <p:sp>
        <p:nvSpPr>
          <p:cNvPr id="16" name="Text 14"/>
          <p:cNvSpPr/>
          <p:nvPr/>
        </p:nvSpPr>
        <p:spPr>
          <a:xfrm>
            <a:off x="3342132" y="1965960"/>
            <a:ext cx="2423160" cy="402336"/>
          </a:xfrm>
          <a:prstGeom prst="rect">
            <a:avLst/>
          </a:prstGeom>
          <a:noFill/>
          <a:ln/>
        </p:spPr>
        <p:txBody>
          <a:bodyPr wrap="square" lIns="0" tIns="0" rIns="0" bIns="0" rtlCol="0" anchor="ctr"/>
          <a:lstStyle/>
          <a:p>
            <a:pPr indent="0" marL="0">
              <a:buNone/>
            </a:pPr>
            <a:r>
              <a:rPr lang="en-US" sz="1100" b="1" dirty="0">
                <a:solidFill>
                  <a:srgbClr val="18181F"/>
                </a:solidFill>
                <a:latin typeface="Calibri" pitchFamily="34" charset="0"/>
                <a:ea typeface="Calibri" pitchFamily="34" charset="-122"/>
                <a:cs typeface="Calibri" pitchFamily="34" charset="-120"/>
              </a:rPr>
              <a:t>Tested against history</a:t>
            </a:r>
            <a:endParaRPr lang="en-US" sz="1100" dirty="0"/>
          </a:p>
        </p:txBody>
      </p:sp>
      <p:sp>
        <p:nvSpPr>
          <p:cNvPr id="17" name="Text 15"/>
          <p:cNvSpPr/>
          <p:nvPr/>
        </p:nvSpPr>
        <p:spPr>
          <a:xfrm>
            <a:off x="3342132" y="2414016"/>
            <a:ext cx="2423160" cy="1389888"/>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Applied to the five failures using only pre-launch public information. Could the framework have seen what went wrong?</a:t>
            </a:r>
            <a:endParaRPr lang="en-US" sz="850" dirty="0"/>
          </a:p>
        </p:txBody>
      </p:sp>
      <p:sp>
        <p:nvSpPr>
          <p:cNvPr id="18" name="Shape 16"/>
          <p:cNvSpPr/>
          <p:nvPr/>
        </p:nvSpPr>
        <p:spPr>
          <a:xfrm>
            <a:off x="3342132" y="3877056"/>
            <a:ext cx="2423160" cy="0"/>
          </a:xfrm>
          <a:prstGeom prst="line">
            <a:avLst/>
          </a:prstGeom>
          <a:noFill/>
          <a:ln w="6350">
            <a:solidFill>
              <a:srgbClr val="E4E4EA"/>
            </a:solidFill>
            <a:prstDash val="solid"/>
          </a:ln>
        </p:spPr>
      </p:sp>
      <p:sp>
        <p:nvSpPr>
          <p:cNvPr id="19" name="Text 17"/>
          <p:cNvSpPr/>
          <p:nvPr/>
        </p:nvSpPr>
        <p:spPr>
          <a:xfrm>
            <a:off x="3342132" y="3959352"/>
            <a:ext cx="566928" cy="475488"/>
          </a:xfrm>
          <a:prstGeom prst="rect">
            <a:avLst/>
          </a:prstGeom>
          <a:noFill/>
          <a:ln/>
        </p:spPr>
        <p:txBody>
          <a:bodyPr wrap="square" lIns="0" tIns="0" rIns="0" bIns="0" rtlCol="0" anchor="ctr"/>
          <a:lstStyle/>
          <a:p>
            <a:pPr indent="0" marL="0">
              <a:buNone/>
            </a:pPr>
            <a:r>
              <a:rPr lang="en-US" sz="2000" b="1" dirty="0">
                <a:solidFill>
                  <a:srgbClr val="2563EB"/>
                </a:solidFill>
                <a:latin typeface="Courier New" pitchFamily="34" charset="0"/>
                <a:ea typeface="Courier New" pitchFamily="34" charset="-122"/>
                <a:cs typeface="Courier New" pitchFamily="34" charset="-120"/>
              </a:rPr>
              <a:t>5</a:t>
            </a:r>
            <a:endParaRPr lang="en-US" sz="2000" dirty="0"/>
          </a:p>
        </p:txBody>
      </p:sp>
      <p:sp>
        <p:nvSpPr>
          <p:cNvPr id="20" name="Text 18"/>
          <p:cNvSpPr/>
          <p:nvPr/>
        </p:nvSpPr>
        <p:spPr>
          <a:xfrm>
            <a:off x="3991356" y="3959352"/>
            <a:ext cx="1764792" cy="502920"/>
          </a:xfrm>
          <a:prstGeom prst="rect">
            <a:avLst/>
          </a:prstGeom>
          <a:noFill/>
          <a:ln/>
        </p:spPr>
        <p:txBody>
          <a:bodyPr wrap="square" lIns="0" tIns="0" rIns="0" bIns="0" rtlCol="0" anchor="ctr"/>
          <a:lstStyle/>
          <a:p>
            <a:pPr indent="0" marL="0">
              <a:buNone/>
            </a:pPr>
            <a:r>
              <a:rPr lang="en-US" sz="800" dirty="0">
                <a:solidFill>
                  <a:srgbClr val="4B5563"/>
                </a:solidFill>
                <a:latin typeface="Courier New" pitchFamily="34" charset="0"/>
                <a:ea typeface="Courier New" pitchFamily="34" charset="-122"/>
                <a:cs typeface="Courier New" pitchFamily="34" charset="-120"/>
              </a:rPr>
              <a:t>cases
</a:t>
            </a:r>
            <a:pPr indent="0" marL="0">
              <a:buNone/>
            </a:pPr>
            <a:r>
              <a:rPr lang="en-US" sz="650" dirty="0">
                <a:solidFill>
                  <a:srgbClr val="6B7280"/>
                </a:solidFill>
                <a:latin typeface="Courier New" pitchFamily="34" charset="0"/>
                <a:ea typeface="Courier New" pitchFamily="34" charset="-122"/>
                <a:cs typeface="Courier New" pitchFamily="34" charset="-120"/>
              </a:rPr>
              <a:t>pre-launch data only</a:t>
            </a:r>
            <a:endParaRPr lang="en-US" sz="800" dirty="0"/>
          </a:p>
        </p:txBody>
      </p:sp>
      <p:sp>
        <p:nvSpPr>
          <p:cNvPr id="21" name="Shape 19"/>
          <p:cNvSpPr/>
          <p:nvPr/>
        </p:nvSpPr>
        <p:spPr>
          <a:xfrm>
            <a:off x="5971032" y="1600200"/>
            <a:ext cx="2679192" cy="3218688"/>
          </a:xfrm>
          <a:prstGeom prst="rect">
            <a:avLst/>
          </a:prstGeom>
          <a:solidFill>
            <a:srgbClr val="EEF2FF"/>
          </a:solidFill>
          <a:ln w="6350">
            <a:solidFill>
              <a:srgbClr val="2563EB"/>
            </a:solidFill>
            <a:prstDash val="solid"/>
          </a:ln>
        </p:spPr>
      </p:sp>
      <p:sp>
        <p:nvSpPr>
          <p:cNvPr id="22" name="Text 20"/>
          <p:cNvSpPr/>
          <p:nvPr/>
        </p:nvSpPr>
        <p:spPr>
          <a:xfrm>
            <a:off x="6099048" y="1709928"/>
            <a:ext cx="1371600" cy="201168"/>
          </a:xfrm>
          <a:prstGeom prst="rect">
            <a:avLst/>
          </a:prstGeom>
          <a:noFill/>
          <a:ln/>
        </p:spPr>
        <p:txBody>
          <a:bodyPr wrap="square" lIns="0" tIns="0" rIns="0" bIns="0" rtlCol="0" anchor="ctr"/>
          <a:lstStyle/>
          <a:p>
            <a:pPr indent="0" marL="0">
              <a:buNone/>
            </a:pPr>
            <a:r>
              <a:rPr lang="en-US" sz="750" b="1" spc="200" kern="0" dirty="0">
                <a:solidFill>
                  <a:srgbClr val="2563EB"/>
                </a:solidFill>
                <a:latin typeface="Courier New" pitchFamily="34" charset="0"/>
                <a:ea typeface="Courier New" pitchFamily="34" charset="-122"/>
                <a:cs typeface="Courier New" pitchFamily="34" charset="-120"/>
              </a:rPr>
              <a:t>PHASE 03</a:t>
            </a:r>
            <a:endParaRPr lang="en-US" sz="750" dirty="0"/>
          </a:p>
        </p:txBody>
      </p:sp>
      <p:sp>
        <p:nvSpPr>
          <p:cNvPr id="23" name="Text 21"/>
          <p:cNvSpPr/>
          <p:nvPr/>
        </p:nvSpPr>
        <p:spPr>
          <a:xfrm>
            <a:off x="7479792" y="1709928"/>
            <a:ext cx="1051560" cy="201168"/>
          </a:xfrm>
          <a:prstGeom prst="rect">
            <a:avLst/>
          </a:prstGeom>
          <a:noFill/>
          <a:ln/>
        </p:spPr>
        <p:txBody>
          <a:bodyPr wrap="square" lIns="0" tIns="0" rIns="0" bIns="0" rtlCol="0" anchor="ctr"/>
          <a:lstStyle/>
          <a:p>
            <a:pPr algn="r" indent="0" marL="0">
              <a:buNone/>
            </a:pPr>
            <a:r>
              <a:rPr lang="en-US" sz="750" dirty="0">
                <a:solidFill>
                  <a:srgbClr val="6B7280"/>
                </a:solidFill>
                <a:latin typeface="Courier New" pitchFamily="34" charset="0"/>
                <a:ea typeface="Courier New" pitchFamily="34" charset="-122"/>
                <a:cs typeface="Courier New" pitchFamily="34" charset="-120"/>
              </a:rPr>
              <a:t>PROOF OF CONCEPT</a:t>
            </a:r>
            <a:endParaRPr lang="en-US" sz="750" dirty="0"/>
          </a:p>
        </p:txBody>
      </p:sp>
      <p:sp>
        <p:nvSpPr>
          <p:cNvPr id="24" name="Text 22"/>
          <p:cNvSpPr/>
          <p:nvPr/>
        </p:nvSpPr>
        <p:spPr>
          <a:xfrm>
            <a:off x="6099048" y="1965960"/>
            <a:ext cx="2423160" cy="402336"/>
          </a:xfrm>
          <a:prstGeom prst="rect">
            <a:avLst/>
          </a:prstGeom>
          <a:noFill/>
          <a:ln/>
        </p:spPr>
        <p:txBody>
          <a:bodyPr wrap="square" lIns="0" tIns="0" rIns="0" bIns="0" rtlCol="0" anchor="ctr"/>
          <a:lstStyle/>
          <a:p>
            <a:pPr indent="0" marL="0">
              <a:buNone/>
            </a:pPr>
            <a:r>
              <a:rPr lang="en-US" sz="1100" b="1" dirty="0">
                <a:solidFill>
                  <a:srgbClr val="18181F"/>
                </a:solidFill>
                <a:latin typeface="Calibri" pitchFamily="34" charset="0"/>
                <a:ea typeface="Calibri" pitchFamily="34" charset="-122"/>
                <a:cs typeface="Calibri" pitchFamily="34" charset="-120"/>
              </a:rPr>
              <a:t>Validated with practitioners</a:t>
            </a:r>
            <a:endParaRPr lang="en-US" sz="1100" dirty="0"/>
          </a:p>
        </p:txBody>
      </p:sp>
      <p:sp>
        <p:nvSpPr>
          <p:cNvPr id="25" name="Text 23"/>
          <p:cNvSpPr/>
          <p:nvPr/>
        </p:nvSpPr>
        <p:spPr>
          <a:xfrm>
            <a:off x="6099048" y="2414016"/>
            <a:ext cx="2423160" cy="1389888"/>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NEXUS built and validated with the same fifteen practitioners. Works in practice, not only on paper, and produced the usability data on the next slide.</a:t>
            </a:r>
            <a:endParaRPr lang="en-US" sz="850" dirty="0"/>
          </a:p>
        </p:txBody>
      </p:sp>
      <p:sp>
        <p:nvSpPr>
          <p:cNvPr id="26" name="Shape 24"/>
          <p:cNvSpPr/>
          <p:nvPr/>
        </p:nvSpPr>
        <p:spPr>
          <a:xfrm>
            <a:off x="6099048" y="3877056"/>
            <a:ext cx="2423160" cy="0"/>
          </a:xfrm>
          <a:prstGeom prst="line">
            <a:avLst/>
          </a:prstGeom>
          <a:noFill/>
          <a:ln w="6350">
            <a:solidFill>
              <a:srgbClr val="E4E4EA"/>
            </a:solidFill>
            <a:prstDash val="solid"/>
          </a:ln>
        </p:spPr>
      </p:sp>
      <p:sp>
        <p:nvSpPr>
          <p:cNvPr id="27" name="Text 25"/>
          <p:cNvSpPr/>
          <p:nvPr/>
        </p:nvSpPr>
        <p:spPr>
          <a:xfrm>
            <a:off x="6099048" y="3959352"/>
            <a:ext cx="566928" cy="475488"/>
          </a:xfrm>
          <a:prstGeom prst="rect">
            <a:avLst/>
          </a:prstGeom>
          <a:noFill/>
          <a:ln/>
        </p:spPr>
        <p:txBody>
          <a:bodyPr wrap="square" lIns="0" tIns="0" rIns="0" bIns="0" rtlCol="0" anchor="ctr"/>
          <a:lstStyle/>
          <a:p>
            <a:pPr indent="0" marL="0">
              <a:buNone/>
            </a:pPr>
            <a:r>
              <a:rPr lang="en-US" sz="2000" b="1" dirty="0">
                <a:solidFill>
                  <a:srgbClr val="2563EB"/>
                </a:solidFill>
                <a:latin typeface="Courier New" pitchFamily="34" charset="0"/>
                <a:ea typeface="Courier New" pitchFamily="34" charset="-122"/>
                <a:cs typeface="Courier New" pitchFamily="34" charset="-120"/>
              </a:rPr>
              <a:t>15</a:t>
            </a:r>
            <a:endParaRPr lang="en-US" sz="2000" dirty="0"/>
          </a:p>
        </p:txBody>
      </p:sp>
      <p:sp>
        <p:nvSpPr>
          <p:cNvPr id="28" name="Text 26"/>
          <p:cNvSpPr/>
          <p:nvPr/>
        </p:nvSpPr>
        <p:spPr>
          <a:xfrm>
            <a:off x="6748272" y="3959352"/>
            <a:ext cx="1764792" cy="502920"/>
          </a:xfrm>
          <a:prstGeom prst="rect">
            <a:avLst/>
          </a:prstGeom>
          <a:noFill/>
          <a:ln/>
        </p:spPr>
        <p:txBody>
          <a:bodyPr wrap="square" lIns="0" tIns="0" rIns="0" bIns="0" rtlCol="0" anchor="ctr"/>
          <a:lstStyle/>
          <a:p>
            <a:pPr indent="0" marL="0">
              <a:buNone/>
            </a:pPr>
            <a:r>
              <a:rPr lang="en-US" sz="800" dirty="0">
                <a:solidFill>
                  <a:srgbClr val="4B5563"/>
                </a:solidFill>
                <a:latin typeface="Courier New" pitchFamily="34" charset="0"/>
                <a:ea typeface="Courier New" pitchFamily="34" charset="-122"/>
                <a:cs typeface="Courier New" pitchFamily="34" charset="-120"/>
              </a:rPr>
              <a:t>participants
</a:t>
            </a:r>
            <a:pPr indent="0" marL="0">
              <a:buNone/>
            </a:pPr>
            <a:r>
              <a:rPr lang="en-US" sz="650" dirty="0">
                <a:solidFill>
                  <a:srgbClr val="6B7280"/>
                </a:solidFill>
                <a:latin typeface="Courier New" pitchFamily="34" charset="0"/>
                <a:ea typeface="Courier New" pitchFamily="34" charset="-122"/>
                <a:cs typeface="Courier New" pitchFamily="34" charset="-120"/>
              </a:rPr>
              <a:t>tool session</a:t>
            </a:r>
            <a:endParaRPr lang="en-US" sz="800" dirty="0"/>
          </a:p>
        </p:txBody>
      </p:sp>
      <p:sp>
        <p:nvSpPr>
          <p:cNvPr id="29" name="Text 27"/>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30" name="Text 28"/>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08</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VALIDATION</a:t>
            </a:r>
            <a:endParaRPr lang="en-US" sz="800" dirty="0"/>
          </a:p>
        </p:txBody>
      </p:sp>
      <p:sp>
        <p:nvSpPr>
          <p:cNvPr id="4" name="Text 2"/>
          <p:cNvSpPr/>
          <p:nvPr/>
        </p:nvSpPr>
        <p:spPr>
          <a:xfrm>
            <a:off x="457200" y="594360"/>
            <a:ext cx="4114800" cy="1234440"/>
          </a:xfrm>
          <a:prstGeom prst="rect">
            <a:avLst/>
          </a:prstGeom>
          <a:noFill/>
          <a:ln/>
        </p:spPr>
        <p:txBody>
          <a:bodyPr wrap="square" lIns="0" tIns="0" rIns="0" bIns="0" rtlCol="0" anchor="ctr"/>
          <a:lstStyle/>
          <a:p>
            <a:pPr indent="0" marL="0">
              <a:lnSpc>
                <a:spcPct val="100000"/>
              </a:lnSpc>
              <a:buNone/>
            </a:pPr>
            <a:r>
              <a:rPr lang="en-US" sz="2600" b="1" spc="-100" kern="0" dirty="0">
                <a:solidFill>
                  <a:srgbClr val="18181F"/>
                </a:solidFill>
                <a:latin typeface="Calibri" pitchFamily="34" charset="0"/>
                <a:ea typeface="Calibri" pitchFamily="34" charset="-122"/>
                <a:cs typeface="Calibri" pitchFamily="34" charset="-120"/>
              </a:rPr>
              <a:t>Did it see</a:t>
            </a:r>
            <a:endParaRPr lang="en-US" sz="2600" dirty="0"/>
          </a:p>
          <a:p>
            <a:pPr indent="0" marL="0">
              <a:lnSpc>
                <a:spcPct val="100000"/>
              </a:lnSpc>
              <a:buNone/>
            </a:pPr>
            <a:r>
              <a:rPr lang="en-US" sz="2600" b="1" spc="-100" kern="0" dirty="0">
                <a:solidFill>
                  <a:srgbClr val="18181F"/>
                </a:solidFill>
                <a:latin typeface="Calibri" pitchFamily="34" charset="0"/>
                <a:ea typeface="Calibri" pitchFamily="34" charset="-122"/>
                <a:cs typeface="Calibri" pitchFamily="34" charset="-120"/>
              </a:rPr>
              <a:t>what went </a:t>
            </a:r>
            <a:endParaRPr lang="en-US" sz="2600" dirty="0"/>
          </a:p>
          <a:p>
            <a:pPr indent="0" marL="0">
              <a:lnSpc>
                <a:spcPct val="100000"/>
              </a:lnSpc>
              <a:buNone/>
            </a:pPr>
            <a:r>
              <a:rPr lang="en-US" sz="2600" b="1" spc="-100" kern="0" dirty="0">
                <a:solidFill>
                  <a:srgbClr val="2563EB"/>
                </a:solidFill>
                <a:latin typeface="Calibri" pitchFamily="34" charset="0"/>
                <a:ea typeface="Calibri" pitchFamily="34" charset="-122"/>
                <a:cs typeface="Calibri" pitchFamily="34" charset="-120"/>
              </a:rPr>
              <a:t>wrong?</a:t>
            </a:r>
            <a:endParaRPr lang="en-US" sz="2600" dirty="0"/>
          </a:p>
        </p:txBody>
      </p:sp>
      <p:sp>
        <p:nvSpPr>
          <p:cNvPr id="5" name="Text 3"/>
          <p:cNvSpPr/>
          <p:nvPr/>
        </p:nvSpPr>
        <p:spPr>
          <a:xfrm>
            <a:off x="4663440" y="731520"/>
            <a:ext cx="4023360" cy="502920"/>
          </a:xfrm>
          <a:prstGeom prst="rect">
            <a:avLst/>
          </a:prstGeom>
          <a:noFill/>
          <a:ln/>
        </p:spPr>
        <p:txBody>
          <a:bodyPr wrap="square" lIns="0" tIns="0" rIns="0" bIns="0" rtlCol="0" anchor="ctr"/>
          <a:lstStyle/>
          <a:p>
            <a:pPr indent="0" marL="0">
              <a:buNone/>
            </a:pPr>
            <a:r>
              <a:rPr lang="en-US" sz="1100" dirty="0">
                <a:solidFill>
                  <a:srgbClr val="4B5563"/>
                </a:solidFill>
                <a:latin typeface="Calibri" pitchFamily="34" charset="0"/>
                <a:ea typeface="Calibri" pitchFamily="34" charset="-122"/>
                <a:cs typeface="Calibri" pitchFamily="34" charset="-120"/>
              </a:rPr>
              <a:t>Applied to each product using only pre-launch public information.</a:t>
            </a:r>
            <a:endParaRPr lang="en-US" sz="1100" dirty="0"/>
          </a:p>
        </p:txBody>
      </p:sp>
      <p:sp>
        <p:nvSpPr>
          <p:cNvPr id="6" name="Shape 4"/>
          <p:cNvSpPr/>
          <p:nvPr/>
        </p:nvSpPr>
        <p:spPr>
          <a:xfrm>
            <a:off x="457200" y="1901952"/>
            <a:ext cx="3794760" cy="1207008"/>
          </a:xfrm>
          <a:prstGeom prst="rect">
            <a:avLst/>
          </a:prstGeom>
          <a:solidFill>
            <a:srgbClr val="FFFFFF"/>
          </a:solidFill>
          <a:ln w="6350">
            <a:solidFill>
              <a:srgbClr val="E4E4EA"/>
            </a:solidFill>
            <a:prstDash val="solid"/>
          </a:ln>
        </p:spPr>
      </p:sp>
      <p:sp>
        <p:nvSpPr>
          <p:cNvPr id="7" name="Text 5"/>
          <p:cNvSpPr/>
          <p:nvPr/>
        </p:nvSpPr>
        <p:spPr>
          <a:xfrm>
            <a:off x="566928" y="1938528"/>
            <a:ext cx="1828800" cy="1005840"/>
          </a:xfrm>
          <a:prstGeom prst="rect">
            <a:avLst/>
          </a:prstGeom>
          <a:noFill/>
          <a:ln/>
        </p:spPr>
        <p:txBody>
          <a:bodyPr wrap="square" lIns="0" tIns="0" rIns="0" bIns="0" rtlCol="0" anchor="ctr"/>
          <a:lstStyle/>
          <a:p>
            <a:pPr indent="0" marL="0">
              <a:buNone/>
            </a:pPr>
            <a:r>
              <a:rPr lang="en-US" sz="4400" b="1" dirty="0">
                <a:solidFill>
                  <a:srgbClr val="2563EB"/>
                </a:solidFill>
                <a:latin typeface="Courier New" pitchFamily="34" charset="0"/>
                <a:ea typeface="Courier New" pitchFamily="34" charset="-122"/>
                <a:cs typeface="Courier New" pitchFamily="34" charset="-120"/>
              </a:rPr>
              <a:t>82%</a:t>
            </a:r>
            <a:endParaRPr lang="en-US" sz="4400" dirty="0"/>
          </a:p>
        </p:txBody>
      </p:sp>
      <p:sp>
        <p:nvSpPr>
          <p:cNvPr id="8" name="Text 6"/>
          <p:cNvSpPr/>
          <p:nvPr/>
        </p:nvSpPr>
        <p:spPr>
          <a:xfrm>
            <a:off x="2450592" y="2057400"/>
            <a:ext cx="1664208" cy="914400"/>
          </a:xfrm>
          <a:prstGeom prst="rect">
            <a:avLst/>
          </a:prstGeom>
          <a:noFill/>
          <a:ln/>
        </p:spPr>
        <p:txBody>
          <a:bodyPr wrap="square" lIns="0" tIns="0" rIns="0" bIns="0" rtlCol="0" anchor="ctr"/>
          <a:lstStyle/>
          <a:p>
            <a:pPr indent="0" marL="0">
              <a:buNone/>
            </a:pPr>
            <a:r>
              <a:rPr lang="en-US" sz="900" dirty="0">
                <a:solidFill>
                  <a:srgbClr val="4B5563"/>
                </a:solidFill>
                <a:latin typeface="Calibri" pitchFamily="34" charset="0"/>
                <a:ea typeface="Calibri" pitchFamily="34" charset="-122"/>
                <a:cs typeface="Calibri" pitchFamily="34" charset="-120"/>
              </a:rPr>
              <a:t>of documented failure factors identified across all five cases.
</a:t>
            </a:r>
            <a:endParaRPr lang="en-US" sz="900" dirty="0"/>
          </a:p>
          <a:p>
            <a:pPr indent="0" marL="0">
              <a:buNone/>
            </a:pPr>
            <a:r>
              <a:rPr lang="en-US" sz="750" dirty="0">
                <a:solidFill>
                  <a:srgbClr val="6B7280"/>
                </a:solidFill>
                <a:latin typeface="Courier New" pitchFamily="34" charset="0"/>
                <a:ea typeface="Courier New" pitchFamily="34" charset="-122"/>
                <a:cs typeface="Courier New" pitchFamily="34" charset="-120"/>
              </a:rPr>
              <a:t>Target 70% · Landis &amp; Koch (1977)</a:t>
            </a:r>
            <a:endParaRPr lang="en-US" sz="900" dirty="0"/>
          </a:p>
        </p:txBody>
      </p:sp>
      <p:sp>
        <p:nvSpPr>
          <p:cNvPr id="9" name="Shape 7"/>
          <p:cNvSpPr/>
          <p:nvPr/>
        </p:nvSpPr>
        <p:spPr>
          <a:xfrm>
            <a:off x="457200" y="3200400"/>
            <a:ext cx="1828800" cy="1115568"/>
          </a:xfrm>
          <a:prstGeom prst="rect">
            <a:avLst/>
          </a:prstGeom>
          <a:solidFill>
            <a:srgbClr val="FFFFFF"/>
          </a:solidFill>
          <a:ln w="6350">
            <a:solidFill>
              <a:srgbClr val="E4E4EA"/>
            </a:solidFill>
            <a:prstDash val="solid"/>
          </a:ln>
        </p:spPr>
      </p:sp>
      <p:sp>
        <p:nvSpPr>
          <p:cNvPr id="10" name="Text 8"/>
          <p:cNvSpPr/>
          <p:nvPr/>
        </p:nvSpPr>
        <p:spPr>
          <a:xfrm>
            <a:off x="566928" y="3264408"/>
            <a:ext cx="1645920" cy="502920"/>
          </a:xfrm>
          <a:prstGeom prst="rect">
            <a:avLst/>
          </a:prstGeom>
          <a:noFill/>
          <a:ln/>
        </p:spPr>
        <p:txBody>
          <a:bodyPr wrap="square" lIns="0" tIns="0" rIns="0" bIns="0" rtlCol="0" anchor="ctr"/>
          <a:lstStyle/>
          <a:p>
            <a:pPr indent="0" marL="0">
              <a:buNone/>
            </a:pPr>
            <a:r>
              <a:rPr lang="en-US" sz="2000" b="1" dirty="0">
                <a:solidFill>
                  <a:srgbClr val="2563EB"/>
                </a:solidFill>
                <a:latin typeface="Courier New" pitchFamily="34" charset="0"/>
                <a:ea typeface="Courier New" pitchFamily="34" charset="-122"/>
                <a:cs typeface="Courier New" pitchFamily="34" charset="-120"/>
              </a:rPr>
              <a:t>70%</a:t>
            </a:r>
            <a:endParaRPr lang="en-US" sz="2000" dirty="0"/>
          </a:p>
        </p:txBody>
      </p:sp>
      <p:sp>
        <p:nvSpPr>
          <p:cNvPr id="11" name="Text 9"/>
          <p:cNvSpPr/>
          <p:nvPr/>
        </p:nvSpPr>
        <p:spPr>
          <a:xfrm>
            <a:off x="566928" y="3803904"/>
            <a:ext cx="1645920" cy="384048"/>
          </a:xfrm>
          <a:prstGeom prst="rect">
            <a:avLst/>
          </a:prstGeom>
          <a:noFill/>
          <a:ln/>
        </p:spPr>
        <p:txBody>
          <a:bodyPr wrap="square" lIns="0" tIns="0" rIns="0" bIns="0" rtlCol="0" anchor="ctr"/>
          <a:lstStyle/>
          <a:p>
            <a:pPr indent="0" marL="0">
              <a:buNone/>
            </a:pPr>
            <a:r>
              <a:rPr lang="en-US" sz="800" dirty="0">
                <a:solidFill>
                  <a:srgbClr val="4B5563"/>
                </a:solidFill>
                <a:latin typeface="Calibri" pitchFamily="34" charset="0"/>
                <a:ea typeface="Calibri" pitchFamily="34" charset="-122"/>
                <a:cs typeface="Calibri" pitchFamily="34" charset="-120"/>
              </a:rPr>
              <a:t>agreement with designer judgment</a:t>
            </a:r>
            <a:endParaRPr lang="en-US" sz="800" dirty="0"/>
          </a:p>
        </p:txBody>
      </p:sp>
      <p:sp>
        <p:nvSpPr>
          <p:cNvPr id="12" name="Shape 10"/>
          <p:cNvSpPr/>
          <p:nvPr/>
        </p:nvSpPr>
        <p:spPr>
          <a:xfrm>
            <a:off x="2432304" y="3200400"/>
            <a:ext cx="1828800" cy="1115568"/>
          </a:xfrm>
          <a:prstGeom prst="rect">
            <a:avLst/>
          </a:prstGeom>
          <a:solidFill>
            <a:srgbClr val="FFFFFF"/>
          </a:solidFill>
          <a:ln w="6350">
            <a:solidFill>
              <a:srgbClr val="E4E4EA"/>
            </a:solidFill>
            <a:prstDash val="solid"/>
          </a:ln>
        </p:spPr>
      </p:sp>
      <p:sp>
        <p:nvSpPr>
          <p:cNvPr id="13" name="Text 11"/>
          <p:cNvSpPr/>
          <p:nvPr/>
        </p:nvSpPr>
        <p:spPr>
          <a:xfrm>
            <a:off x="2542032" y="3264408"/>
            <a:ext cx="1645920" cy="502920"/>
          </a:xfrm>
          <a:prstGeom prst="rect">
            <a:avLst/>
          </a:prstGeom>
          <a:noFill/>
          <a:ln/>
        </p:spPr>
        <p:txBody>
          <a:bodyPr wrap="square" lIns="0" tIns="0" rIns="0" bIns="0" rtlCol="0" anchor="ctr"/>
          <a:lstStyle/>
          <a:p>
            <a:pPr indent="0" marL="0">
              <a:buNone/>
            </a:pPr>
            <a:r>
              <a:rPr lang="en-US" sz="2000" b="1" dirty="0">
                <a:solidFill>
                  <a:srgbClr val="2563EB"/>
                </a:solidFill>
                <a:latin typeface="Courier New" pitchFamily="34" charset="0"/>
                <a:ea typeface="Courier New" pitchFamily="34" charset="-122"/>
                <a:cs typeface="Courier New" pitchFamily="34" charset="-120"/>
              </a:rPr>
              <a:t>4.3/5</a:t>
            </a:r>
            <a:endParaRPr lang="en-US" sz="2000" dirty="0"/>
          </a:p>
        </p:txBody>
      </p:sp>
      <p:sp>
        <p:nvSpPr>
          <p:cNvPr id="14" name="Text 12"/>
          <p:cNvSpPr/>
          <p:nvPr/>
        </p:nvSpPr>
        <p:spPr>
          <a:xfrm>
            <a:off x="2542032" y="3803904"/>
            <a:ext cx="1645920" cy="384048"/>
          </a:xfrm>
          <a:prstGeom prst="rect">
            <a:avLst/>
          </a:prstGeom>
          <a:noFill/>
          <a:ln/>
        </p:spPr>
        <p:txBody>
          <a:bodyPr wrap="square" lIns="0" tIns="0" rIns="0" bIns="0" rtlCol="0" anchor="ctr"/>
          <a:lstStyle/>
          <a:p>
            <a:pPr indent="0" marL="0">
              <a:buNone/>
            </a:pPr>
            <a:r>
              <a:rPr lang="en-US" sz="800" dirty="0">
                <a:solidFill>
                  <a:srgbClr val="4B5563"/>
                </a:solidFill>
                <a:latin typeface="Calibri" pitchFamily="34" charset="0"/>
                <a:ea typeface="Calibri" pitchFamily="34" charset="-122"/>
                <a:cs typeface="Calibri" pitchFamily="34" charset="-120"/>
              </a:rPr>
              <a:t>ease of use · 12 of 15 rated 4 or 5</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26280" y="1901952"/>
          <a:ext cx="4160520" cy="2414016"/>
        </p:xfrm>
        <a:graphic>
          <a:graphicData uri="http://schemas.openxmlformats.org/drawingml/2006/table">
            <a:tbl>
              <a:tblPr/>
              <a:tblGrid>
                <a:gridCol w="1371600"/>
                <a:gridCol w="2194560"/>
                <a:gridCol w="594360"/>
              </a:tblGrid>
              <a:tr h="402336">
                <a:tc>
                  <a:txBody>
                    <a:bodyPr/>
                    <a:lstStyle/>
                    <a:p>
                      <a:pPr indent="0" marL="0">
                        <a:buNone/>
                      </a:pPr>
                      <a:r>
                        <a:rPr lang="en-US" sz="800" b="1" dirty="0">
                          <a:solidFill>
                            <a:srgbClr val="FFFFFF"/>
                          </a:solidFill>
                          <a:latin typeface="Courier New" pitchFamily="34" charset="0"/>
                          <a:ea typeface="Courier New" pitchFamily="34" charset="-122"/>
                          <a:cs typeface="Courier New" pitchFamily="34" charset="-120"/>
                        </a:rPr>
                        <a:t>Product</a:t>
                      </a:r>
                      <a:endParaRPr lang="en-US" sz="8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18181F"/>
                    </a:solidFill>
                  </a:tcPr>
                </a:tc>
                <a:tc>
                  <a:txBody>
                    <a:bodyPr/>
                    <a:lstStyle/>
                    <a:p>
                      <a:pPr indent="0" marL="0">
                        <a:buNone/>
                      </a:pPr>
                      <a:r>
                        <a:rPr lang="en-US" sz="800" b="1" dirty="0">
                          <a:solidFill>
                            <a:srgbClr val="FFFFFF"/>
                          </a:solidFill>
                          <a:latin typeface="Courier New" pitchFamily="34" charset="0"/>
                          <a:ea typeface="Courier New" pitchFamily="34" charset="-122"/>
                          <a:cs typeface="Courier New" pitchFamily="34" charset="-120"/>
                        </a:rPr>
                        <a:t>What went wrong</a:t>
                      </a:r>
                      <a:endParaRPr lang="en-US" sz="8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18181F"/>
                    </a:solidFill>
                  </a:tcPr>
                </a:tc>
                <a:tc>
                  <a:txBody>
                    <a:bodyP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Caught?</a:t>
                      </a:r>
                      <a:endParaRPr lang="en-US" sz="8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18181F"/>
                    </a:solidFill>
                  </a:tcPr>
                </a:tc>
              </a:tr>
              <a:tr h="402336">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Google Glass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Privacy violation in public spaces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algn="ctr" indent="0" marL="0">
                        <a:buNone/>
                      </a:pPr>
                      <a:r>
                        <a:rPr lang="en-US" sz="900" b="1" dirty="0">
                          <a:solidFill>
                            <a:srgbClr val="16A34A"/>
                          </a:solidFill>
                          <a:latin typeface="Courier New" pitchFamily="34" charset="0"/>
                          <a:ea typeface="Courier New" pitchFamily="34" charset="-122"/>
                          <a:cs typeface="Courier New" pitchFamily="34" charset="-120"/>
                        </a:rPr>
                        <a:t>Yes</a:t>
                      </a:r>
                      <a:endParaRPr lang="en-US" sz="9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r>
              <a:tr h="402336">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Humane AI Pin</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Privacy + tech not ready for context</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algn="ctr" indent="0" marL="0">
                        <a:buNone/>
                      </a:pPr>
                      <a:r>
                        <a:rPr lang="en-US" sz="900" b="1" dirty="0">
                          <a:solidFill>
                            <a:srgbClr val="16A34A"/>
                          </a:solidFill>
                          <a:latin typeface="Courier New" pitchFamily="34" charset="0"/>
                          <a:ea typeface="Courier New" pitchFamily="34" charset="-122"/>
                          <a:cs typeface="Courier New" pitchFamily="34" charset="-120"/>
                        </a:rPr>
                        <a:t>Yes</a:t>
                      </a:r>
                      <a:endParaRPr lang="en-US" sz="9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r>
              <a:tr h="402336">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Rabbit R1</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Problem users had already solved</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algn="ctr" indent="0" marL="0">
                        <a:buNone/>
                      </a:pPr>
                      <a:r>
                        <a:rPr lang="en-US" sz="900" b="1" dirty="0">
                          <a:solidFill>
                            <a:srgbClr val="16A34A"/>
                          </a:solidFill>
                          <a:latin typeface="Courier New" pitchFamily="34" charset="0"/>
                          <a:ea typeface="Courier New" pitchFamily="34" charset="-122"/>
                          <a:cs typeface="Courier New" pitchFamily="34" charset="-120"/>
                        </a:rPr>
                        <a:t>Yes</a:t>
                      </a:r>
                      <a:endParaRPr lang="en-US" sz="9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r>
              <a:tr h="402336">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Fire Phone</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Innovation mismatched with phone use</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algn="ctr" indent="0" marL="0">
                        <a:buNone/>
                      </a:pPr>
                      <a:r>
                        <a:rPr lang="en-US" sz="900" b="1" dirty="0">
                          <a:solidFill>
                            <a:srgbClr val="16A34A"/>
                          </a:solidFill>
                          <a:latin typeface="Courier New" pitchFamily="34" charset="0"/>
                          <a:ea typeface="Courier New" pitchFamily="34" charset="-122"/>
                          <a:cs typeface="Courier New" pitchFamily="34" charset="-120"/>
                        </a:rPr>
                        <a:t>Yes</a:t>
                      </a:r>
                      <a:endParaRPr lang="en-US" sz="9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r>
              <a:tr h="402336">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Clippy</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Automation that removed user control</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c>
                  <a:txBody>
                    <a:bodyPr/>
                    <a:lstStyle/>
                    <a:p>
                      <a:pPr algn="ctr" indent="0" marL="0">
                        <a:buNone/>
                      </a:pPr>
                      <a:r>
                        <a:rPr lang="en-US" sz="900" b="1" dirty="0">
                          <a:solidFill>
                            <a:srgbClr val="16A34A"/>
                          </a:solidFill>
                          <a:latin typeface="Courier New" pitchFamily="34" charset="0"/>
                          <a:ea typeface="Courier New" pitchFamily="34" charset="-122"/>
                          <a:cs typeface="Courier New" pitchFamily="34" charset="-120"/>
                        </a:rPr>
                        <a:t>Yes</a:t>
                      </a:r>
                      <a:endParaRPr lang="en-US" sz="9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tcPr>
                </a:tc>
              </a:tr>
            </a:tbl>
          </a:graphicData>
        </a:graphic>
      </p:graphicFrame>
      <p:sp>
        <p:nvSpPr>
          <p:cNvPr id="16" name="Text 13"/>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17" name="Text 14"/>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09</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WHO USES IT · UNDER WHAT CONDITIONS</a:t>
            </a:r>
            <a:endParaRPr lang="en-US" sz="800" dirty="0"/>
          </a:p>
        </p:txBody>
      </p:sp>
      <p:sp>
        <p:nvSpPr>
          <p:cNvPr id="4" name="Text 2"/>
          <p:cNvSpPr/>
          <p:nvPr/>
        </p:nvSpPr>
        <p:spPr>
          <a:xfrm>
            <a:off x="457200" y="59436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From HiPPO pressure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to evidence-backed decision.</a:t>
            </a:r>
            <a:endParaRPr lang="en-US" sz="2800" dirty="0"/>
          </a:p>
        </p:txBody>
      </p:sp>
      <p:sp>
        <p:nvSpPr>
          <p:cNvPr id="5" name="Text 3"/>
          <p:cNvSpPr/>
          <p:nvPr/>
        </p:nvSpPr>
        <p:spPr>
          <a:xfrm>
            <a:off x="457200" y="1645920"/>
            <a:ext cx="3200400" cy="1463040"/>
          </a:xfrm>
          <a:prstGeom prst="rect">
            <a:avLst/>
          </a:prstGeom>
          <a:noFill/>
          <a:ln/>
        </p:spPr>
        <p:txBody>
          <a:bodyPr wrap="square" lIns="0" tIns="0" rIns="0" bIns="0" rtlCol="0" anchor="t"/>
          <a:lstStyle/>
          <a:p>
            <a:pPr indent="0" marL="0">
              <a:buNone/>
            </a:pPr>
            <a:r>
              <a:rPr lang="en-US" sz="1000" dirty="0">
                <a:solidFill>
                  <a:srgbClr val="4B5563"/>
                </a:solidFill>
                <a:latin typeface="Calibri" pitchFamily="34" charset="0"/>
                <a:ea typeface="Calibri" pitchFamily="34" charset="-122"/>
                <a:cs typeface="Calibri" pitchFamily="34" charset="-120"/>
              </a:rPr>
              <a:t>Ana, a product manager in healthtech, walks into a meeting where AR/VR is being pushed without evidence. This is what happens next.</a:t>
            </a:r>
            <a:endParaRPr lang="en-US" sz="1000" dirty="0"/>
          </a:p>
          <a:p>
            <a:pPr indent="0" marL="0">
              <a:buNone/>
            </a:pPr>
            <a:endParaRPr lang="en-US" sz="1000" dirty="0"/>
          </a:p>
          <a:p>
            <a:pPr indent="0" marL="0">
              <a:buNone/>
            </a:pPr>
            <a:r>
              <a:rPr lang="en-US" sz="1000" dirty="0">
                <a:solidFill>
                  <a:srgbClr val="4B5563"/>
                </a:solidFill>
                <a:latin typeface="Calibri" pitchFamily="34" charset="0"/>
                <a:ea typeface="Calibri" pitchFamily="34" charset="-122"/>
                <a:cs typeface="Calibri" pitchFamily="34" charset="-120"/>
              </a:rPr>
              <a:t>Emotion goes from frustrated to confident. The HiPPO is still in the room. But now so is the evidence.</a:t>
            </a:r>
            <a:endParaRPr lang="en-US" sz="1000" dirty="0"/>
          </a:p>
        </p:txBody>
      </p:sp>
      <p:sp>
        <p:nvSpPr>
          <p:cNvPr id="6" name="Shape 4"/>
          <p:cNvSpPr/>
          <p:nvPr/>
        </p:nvSpPr>
        <p:spPr>
          <a:xfrm>
            <a:off x="3840480" y="1645920"/>
            <a:ext cx="1572768" cy="2926080"/>
          </a:xfrm>
          <a:prstGeom prst="rect">
            <a:avLst>
              <a:gd name="adj" fmla="val 4070"/>
            </a:avLst>
          </a:prstGeom>
          <a:solidFill>
            <a:srgbClr val="FFFFFF"/>
          </a:solidFill>
          <a:ln w="6350">
            <a:solidFill>
              <a:srgbClr val="E4E4EA"/>
            </a:solidFill>
            <a:prstDash val="solid"/>
          </a:ln>
        </p:spPr>
      </p:sp>
      <p:sp>
        <p:nvSpPr>
          <p:cNvPr id="7" name="Text 5"/>
          <p:cNvSpPr/>
          <p:nvPr/>
        </p:nvSpPr>
        <p:spPr>
          <a:xfrm>
            <a:off x="3931920" y="1737360"/>
            <a:ext cx="1389888" cy="274320"/>
          </a:xfrm>
          <a:prstGeom prst="rect">
            <a:avLst/>
          </a:prstGeom>
          <a:noFill/>
          <a:ln/>
        </p:spPr>
        <p:txBody>
          <a:bodyPr wrap="square" lIns="0" tIns="0" rIns="0" bIns="0" rtlCol="0" anchor="ctr"/>
          <a:lstStyle/>
          <a:p>
            <a:pPr indent="0" marL="0">
              <a:buNone/>
            </a:pPr>
            <a:r>
              <a:rPr lang="en-US" sz="800" b="1" spc="100" kern="0" dirty="0">
                <a:solidFill>
                  <a:srgbClr val="2563EB"/>
                </a:solidFill>
                <a:latin typeface="Courier New" pitchFamily="34" charset="0"/>
                <a:ea typeface="Courier New" pitchFamily="34" charset="-122"/>
                <a:cs typeface="Courier New" pitchFamily="34" charset="-120"/>
              </a:rPr>
              <a:t>01 — Trigger</a:t>
            </a:r>
            <a:endParaRPr lang="en-US" sz="800" dirty="0"/>
          </a:p>
        </p:txBody>
      </p:sp>
      <p:sp>
        <p:nvSpPr>
          <p:cNvPr id="8" name="Text 6"/>
          <p:cNvSpPr/>
          <p:nvPr/>
        </p:nvSpPr>
        <p:spPr>
          <a:xfrm>
            <a:off x="3931920" y="2084832"/>
            <a:ext cx="1389888" cy="2286000"/>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Team meets. HiPPO pushes AR/VR. Ana has doubts but no evidence.</a:t>
            </a:r>
            <a:endParaRPr lang="en-US" sz="850" dirty="0"/>
          </a:p>
        </p:txBody>
      </p:sp>
      <p:sp>
        <p:nvSpPr>
          <p:cNvPr id="9" name="Shape 7"/>
          <p:cNvSpPr/>
          <p:nvPr/>
        </p:nvSpPr>
        <p:spPr>
          <a:xfrm>
            <a:off x="5468112" y="1645920"/>
            <a:ext cx="1572768" cy="2926080"/>
          </a:xfrm>
          <a:prstGeom prst="rect">
            <a:avLst>
              <a:gd name="adj" fmla="val 4070"/>
            </a:avLst>
          </a:prstGeom>
          <a:solidFill>
            <a:srgbClr val="FFFFFF"/>
          </a:solidFill>
          <a:ln w="6350">
            <a:solidFill>
              <a:srgbClr val="E4E4EA"/>
            </a:solidFill>
            <a:prstDash val="solid"/>
          </a:ln>
        </p:spPr>
      </p:sp>
      <p:sp>
        <p:nvSpPr>
          <p:cNvPr id="10" name="Text 8"/>
          <p:cNvSpPr/>
          <p:nvPr/>
        </p:nvSpPr>
        <p:spPr>
          <a:xfrm>
            <a:off x="5559552" y="1737360"/>
            <a:ext cx="1389888" cy="274320"/>
          </a:xfrm>
          <a:prstGeom prst="rect">
            <a:avLst/>
          </a:prstGeom>
          <a:noFill/>
          <a:ln/>
        </p:spPr>
        <p:txBody>
          <a:bodyPr wrap="square" lIns="0" tIns="0" rIns="0" bIns="0" rtlCol="0" anchor="ctr"/>
          <a:lstStyle/>
          <a:p>
            <a:pPr indent="0" marL="0">
              <a:buNone/>
            </a:pPr>
            <a:r>
              <a:rPr lang="en-US" sz="800" b="1" spc="100" kern="0" dirty="0">
                <a:solidFill>
                  <a:srgbClr val="2563EB"/>
                </a:solidFill>
                <a:latin typeface="Courier New" pitchFamily="34" charset="0"/>
                <a:ea typeface="Courier New" pitchFamily="34" charset="-122"/>
                <a:cs typeface="Courier New" pitchFamily="34" charset="-120"/>
              </a:rPr>
              <a:t>02 — Discovery</a:t>
            </a:r>
            <a:endParaRPr lang="en-US" sz="800" dirty="0"/>
          </a:p>
        </p:txBody>
      </p:sp>
      <p:sp>
        <p:nvSpPr>
          <p:cNvPr id="11" name="Text 9"/>
          <p:cNvSpPr/>
          <p:nvPr/>
        </p:nvSpPr>
        <p:spPr>
          <a:xfrm>
            <a:off x="5559552" y="2084832"/>
            <a:ext cx="1389888" cy="2286000"/>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Searches for frameworks. Finds NEXUS. Understands it in 2 min.</a:t>
            </a:r>
            <a:endParaRPr lang="en-US" sz="850" dirty="0"/>
          </a:p>
        </p:txBody>
      </p:sp>
      <p:sp>
        <p:nvSpPr>
          <p:cNvPr id="12" name="Shape 10"/>
          <p:cNvSpPr/>
          <p:nvPr/>
        </p:nvSpPr>
        <p:spPr>
          <a:xfrm>
            <a:off x="7095744" y="1645920"/>
            <a:ext cx="1572768" cy="2926080"/>
          </a:xfrm>
          <a:prstGeom prst="rect">
            <a:avLst>
              <a:gd name="adj" fmla="val 4070"/>
            </a:avLst>
          </a:prstGeom>
          <a:solidFill>
            <a:srgbClr val="FFFFFF"/>
          </a:solidFill>
          <a:ln w="6350">
            <a:solidFill>
              <a:srgbClr val="E4E4EA"/>
            </a:solidFill>
            <a:prstDash val="solid"/>
          </a:ln>
        </p:spPr>
      </p:sp>
      <p:sp>
        <p:nvSpPr>
          <p:cNvPr id="13" name="Text 11"/>
          <p:cNvSpPr/>
          <p:nvPr/>
        </p:nvSpPr>
        <p:spPr>
          <a:xfrm>
            <a:off x="7187184" y="1737360"/>
            <a:ext cx="1389888" cy="274320"/>
          </a:xfrm>
          <a:prstGeom prst="rect">
            <a:avLst/>
          </a:prstGeom>
          <a:noFill/>
          <a:ln/>
        </p:spPr>
        <p:txBody>
          <a:bodyPr wrap="square" lIns="0" tIns="0" rIns="0" bIns="0" rtlCol="0" anchor="ctr"/>
          <a:lstStyle/>
          <a:p>
            <a:pPr indent="0" marL="0">
              <a:buNone/>
            </a:pPr>
            <a:r>
              <a:rPr lang="en-US" sz="800" b="1" spc="100" kern="0" dirty="0">
                <a:solidFill>
                  <a:srgbClr val="2563EB"/>
                </a:solidFill>
                <a:latin typeface="Courier New" pitchFamily="34" charset="0"/>
                <a:ea typeface="Courier New" pitchFamily="34" charset="-122"/>
                <a:cs typeface="Courier New" pitchFamily="34" charset="-120"/>
              </a:rPr>
              <a:t>03 — Assessment</a:t>
            </a:r>
            <a:endParaRPr lang="en-US" sz="800" dirty="0"/>
          </a:p>
        </p:txBody>
      </p:sp>
      <p:sp>
        <p:nvSpPr>
          <p:cNvPr id="14" name="Text 12"/>
          <p:cNvSpPr/>
          <p:nvPr/>
        </p:nvSpPr>
        <p:spPr>
          <a:xfrm>
            <a:off x="7187184" y="2084832"/>
            <a:ext cx="1389888" cy="2286000"/>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Ranks values (Control first). Answers 9 questions. 10 minutes.</a:t>
            </a:r>
            <a:endParaRPr lang="en-US" sz="850" dirty="0"/>
          </a:p>
        </p:txBody>
      </p:sp>
      <p:sp>
        <p:nvSpPr>
          <p:cNvPr id="15" name="Shape 13"/>
          <p:cNvSpPr/>
          <p:nvPr/>
        </p:nvSpPr>
        <p:spPr>
          <a:xfrm>
            <a:off x="8723376" y="1645920"/>
            <a:ext cx="1572768" cy="2926080"/>
          </a:xfrm>
          <a:prstGeom prst="rect">
            <a:avLst>
              <a:gd name="adj" fmla="val 4070"/>
            </a:avLst>
          </a:prstGeom>
          <a:solidFill>
            <a:srgbClr val="FFFFFF"/>
          </a:solidFill>
          <a:ln w="6350">
            <a:solidFill>
              <a:srgbClr val="E4E4EA"/>
            </a:solidFill>
            <a:prstDash val="solid"/>
          </a:ln>
        </p:spPr>
      </p:sp>
      <p:sp>
        <p:nvSpPr>
          <p:cNvPr id="16" name="Text 14"/>
          <p:cNvSpPr/>
          <p:nvPr/>
        </p:nvSpPr>
        <p:spPr>
          <a:xfrm>
            <a:off x="8814816" y="1737360"/>
            <a:ext cx="1389888" cy="274320"/>
          </a:xfrm>
          <a:prstGeom prst="rect">
            <a:avLst/>
          </a:prstGeom>
          <a:noFill/>
          <a:ln/>
        </p:spPr>
        <p:txBody>
          <a:bodyPr wrap="square" lIns="0" tIns="0" rIns="0" bIns="0" rtlCol="0" anchor="ctr"/>
          <a:lstStyle/>
          <a:p>
            <a:pPr indent="0" marL="0">
              <a:buNone/>
            </a:pPr>
            <a:r>
              <a:rPr lang="en-US" sz="800" b="1" spc="100" kern="0" dirty="0">
                <a:solidFill>
                  <a:srgbClr val="2563EB"/>
                </a:solidFill>
                <a:latin typeface="Courier New" pitchFamily="34" charset="0"/>
                <a:ea typeface="Courier New" pitchFamily="34" charset="-122"/>
                <a:cs typeface="Courier New" pitchFamily="34" charset="-120"/>
              </a:rPr>
              <a:t>04 — Interpretation</a:t>
            </a:r>
            <a:endParaRPr lang="en-US" sz="800" dirty="0"/>
          </a:p>
        </p:txBody>
      </p:sp>
      <p:sp>
        <p:nvSpPr>
          <p:cNvPr id="17" name="Text 15"/>
          <p:cNvSpPr/>
          <p:nvPr/>
        </p:nvSpPr>
        <p:spPr>
          <a:xfrm>
            <a:off x="8814816" y="2084832"/>
            <a:ext cx="1389888" cy="2286000"/>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Reads recommendation: Screen + AI. Reviews AR/VR red flags.</a:t>
            </a:r>
            <a:endParaRPr lang="en-US" sz="850" dirty="0"/>
          </a:p>
        </p:txBody>
      </p:sp>
      <p:sp>
        <p:nvSpPr>
          <p:cNvPr id="18" name="Shape 16"/>
          <p:cNvSpPr/>
          <p:nvPr/>
        </p:nvSpPr>
        <p:spPr>
          <a:xfrm>
            <a:off x="10351008" y="1645920"/>
            <a:ext cx="1572768" cy="2926080"/>
          </a:xfrm>
          <a:prstGeom prst="rect">
            <a:avLst>
              <a:gd name="adj" fmla="val 4070"/>
            </a:avLst>
          </a:prstGeom>
          <a:solidFill>
            <a:srgbClr val="2563EB"/>
          </a:solidFill>
          <a:ln w="6350">
            <a:solidFill>
              <a:srgbClr val="2563EB"/>
            </a:solidFill>
            <a:prstDash val="solid"/>
          </a:ln>
        </p:spPr>
      </p:sp>
      <p:sp>
        <p:nvSpPr>
          <p:cNvPr id="19" name="Text 17"/>
          <p:cNvSpPr/>
          <p:nvPr/>
        </p:nvSpPr>
        <p:spPr>
          <a:xfrm>
            <a:off x="10442448" y="1737360"/>
            <a:ext cx="1389888" cy="274320"/>
          </a:xfrm>
          <a:prstGeom prst="rect">
            <a:avLst/>
          </a:prstGeom>
          <a:noFill/>
          <a:ln/>
        </p:spPr>
        <p:txBody>
          <a:bodyPr wrap="square" lIns="0" tIns="0" rIns="0" bIns="0" rtlCol="0" anchor="ctr"/>
          <a:lstStyle/>
          <a:p>
            <a:pPr indent="0" marL="0">
              <a:buNone/>
            </a:pPr>
            <a:r>
              <a:rPr lang="en-US" sz="800" b="1" spc="100" kern="0" dirty="0">
                <a:solidFill>
                  <a:srgbClr val="FFFFFF"/>
                </a:solidFill>
                <a:latin typeface="Courier New" pitchFamily="34" charset="0"/>
                <a:ea typeface="Courier New" pitchFamily="34" charset="-122"/>
                <a:cs typeface="Courier New" pitchFamily="34" charset="-120"/>
              </a:rPr>
              <a:t>05 — Decision</a:t>
            </a:r>
            <a:endParaRPr lang="en-US" sz="800" dirty="0"/>
          </a:p>
        </p:txBody>
      </p:sp>
      <p:sp>
        <p:nvSpPr>
          <p:cNvPr id="20" name="Text 18"/>
          <p:cNvSpPr/>
          <p:nvPr/>
        </p:nvSpPr>
        <p:spPr>
          <a:xfrm>
            <a:off x="10442448" y="2084832"/>
            <a:ext cx="1389888" cy="2286000"/>
          </a:xfrm>
          <a:prstGeom prst="rect">
            <a:avLst/>
          </a:prstGeom>
          <a:noFill/>
          <a:ln/>
        </p:spPr>
        <p:txBody>
          <a:bodyPr wrap="square" lIns="0" tIns="0" rIns="0" bIns="0" rtlCol="0" anchor="t"/>
          <a:lstStyle/>
          <a:p>
            <a:pPr indent="0" marL="0">
              <a:buNone/>
            </a:pPr>
            <a:r>
              <a:rPr lang="en-US" sz="850" dirty="0">
                <a:solidFill>
                  <a:srgbClr val="FFFFFF"/>
                </a:solidFill>
                <a:latin typeface="Calibri" pitchFamily="34" charset="0"/>
                <a:ea typeface="Calibri" pitchFamily="34" charset="-122"/>
                <a:cs typeface="Calibri" pitchFamily="34" charset="-120"/>
              </a:rPr>
              <a:t>Presents report. Team aligns on Screen. Decision in 1 hour.</a:t>
            </a:r>
            <a:endParaRPr lang="en-US" sz="850" dirty="0"/>
          </a:p>
        </p:txBody>
      </p:sp>
      <p:sp>
        <p:nvSpPr>
          <p:cNvPr id="21" name="Text 19"/>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2" name="Text 20"/>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THE TOOL</a:t>
            </a:r>
            <a:endParaRPr lang="en-US" sz="800" dirty="0"/>
          </a:p>
        </p:txBody>
      </p:sp>
      <p:sp>
        <p:nvSpPr>
          <p:cNvPr id="4" name="Text 2"/>
          <p:cNvSpPr/>
          <p:nvPr/>
        </p:nvSpPr>
        <p:spPr>
          <a:xfrm>
            <a:off x="457200" y="594360"/>
            <a:ext cx="3840480" cy="1097280"/>
          </a:xfrm>
          <a:prstGeom prst="rect">
            <a:avLst/>
          </a:prstGeom>
          <a:noFill/>
          <a:ln/>
        </p:spPr>
        <p:txBody>
          <a:bodyPr wrap="square" lIns="0" tIns="0" rIns="0" bIns="0" rtlCol="0" anchor="ctr"/>
          <a:lstStyle/>
          <a:p>
            <a:pPr indent="0" marL="0">
              <a:lnSpc>
                <a:spcPct val="100000"/>
              </a:lnSpc>
              <a:buNone/>
            </a:pPr>
            <a:r>
              <a:rPr lang="en-US" sz="2600" b="1" spc="-100" kern="0" dirty="0">
                <a:solidFill>
                  <a:srgbClr val="18181F"/>
                </a:solidFill>
                <a:latin typeface="Calibri" pitchFamily="34" charset="0"/>
                <a:ea typeface="Calibri" pitchFamily="34" charset="-122"/>
                <a:cs typeface="Calibri" pitchFamily="34" charset="-120"/>
              </a:rPr>
              <a:t>NEXUS in the browser.
</a:t>
            </a:r>
            <a:pPr indent="0" marL="0">
              <a:lnSpc>
                <a:spcPct val="100000"/>
              </a:lnSpc>
              <a:buNone/>
            </a:pPr>
            <a:r>
              <a:rPr lang="en-US" sz="2600" b="1" spc="-100" kern="0" dirty="0">
                <a:solidFill>
                  <a:srgbClr val="2563EB"/>
                </a:solidFill>
                <a:latin typeface="Calibri" pitchFamily="34" charset="0"/>
                <a:ea typeface="Calibri" pitchFamily="34" charset="-122"/>
                <a:cs typeface="Calibri" pitchFamily="34" charset="-120"/>
              </a:rPr>
              <a:t>Live demo.</a:t>
            </a:r>
            <a:endParaRPr lang="en-US" sz="2600" dirty="0"/>
          </a:p>
        </p:txBody>
      </p:sp>
      <p:sp>
        <p:nvSpPr>
          <p:cNvPr id="5" name="Text 3"/>
          <p:cNvSpPr/>
          <p:nvPr/>
        </p:nvSpPr>
        <p:spPr>
          <a:xfrm>
            <a:off x="457200" y="1783080"/>
            <a:ext cx="3840480" cy="731520"/>
          </a:xfrm>
          <a:prstGeom prst="rect">
            <a:avLst/>
          </a:prstGeom>
          <a:noFill/>
          <a:ln/>
        </p:spPr>
        <p:txBody>
          <a:bodyPr wrap="square" lIns="0" tIns="0" rIns="0" bIns="0" rtlCol="0" anchor="ctr"/>
          <a:lstStyle/>
          <a:p>
            <a:pPr indent="0" marL="0">
              <a:buNone/>
            </a:pPr>
            <a:r>
              <a:rPr lang="en-US" sz="1050" dirty="0">
                <a:solidFill>
                  <a:srgbClr val="4B5563"/>
                </a:solidFill>
                <a:latin typeface="Calibri" pitchFamily="34" charset="0"/>
                <a:ea typeface="Calibri" pitchFamily="34" charset="-122"/>
                <a:cs typeface="Calibri" pitchFamily="34" charset="-120"/>
              </a:rPr>
              <a:t>Fifteen minutes, no installation. A guided conversation about values, context, and constraints. Ending in a report, not an answer.</a:t>
            </a:r>
            <a:endParaRPr lang="en-US" sz="1050" dirty="0"/>
          </a:p>
        </p:txBody>
      </p:sp>
      <p:sp>
        <p:nvSpPr>
          <p:cNvPr id="6" name="Shape 4"/>
          <p:cNvSpPr/>
          <p:nvPr/>
        </p:nvSpPr>
        <p:spPr>
          <a:xfrm>
            <a:off x="457200" y="2514600"/>
            <a:ext cx="3840480" cy="457200"/>
          </a:xfrm>
          <a:prstGeom prst="rect">
            <a:avLst/>
          </a:prstGeom>
          <a:solidFill>
            <a:srgbClr val="18181F"/>
          </a:solidFill>
          <a:ln w="12700">
            <a:solidFill>
              <a:srgbClr val="18181F"/>
            </a:solidFill>
            <a:prstDash val="solid"/>
          </a:ln>
        </p:spPr>
      </p:sp>
      <p:sp>
        <p:nvSpPr>
          <p:cNvPr id="7" name="Shape 5"/>
          <p:cNvSpPr/>
          <p:nvPr/>
        </p:nvSpPr>
        <p:spPr>
          <a:xfrm>
            <a:off x="612648" y="2679192"/>
            <a:ext cx="100584" cy="100584"/>
          </a:xfrm>
          <a:prstGeom prst="ellipse">
            <a:avLst/>
          </a:prstGeom>
          <a:solidFill>
            <a:srgbClr val="8AB4FF"/>
          </a:solidFill>
          <a:ln w="12700">
            <a:solidFill>
              <a:srgbClr val="8AB4FF"/>
            </a:solidFill>
            <a:prstDash val="solid"/>
          </a:ln>
        </p:spPr>
      </p:sp>
      <p:sp>
        <p:nvSpPr>
          <p:cNvPr id="8" name="Text 6"/>
          <p:cNvSpPr/>
          <p:nvPr/>
        </p:nvSpPr>
        <p:spPr>
          <a:xfrm>
            <a:off x="804672" y="2578608"/>
            <a:ext cx="3291840" cy="320040"/>
          </a:xfrm>
          <a:prstGeom prst="rect">
            <a:avLst/>
          </a:prstGeom>
          <a:noFill/>
          <a:ln/>
        </p:spPr>
        <p:txBody>
          <a:bodyPr wrap="square" lIns="0" tIns="0" rIns="0" bIns="0" rtlCol="0" anchor="ctr"/>
          <a:lstStyle/>
          <a:p>
            <a:pPr indent="0" marL="0">
              <a:buNone/>
            </a:pPr>
            <a:r>
              <a:rPr lang="en-US" sz="900" b="1" dirty="0">
                <a:solidFill>
                  <a:srgbClr val="FFFFFF"/>
                </a:solidFill>
                <a:latin typeface="Courier New" pitchFamily="34" charset="0"/>
                <a:ea typeface="Courier New" pitchFamily="34" charset="-122"/>
                <a:cs typeface="Courier New" pitchFamily="34" charset="-120"/>
              </a:rPr>
              <a:t>nexus-flame-delta.vercel.app</a:t>
            </a:r>
            <a:endParaRPr lang="en-US" sz="900" dirty="0"/>
          </a:p>
        </p:txBody>
      </p:sp>
      <p:sp>
        <p:nvSpPr>
          <p:cNvPr id="9" name="Text 7"/>
          <p:cNvSpPr/>
          <p:nvPr/>
        </p:nvSpPr>
        <p:spPr>
          <a:xfrm>
            <a:off x="457200" y="3081528"/>
            <a:ext cx="3840480" cy="228600"/>
          </a:xfrm>
          <a:prstGeom prst="rect">
            <a:avLst/>
          </a:prstGeom>
          <a:noFill/>
          <a:ln/>
        </p:spPr>
        <p:txBody>
          <a:bodyPr wrap="square" lIns="0" tIns="0" rIns="0" bIns="0" rtlCol="0" anchor="ctr"/>
          <a:lstStyle/>
          <a:p>
            <a:pPr indent="0" marL="0">
              <a:buNone/>
            </a:pPr>
            <a:r>
              <a:rPr lang="en-US" sz="800" dirty="0">
                <a:solidFill>
                  <a:srgbClr val="6B7280"/>
                </a:solidFill>
                <a:latin typeface="Courier New" pitchFamily="34" charset="0"/>
                <a:ea typeface="Courier New" pitchFamily="34" charset="-122"/>
                <a:cs typeface="Courier New" pitchFamily="34" charset="-120"/>
              </a:rPr>
              <a:t>Open source · MIT License · github.com/Zarfet/reason-road</a:t>
            </a:r>
            <a:endParaRPr lang="en-US" sz="800" dirty="0"/>
          </a:p>
        </p:txBody>
      </p:sp>
      <p:sp>
        <p:nvSpPr>
          <p:cNvPr id="10" name="Shape 8"/>
          <p:cNvSpPr/>
          <p:nvPr/>
        </p:nvSpPr>
        <p:spPr>
          <a:xfrm>
            <a:off x="4572000" y="566928"/>
            <a:ext cx="4114800" cy="4343400"/>
          </a:xfrm>
          <a:prstGeom prst="rect">
            <a:avLst/>
          </a:prstGeom>
          <a:solidFill>
            <a:srgbClr val="FFFFFF"/>
          </a:solidFill>
          <a:ln w="6350">
            <a:solidFill>
              <a:srgbClr val="E4E4EA"/>
            </a:solidFill>
            <a:prstDash val="solid"/>
          </a:ln>
        </p:spPr>
      </p:sp>
      <p:sp>
        <p:nvSpPr>
          <p:cNvPr id="11" name="Shape 9"/>
          <p:cNvSpPr/>
          <p:nvPr/>
        </p:nvSpPr>
        <p:spPr>
          <a:xfrm>
            <a:off x="4709160" y="1682496"/>
            <a:ext cx="3840480" cy="0"/>
          </a:xfrm>
          <a:prstGeom prst="line">
            <a:avLst/>
          </a:prstGeom>
          <a:noFill/>
          <a:ln w="6350">
            <a:solidFill>
              <a:srgbClr val="E4E4EA"/>
            </a:solidFill>
            <a:prstDash val="solid"/>
          </a:ln>
        </p:spPr>
      </p:sp>
      <p:sp>
        <p:nvSpPr>
          <p:cNvPr id="12" name="Text 10"/>
          <p:cNvSpPr/>
          <p:nvPr/>
        </p:nvSpPr>
        <p:spPr>
          <a:xfrm>
            <a:off x="4709160" y="749808"/>
            <a:ext cx="1005840" cy="246888"/>
          </a:xfrm>
          <a:prstGeom prst="rect">
            <a:avLst/>
          </a:prstGeom>
          <a:noFill/>
          <a:ln/>
        </p:spPr>
        <p:txBody>
          <a:bodyPr wrap="square" lIns="0" tIns="0" rIns="0" bIns="0" rtlCol="0" anchor="ctr"/>
          <a:lstStyle/>
          <a:p>
            <a:pPr indent="0" marL="0">
              <a:buNone/>
            </a:pPr>
            <a:r>
              <a:rPr lang="en-US" sz="750" b="1" spc="250" kern="0" dirty="0">
                <a:solidFill>
                  <a:srgbClr val="2563EB"/>
                </a:solidFill>
                <a:latin typeface="Courier New" pitchFamily="34" charset="0"/>
                <a:ea typeface="Courier New" pitchFamily="34" charset="-122"/>
                <a:cs typeface="Courier New" pitchFamily="34" charset="-120"/>
              </a:rPr>
              <a:t>INPUT</a:t>
            </a:r>
            <a:endParaRPr lang="en-US" sz="750" dirty="0"/>
          </a:p>
        </p:txBody>
      </p:sp>
      <p:sp>
        <p:nvSpPr>
          <p:cNvPr id="13" name="Text 11"/>
          <p:cNvSpPr/>
          <p:nvPr/>
        </p:nvSpPr>
        <p:spPr>
          <a:xfrm>
            <a:off x="5806440" y="722376"/>
            <a:ext cx="2724912" cy="329184"/>
          </a:xfrm>
          <a:prstGeom prst="rect">
            <a:avLst/>
          </a:prstGeom>
          <a:noFill/>
          <a:ln/>
        </p:spPr>
        <p:txBody>
          <a:bodyPr wrap="square" lIns="0" tIns="0" rIns="0" bIns="0" rtlCol="0" anchor="ctr"/>
          <a:lstStyle/>
          <a:p>
            <a:pPr indent="0" marL="0">
              <a:buNone/>
            </a:pPr>
            <a:r>
              <a:rPr lang="en-US" sz="1050" b="1" dirty="0">
                <a:solidFill>
                  <a:srgbClr val="18181F"/>
                </a:solidFill>
                <a:latin typeface="Calibri" pitchFamily="34" charset="0"/>
                <a:ea typeface="Calibri" pitchFamily="34" charset="-122"/>
                <a:cs typeface="Calibri" pitchFamily="34" charset="-120"/>
              </a:rPr>
              <a:t>Rank five values.</a:t>
            </a:r>
            <a:endParaRPr lang="en-US" sz="1050" dirty="0"/>
          </a:p>
        </p:txBody>
      </p:sp>
      <p:sp>
        <p:nvSpPr>
          <p:cNvPr id="14" name="Text 12"/>
          <p:cNvSpPr/>
          <p:nvPr/>
        </p:nvSpPr>
        <p:spPr>
          <a:xfrm>
            <a:off x="5806440" y="1078992"/>
            <a:ext cx="2724912" cy="246888"/>
          </a:xfrm>
          <a:prstGeom prst="rect">
            <a:avLst/>
          </a:prstGeom>
          <a:noFill/>
          <a:ln/>
        </p:spPr>
        <p:txBody>
          <a:bodyPr wrap="square" lIns="0" tIns="0" rIns="0" bIns="0" rtlCol="0" anchor="ctr"/>
          <a:lstStyle/>
          <a:p>
            <a:pPr indent="0" marL="0">
              <a:buNone/>
            </a:pPr>
            <a:r>
              <a:rPr lang="en-US" sz="800" dirty="0">
                <a:solidFill>
                  <a:srgbClr val="4B5563"/>
                </a:solidFill>
                <a:latin typeface="Courier New" pitchFamily="34" charset="0"/>
                <a:ea typeface="Courier New" pitchFamily="34" charset="-122"/>
                <a:cs typeface="Courier New" pitchFamily="34" charset="-120"/>
              </a:rPr>
              <a:t>Control · accessibility · sustainability · efficiency · joy.</a:t>
            </a:r>
            <a:endParaRPr lang="en-US" sz="800" dirty="0"/>
          </a:p>
        </p:txBody>
      </p:sp>
      <p:sp>
        <p:nvSpPr>
          <p:cNvPr id="15" name="Shape 13"/>
          <p:cNvSpPr/>
          <p:nvPr/>
        </p:nvSpPr>
        <p:spPr>
          <a:xfrm>
            <a:off x="4709160" y="2706624"/>
            <a:ext cx="3840480" cy="0"/>
          </a:xfrm>
          <a:prstGeom prst="line">
            <a:avLst/>
          </a:prstGeom>
          <a:noFill/>
          <a:ln w="6350">
            <a:solidFill>
              <a:srgbClr val="E4E4EA"/>
            </a:solidFill>
            <a:prstDash val="solid"/>
          </a:ln>
        </p:spPr>
      </p:sp>
      <p:sp>
        <p:nvSpPr>
          <p:cNvPr id="16" name="Text 14"/>
          <p:cNvSpPr/>
          <p:nvPr/>
        </p:nvSpPr>
        <p:spPr>
          <a:xfrm>
            <a:off x="4709160" y="1773936"/>
            <a:ext cx="1005840" cy="246888"/>
          </a:xfrm>
          <a:prstGeom prst="rect">
            <a:avLst/>
          </a:prstGeom>
          <a:noFill/>
          <a:ln/>
        </p:spPr>
        <p:txBody>
          <a:bodyPr wrap="square" lIns="0" tIns="0" rIns="0" bIns="0" rtlCol="0" anchor="ctr"/>
          <a:lstStyle/>
          <a:p>
            <a:pPr indent="0" marL="0">
              <a:buNone/>
            </a:pPr>
            <a:r>
              <a:rPr lang="en-US" sz="750" b="1" spc="250" kern="0" dirty="0">
                <a:solidFill>
                  <a:srgbClr val="2563EB"/>
                </a:solidFill>
                <a:latin typeface="Courier New" pitchFamily="34" charset="0"/>
                <a:ea typeface="Courier New" pitchFamily="34" charset="-122"/>
                <a:cs typeface="Courier New" pitchFamily="34" charset="-120"/>
              </a:rPr>
              <a:t>THEN</a:t>
            </a:r>
            <a:endParaRPr lang="en-US" sz="750" dirty="0"/>
          </a:p>
        </p:txBody>
      </p:sp>
      <p:sp>
        <p:nvSpPr>
          <p:cNvPr id="17" name="Text 15"/>
          <p:cNvSpPr/>
          <p:nvPr/>
        </p:nvSpPr>
        <p:spPr>
          <a:xfrm>
            <a:off x="5806440" y="1746504"/>
            <a:ext cx="2724912" cy="329184"/>
          </a:xfrm>
          <a:prstGeom prst="rect">
            <a:avLst/>
          </a:prstGeom>
          <a:noFill/>
          <a:ln/>
        </p:spPr>
        <p:txBody>
          <a:bodyPr wrap="square" lIns="0" tIns="0" rIns="0" bIns="0" rtlCol="0" anchor="ctr"/>
          <a:lstStyle/>
          <a:p>
            <a:pPr indent="0" marL="0">
              <a:buNone/>
            </a:pPr>
            <a:r>
              <a:rPr lang="en-US" sz="1050" b="1" dirty="0">
                <a:solidFill>
                  <a:srgbClr val="18181F"/>
                </a:solidFill>
                <a:latin typeface="Calibri" pitchFamily="34" charset="0"/>
                <a:ea typeface="Calibri" pitchFamily="34" charset="-122"/>
                <a:cs typeface="Calibri" pitchFamily="34" charset="-120"/>
              </a:rPr>
              <a:t>Answer 15 context questions.</a:t>
            </a:r>
            <a:endParaRPr lang="en-US" sz="1050" dirty="0"/>
          </a:p>
        </p:txBody>
      </p:sp>
      <p:sp>
        <p:nvSpPr>
          <p:cNvPr id="18" name="Text 16"/>
          <p:cNvSpPr/>
          <p:nvPr/>
        </p:nvSpPr>
        <p:spPr>
          <a:xfrm>
            <a:off x="5806440" y="2103120"/>
            <a:ext cx="2724912" cy="246888"/>
          </a:xfrm>
          <a:prstGeom prst="rect">
            <a:avLst/>
          </a:prstGeom>
          <a:noFill/>
          <a:ln/>
        </p:spPr>
        <p:txBody>
          <a:bodyPr wrap="square" lIns="0" tIns="0" rIns="0" bIns="0" rtlCol="0" anchor="ctr"/>
          <a:lstStyle/>
          <a:p>
            <a:pPr indent="0" marL="0">
              <a:buNone/>
            </a:pPr>
            <a:r>
              <a:rPr lang="en-US" sz="800" dirty="0">
                <a:solidFill>
                  <a:srgbClr val="4B5563"/>
                </a:solidFill>
                <a:latin typeface="Courier New" pitchFamily="34" charset="0"/>
                <a:ea typeface="Courier New" pitchFamily="34" charset="-122"/>
                <a:cs typeface="Courier New" pitchFamily="34" charset="-120"/>
              </a:rPr>
              <a:t>Users · frequency · environment · consequence of failure.</a:t>
            </a:r>
            <a:endParaRPr lang="en-US" sz="800" dirty="0"/>
          </a:p>
        </p:txBody>
      </p:sp>
      <p:sp>
        <p:nvSpPr>
          <p:cNvPr id="19" name="Shape 17"/>
          <p:cNvSpPr/>
          <p:nvPr/>
        </p:nvSpPr>
        <p:spPr>
          <a:xfrm>
            <a:off x="4709160" y="3730752"/>
            <a:ext cx="3840480" cy="0"/>
          </a:xfrm>
          <a:prstGeom prst="line">
            <a:avLst/>
          </a:prstGeom>
          <a:noFill/>
          <a:ln w="6350">
            <a:solidFill>
              <a:srgbClr val="E4E4EA"/>
            </a:solidFill>
            <a:prstDash val="solid"/>
          </a:ln>
        </p:spPr>
      </p:sp>
      <p:sp>
        <p:nvSpPr>
          <p:cNvPr id="20" name="Text 18"/>
          <p:cNvSpPr/>
          <p:nvPr/>
        </p:nvSpPr>
        <p:spPr>
          <a:xfrm>
            <a:off x="4709160" y="2798064"/>
            <a:ext cx="1005840" cy="246888"/>
          </a:xfrm>
          <a:prstGeom prst="rect">
            <a:avLst/>
          </a:prstGeom>
          <a:noFill/>
          <a:ln/>
        </p:spPr>
        <p:txBody>
          <a:bodyPr wrap="square" lIns="0" tIns="0" rIns="0" bIns="0" rtlCol="0" anchor="ctr"/>
          <a:lstStyle/>
          <a:p>
            <a:pPr indent="0" marL="0">
              <a:buNone/>
            </a:pPr>
            <a:r>
              <a:rPr lang="en-US" sz="750" b="1" spc="250" kern="0" dirty="0">
                <a:solidFill>
                  <a:srgbClr val="2563EB"/>
                </a:solidFill>
                <a:latin typeface="Courier New" pitchFamily="34" charset="0"/>
                <a:ea typeface="Courier New" pitchFamily="34" charset="-122"/>
                <a:cs typeface="Courier New" pitchFamily="34" charset="-120"/>
              </a:rPr>
              <a:t>OUTPUT</a:t>
            </a:r>
            <a:endParaRPr lang="en-US" sz="750" dirty="0"/>
          </a:p>
        </p:txBody>
      </p:sp>
      <p:sp>
        <p:nvSpPr>
          <p:cNvPr id="21" name="Text 19"/>
          <p:cNvSpPr/>
          <p:nvPr/>
        </p:nvSpPr>
        <p:spPr>
          <a:xfrm>
            <a:off x="5806440" y="2770632"/>
            <a:ext cx="2724912" cy="329184"/>
          </a:xfrm>
          <a:prstGeom prst="rect">
            <a:avLst/>
          </a:prstGeom>
          <a:noFill/>
          <a:ln/>
        </p:spPr>
        <p:txBody>
          <a:bodyPr wrap="square" lIns="0" tIns="0" rIns="0" bIns="0" rtlCol="0" anchor="ctr"/>
          <a:lstStyle/>
          <a:p>
            <a:pPr indent="0" marL="0">
              <a:buNone/>
            </a:pPr>
            <a:r>
              <a:rPr lang="en-US" sz="1050" b="1" dirty="0">
                <a:solidFill>
                  <a:srgbClr val="18181F"/>
                </a:solidFill>
                <a:latin typeface="Calibri" pitchFamily="34" charset="0"/>
                <a:ea typeface="Calibri" pitchFamily="34" charset="-122"/>
                <a:cs typeface="Calibri" pitchFamily="34" charset="-120"/>
              </a:rPr>
              <a:t>A structured report.</a:t>
            </a:r>
            <a:endParaRPr lang="en-US" sz="1050" dirty="0"/>
          </a:p>
        </p:txBody>
      </p:sp>
      <p:sp>
        <p:nvSpPr>
          <p:cNvPr id="22" name="Text 20"/>
          <p:cNvSpPr/>
          <p:nvPr/>
        </p:nvSpPr>
        <p:spPr>
          <a:xfrm>
            <a:off x="5806440" y="3127248"/>
            <a:ext cx="2724912" cy="246888"/>
          </a:xfrm>
          <a:prstGeom prst="rect">
            <a:avLst/>
          </a:prstGeom>
          <a:noFill/>
          <a:ln/>
        </p:spPr>
        <p:txBody>
          <a:bodyPr wrap="square" lIns="0" tIns="0" rIns="0" bIns="0" rtlCol="0" anchor="ctr"/>
          <a:lstStyle/>
          <a:p>
            <a:pPr indent="0" marL="0">
              <a:buNone/>
            </a:pPr>
            <a:r>
              <a:rPr lang="en-US" sz="800" dirty="0">
                <a:solidFill>
                  <a:srgbClr val="4B5563"/>
                </a:solidFill>
                <a:latin typeface="Courier New" pitchFamily="34" charset="0"/>
                <a:ea typeface="Courier New" pitchFamily="34" charset="-122"/>
                <a:cs typeface="Courier New" pitchFamily="34" charset="-120"/>
              </a:rPr>
              <a:t>Type alignment · tensions · relevant historical precedents.</a:t>
            </a:r>
            <a:endParaRPr lang="en-US" sz="800" dirty="0"/>
          </a:p>
        </p:txBody>
      </p:sp>
      <p:sp>
        <p:nvSpPr>
          <p:cNvPr id="23" name="Text 21"/>
          <p:cNvSpPr/>
          <p:nvPr/>
        </p:nvSpPr>
        <p:spPr>
          <a:xfrm>
            <a:off x="4709160" y="3822192"/>
            <a:ext cx="1005840" cy="246888"/>
          </a:xfrm>
          <a:prstGeom prst="rect">
            <a:avLst/>
          </a:prstGeom>
          <a:noFill/>
          <a:ln/>
        </p:spPr>
        <p:txBody>
          <a:bodyPr wrap="square" lIns="0" tIns="0" rIns="0" bIns="0" rtlCol="0" anchor="ctr"/>
          <a:lstStyle/>
          <a:p>
            <a:pPr indent="0" marL="0">
              <a:buNone/>
            </a:pPr>
            <a:r>
              <a:rPr lang="en-US" sz="750" b="1" spc="250" kern="0" dirty="0">
                <a:solidFill>
                  <a:srgbClr val="2563EB"/>
                </a:solidFill>
                <a:latin typeface="Courier New" pitchFamily="34" charset="0"/>
                <a:ea typeface="Courier New" pitchFamily="34" charset="-122"/>
                <a:cs typeface="Courier New" pitchFamily="34" charset="-120"/>
              </a:rPr>
              <a:t>POSITION</a:t>
            </a:r>
            <a:endParaRPr lang="en-US" sz="750" dirty="0"/>
          </a:p>
        </p:txBody>
      </p:sp>
      <p:sp>
        <p:nvSpPr>
          <p:cNvPr id="24" name="Text 22"/>
          <p:cNvSpPr/>
          <p:nvPr/>
        </p:nvSpPr>
        <p:spPr>
          <a:xfrm>
            <a:off x="5806440" y="3794760"/>
            <a:ext cx="2724912" cy="329184"/>
          </a:xfrm>
          <a:prstGeom prst="rect">
            <a:avLst/>
          </a:prstGeom>
          <a:noFill/>
          <a:ln/>
        </p:spPr>
        <p:txBody>
          <a:bodyPr wrap="square" lIns="0" tIns="0" rIns="0" bIns="0" rtlCol="0" anchor="ctr"/>
          <a:lstStyle/>
          <a:p>
            <a:pPr indent="0" marL="0">
              <a:buNone/>
            </a:pPr>
            <a:r>
              <a:rPr lang="en-US" sz="1050" b="1" dirty="0">
                <a:solidFill>
                  <a:srgbClr val="2563EB"/>
                </a:solidFill>
                <a:latin typeface="Calibri" pitchFamily="34" charset="0"/>
                <a:ea typeface="Calibri" pitchFamily="34" charset="-122"/>
                <a:cs typeface="Calibri" pitchFamily="34" charset="-120"/>
              </a:rPr>
              <a:t>It informs. You decide.</a:t>
            </a:r>
            <a:endParaRPr lang="en-US" sz="1050" dirty="0"/>
          </a:p>
        </p:txBody>
      </p:sp>
      <p:sp>
        <p:nvSpPr>
          <p:cNvPr id="25" name="Text 23"/>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6" name="Text 24"/>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10</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CONTRIBUTIONS</a:t>
            </a:r>
            <a:endParaRPr lang="en-US" sz="800" dirty="0"/>
          </a:p>
        </p:txBody>
      </p:sp>
      <p:sp>
        <p:nvSpPr>
          <p:cNvPr id="4" name="Text 2"/>
          <p:cNvSpPr/>
          <p:nvPr/>
        </p:nvSpPr>
        <p:spPr>
          <a:xfrm>
            <a:off x="457200" y="594360"/>
            <a:ext cx="8229600" cy="914400"/>
          </a:xfrm>
          <a:prstGeom prst="rect">
            <a:avLst/>
          </a:prstGeom>
          <a:noFill/>
          <a:ln/>
        </p:spPr>
        <p:txBody>
          <a:bodyPr wrap="square" lIns="0" tIns="0" rIns="0" bIns="0" rtlCol="0" anchor="ctr"/>
          <a:lstStyle/>
          <a:p>
            <a:pPr indent="0" marL="0">
              <a:lnSpc>
                <a:spcPct val="100000"/>
              </a:lnSpc>
              <a:buNone/>
            </a:pPr>
            <a:r>
              <a:rPr lang="en-US" sz="2600" b="1" spc="-100" kern="0" dirty="0">
                <a:solidFill>
                  <a:srgbClr val="18181F"/>
                </a:solidFill>
                <a:latin typeface="Calibri" pitchFamily="34" charset="0"/>
                <a:ea typeface="Calibri" pitchFamily="34" charset="-122"/>
                <a:cs typeface="Calibri" pitchFamily="34" charset="-120"/>
              </a:rPr>
              <a:t>Four contributions.
</a:t>
            </a:r>
            <a:pPr indent="0" marL="0">
              <a:lnSpc>
                <a:spcPct val="100000"/>
              </a:lnSpc>
              <a:buNone/>
            </a:pPr>
            <a:r>
              <a:rPr lang="en-US" sz="2600" b="1" spc="-100" kern="0" dirty="0">
                <a:solidFill>
                  <a:srgbClr val="2563EB"/>
                </a:solidFill>
                <a:latin typeface="Calibri" pitchFamily="34" charset="0"/>
                <a:ea typeface="Calibri" pitchFamily="34" charset="-122"/>
                <a:cs typeface="Calibri" pitchFamily="34" charset="-120"/>
              </a:rPr>
              <a:t>One open platform.</a:t>
            </a:r>
            <a:endParaRPr lang="en-US" sz="2600" dirty="0"/>
          </a:p>
        </p:txBody>
      </p:sp>
      <p:sp>
        <p:nvSpPr>
          <p:cNvPr id="5" name="Shape 3"/>
          <p:cNvSpPr/>
          <p:nvPr/>
        </p:nvSpPr>
        <p:spPr>
          <a:xfrm>
            <a:off x="457200" y="1627632"/>
            <a:ext cx="3977640" cy="1645920"/>
          </a:xfrm>
          <a:prstGeom prst="rect">
            <a:avLst/>
          </a:prstGeom>
          <a:solidFill>
            <a:srgbClr val="FFFFFF"/>
          </a:solidFill>
          <a:ln w="6350">
            <a:solidFill>
              <a:srgbClr val="E4E4EA"/>
            </a:solidFill>
            <a:prstDash val="solid"/>
          </a:ln>
        </p:spPr>
      </p:sp>
      <p:sp>
        <p:nvSpPr>
          <p:cNvPr id="6" name="Text 4"/>
          <p:cNvSpPr/>
          <p:nvPr/>
        </p:nvSpPr>
        <p:spPr>
          <a:xfrm>
            <a:off x="640080" y="1764792"/>
            <a:ext cx="3657600" cy="201168"/>
          </a:xfrm>
          <a:prstGeom prst="rect">
            <a:avLst/>
          </a:prstGeom>
          <a:noFill/>
          <a:ln/>
        </p:spPr>
        <p:txBody>
          <a:bodyPr wrap="square" lIns="0" tIns="0" rIns="0" bIns="0" rtlCol="0" anchor="ctr"/>
          <a:lstStyle/>
          <a:p>
            <a:pPr indent="0" marL="0">
              <a:buNone/>
            </a:pPr>
            <a:r>
              <a:rPr lang="en-US" sz="750" b="1" spc="250" kern="0" dirty="0">
                <a:solidFill>
                  <a:srgbClr val="2563EB"/>
                </a:solidFill>
                <a:latin typeface="Courier New" pitchFamily="34" charset="0"/>
                <a:ea typeface="Courier New" pitchFamily="34" charset="-122"/>
                <a:cs typeface="Courier New" pitchFamily="34" charset="-120"/>
              </a:rPr>
              <a:t>FOR THE FIELD</a:t>
            </a:r>
            <a:endParaRPr lang="en-US" sz="750" dirty="0"/>
          </a:p>
        </p:txBody>
      </p:sp>
      <p:sp>
        <p:nvSpPr>
          <p:cNvPr id="7" name="Text 5"/>
          <p:cNvSpPr/>
          <p:nvPr/>
        </p:nvSpPr>
        <p:spPr>
          <a:xfrm>
            <a:off x="640080" y="2011680"/>
            <a:ext cx="3657600" cy="402336"/>
          </a:xfrm>
          <a:prstGeom prst="rect">
            <a:avLst/>
          </a:prstGeom>
          <a:noFill/>
          <a:ln/>
        </p:spPr>
        <p:txBody>
          <a:bodyPr wrap="square" lIns="0" tIns="0" rIns="0" bIns="0" rtlCol="0" anchor="ctr"/>
          <a:lstStyle/>
          <a:p>
            <a:pPr indent="0" marL="0">
              <a:buNone/>
            </a:pPr>
            <a:r>
              <a:rPr lang="en-US" sz="1200" b="1" dirty="0">
                <a:solidFill>
                  <a:srgbClr val="18181F"/>
                </a:solidFill>
                <a:latin typeface="Calibri" pitchFamily="34" charset="0"/>
                <a:ea typeface="Calibri" pitchFamily="34" charset="-122"/>
                <a:cs typeface="Calibri" pitchFamily="34" charset="-120"/>
              </a:rPr>
              <a:t>A replicable method</a:t>
            </a:r>
            <a:endParaRPr lang="en-US" sz="1200" dirty="0"/>
          </a:p>
        </p:txBody>
      </p:sp>
      <p:sp>
        <p:nvSpPr>
          <p:cNvPr id="8" name="Text 6"/>
          <p:cNvSpPr/>
          <p:nvPr/>
        </p:nvSpPr>
        <p:spPr>
          <a:xfrm>
            <a:off x="640080" y="2468880"/>
            <a:ext cx="3657600" cy="658368"/>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First application of DIKW to interface type selection. Extensible to new types, contexts, and failures not yet documented.</a:t>
            </a:r>
            <a:endParaRPr lang="en-US" sz="850" dirty="0"/>
          </a:p>
        </p:txBody>
      </p:sp>
      <p:sp>
        <p:nvSpPr>
          <p:cNvPr id="9" name="Shape 7"/>
          <p:cNvSpPr/>
          <p:nvPr/>
        </p:nvSpPr>
        <p:spPr>
          <a:xfrm>
            <a:off x="4507992" y="1627632"/>
            <a:ext cx="3977640" cy="1645920"/>
          </a:xfrm>
          <a:prstGeom prst="rect">
            <a:avLst/>
          </a:prstGeom>
          <a:solidFill>
            <a:srgbClr val="FFFFFF"/>
          </a:solidFill>
          <a:ln w="6350">
            <a:solidFill>
              <a:srgbClr val="E4E4EA"/>
            </a:solidFill>
            <a:prstDash val="solid"/>
          </a:ln>
        </p:spPr>
      </p:sp>
      <p:sp>
        <p:nvSpPr>
          <p:cNvPr id="10" name="Text 8"/>
          <p:cNvSpPr/>
          <p:nvPr/>
        </p:nvSpPr>
        <p:spPr>
          <a:xfrm>
            <a:off x="4690872" y="1764792"/>
            <a:ext cx="3657600" cy="201168"/>
          </a:xfrm>
          <a:prstGeom prst="rect">
            <a:avLst/>
          </a:prstGeom>
          <a:noFill/>
          <a:ln/>
        </p:spPr>
        <p:txBody>
          <a:bodyPr wrap="square" lIns="0" tIns="0" rIns="0" bIns="0" rtlCol="0" anchor="ctr"/>
          <a:lstStyle/>
          <a:p>
            <a:pPr indent="0" marL="0">
              <a:buNone/>
            </a:pPr>
            <a:r>
              <a:rPr lang="en-US" sz="750" b="1" spc="250" kern="0" dirty="0">
                <a:solidFill>
                  <a:srgbClr val="2563EB"/>
                </a:solidFill>
                <a:latin typeface="Courier New" pitchFamily="34" charset="0"/>
                <a:ea typeface="Courier New" pitchFamily="34" charset="-122"/>
                <a:cs typeface="Courier New" pitchFamily="34" charset="-120"/>
              </a:rPr>
              <a:t>FOR PRACTICE</a:t>
            </a:r>
            <a:endParaRPr lang="en-US" sz="750" dirty="0"/>
          </a:p>
        </p:txBody>
      </p:sp>
      <p:sp>
        <p:nvSpPr>
          <p:cNvPr id="11" name="Text 9"/>
          <p:cNvSpPr/>
          <p:nvPr/>
        </p:nvSpPr>
        <p:spPr>
          <a:xfrm>
            <a:off x="4690872" y="2011680"/>
            <a:ext cx="3657600" cy="402336"/>
          </a:xfrm>
          <a:prstGeom prst="rect">
            <a:avLst/>
          </a:prstGeom>
          <a:noFill/>
          <a:ln/>
        </p:spPr>
        <p:txBody>
          <a:bodyPr wrap="square" lIns="0" tIns="0" rIns="0" bIns="0" rtlCol="0" anchor="ctr"/>
          <a:lstStyle/>
          <a:p>
            <a:pPr indent="0" marL="0">
              <a:buNone/>
            </a:pPr>
            <a:r>
              <a:rPr lang="en-US" sz="1200" b="1" dirty="0">
                <a:solidFill>
                  <a:srgbClr val="18181F"/>
                </a:solidFill>
                <a:latin typeface="Calibri" pitchFamily="34" charset="0"/>
                <a:ea typeface="Calibri" pitchFamily="34" charset="-122"/>
                <a:cs typeface="Calibri" pitchFamily="34" charset="-120"/>
              </a:rPr>
              <a:t>Evidence to defend good decisions</a:t>
            </a:r>
            <a:endParaRPr lang="en-US" sz="1200" dirty="0"/>
          </a:p>
        </p:txBody>
      </p:sp>
      <p:sp>
        <p:nvSpPr>
          <p:cNvPr id="12" name="Text 10"/>
          <p:cNvSpPr/>
          <p:nvPr/>
        </p:nvSpPr>
        <p:spPr>
          <a:xfrm>
            <a:off x="4690872" y="2468880"/>
            <a:ext cx="3657600" cy="658368"/>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A structured argument for designers. Makes judgment visible, documented, and harder to override by opinion alone, including the HiPPO's.</a:t>
            </a:r>
            <a:endParaRPr lang="en-US" sz="850" dirty="0"/>
          </a:p>
        </p:txBody>
      </p:sp>
      <p:sp>
        <p:nvSpPr>
          <p:cNvPr id="13" name="Shape 11"/>
          <p:cNvSpPr/>
          <p:nvPr/>
        </p:nvSpPr>
        <p:spPr>
          <a:xfrm>
            <a:off x="457200" y="3346704"/>
            <a:ext cx="3977640" cy="1645920"/>
          </a:xfrm>
          <a:prstGeom prst="rect">
            <a:avLst/>
          </a:prstGeom>
          <a:solidFill>
            <a:srgbClr val="FFFFFF"/>
          </a:solidFill>
          <a:ln w="6350">
            <a:solidFill>
              <a:srgbClr val="E4E4EA"/>
            </a:solidFill>
            <a:prstDash val="solid"/>
          </a:ln>
        </p:spPr>
      </p:sp>
      <p:sp>
        <p:nvSpPr>
          <p:cNvPr id="14" name="Text 12"/>
          <p:cNvSpPr/>
          <p:nvPr/>
        </p:nvSpPr>
        <p:spPr>
          <a:xfrm>
            <a:off x="640080" y="3483864"/>
            <a:ext cx="3657600" cy="201168"/>
          </a:xfrm>
          <a:prstGeom prst="rect">
            <a:avLst/>
          </a:prstGeom>
          <a:noFill/>
          <a:ln/>
        </p:spPr>
        <p:txBody>
          <a:bodyPr wrap="square" lIns="0" tIns="0" rIns="0" bIns="0" rtlCol="0" anchor="ctr"/>
          <a:lstStyle/>
          <a:p>
            <a:pPr indent="0" marL="0">
              <a:buNone/>
            </a:pPr>
            <a:r>
              <a:rPr lang="en-US" sz="750" b="1" spc="250" kern="0" dirty="0">
                <a:solidFill>
                  <a:srgbClr val="2563EB"/>
                </a:solidFill>
                <a:latin typeface="Courier New" pitchFamily="34" charset="0"/>
                <a:ea typeface="Courier New" pitchFamily="34" charset="-122"/>
                <a:cs typeface="Courier New" pitchFamily="34" charset="-120"/>
              </a:rPr>
              <a:t>FOR THE COMMUNITY</a:t>
            </a:r>
            <a:endParaRPr lang="en-US" sz="750" dirty="0"/>
          </a:p>
        </p:txBody>
      </p:sp>
      <p:sp>
        <p:nvSpPr>
          <p:cNvPr id="15" name="Text 13"/>
          <p:cNvSpPr/>
          <p:nvPr/>
        </p:nvSpPr>
        <p:spPr>
          <a:xfrm>
            <a:off x="640080" y="3730752"/>
            <a:ext cx="3657600" cy="402336"/>
          </a:xfrm>
          <a:prstGeom prst="rect">
            <a:avLst/>
          </a:prstGeom>
          <a:noFill/>
          <a:ln/>
        </p:spPr>
        <p:txBody>
          <a:bodyPr wrap="square" lIns="0" tIns="0" rIns="0" bIns="0" rtlCol="0" anchor="ctr"/>
          <a:lstStyle/>
          <a:p>
            <a:pPr indent="0" marL="0">
              <a:buNone/>
            </a:pPr>
            <a:r>
              <a:rPr lang="en-US" sz="1200" b="1" dirty="0">
                <a:solidFill>
                  <a:srgbClr val="18181F"/>
                </a:solidFill>
                <a:latin typeface="Calibri" pitchFamily="34" charset="0"/>
                <a:ea typeface="Calibri" pitchFamily="34" charset="-122"/>
                <a:cs typeface="Calibri" pitchFamily="34" charset="-120"/>
              </a:rPr>
              <a:t>Infrastructure that outlives the defense</a:t>
            </a:r>
            <a:endParaRPr lang="en-US" sz="1200" dirty="0"/>
          </a:p>
        </p:txBody>
      </p:sp>
      <p:sp>
        <p:nvSpPr>
          <p:cNvPr id="16" name="Text 14"/>
          <p:cNvSpPr/>
          <p:nvPr/>
        </p:nvSpPr>
        <p:spPr>
          <a:xfrm>
            <a:off x="640080" y="4187952"/>
            <a:ext cx="3657600" cy="658368"/>
          </a:xfrm>
          <a:prstGeom prst="rect">
            <a:avLst/>
          </a:prstGeom>
          <a:noFill/>
          <a:ln/>
        </p:spPr>
        <p:txBody>
          <a:bodyPr wrap="square" lIns="0" tIns="0" rIns="0" bIns="0" rtlCol="0" anchor="t"/>
          <a:lstStyle/>
          <a:p>
            <a:pPr indent="0" marL="0">
              <a:buNone/>
            </a:pPr>
            <a:r>
              <a:rPr lang="en-US" sz="850" dirty="0">
                <a:solidFill>
                  <a:srgbClr val="4B5563"/>
                </a:solidFill>
                <a:latin typeface="Calibri" pitchFamily="34" charset="0"/>
                <a:ea typeface="Calibri" pitchFamily="34" charset="-122"/>
                <a:cs typeface="Calibri" pitchFamily="34" charset="-120"/>
              </a:rPr>
              <a:t>MIT-licensed. Open to all. The research does not end here.</a:t>
            </a:r>
            <a:endParaRPr lang="en-US" sz="850" dirty="0"/>
          </a:p>
        </p:txBody>
      </p:sp>
      <p:sp>
        <p:nvSpPr>
          <p:cNvPr id="17" name="Shape 15"/>
          <p:cNvSpPr/>
          <p:nvPr/>
        </p:nvSpPr>
        <p:spPr>
          <a:xfrm>
            <a:off x="4507992" y="3346704"/>
            <a:ext cx="3977640" cy="1645920"/>
          </a:xfrm>
          <a:prstGeom prst="rect">
            <a:avLst/>
          </a:prstGeom>
          <a:solidFill>
            <a:srgbClr val="EEF2FF"/>
          </a:solidFill>
          <a:ln w="12700">
            <a:solidFill>
              <a:srgbClr val="2563EB"/>
            </a:solidFill>
            <a:prstDash val="solid"/>
          </a:ln>
        </p:spPr>
      </p:sp>
      <p:sp>
        <p:nvSpPr>
          <p:cNvPr id="18" name="Text 16"/>
          <p:cNvSpPr/>
          <p:nvPr/>
        </p:nvSpPr>
        <p:spPr>
          <a:xfrm>
            <a:off x="4690872" y="3483864"/>
            <a:ext cx="3657600" cy="201168"/>
          </a:xfrm>
          <a:prstGeom prst="rect">
            <a:avLst/>
          </a:prstGeom>
          <a:noFill/>
          <a:ln/>
        </p:spPr>
        <p:txBody>
          <a:bodyPr wrap="square" lIns="0" tIns="0" rIns="0" bIns="0" rtlCol="0" anchor="ctr"/>
          <a:lstStyle/>
          <a:p>
            <a:pPr indent="0" marL="0">
              <a:buNone/>
            </a:pPr>
            <a:r>
              <a:rPr lang="en-US" sz="750" b="1" spc="250" kern="0" dirty="0">
                <a:solidFill>
                  <a:srgbClr val="2563EB"/>
                </a:solidFill>
                <a:latin typeface="Courier New" pitchFamily="34" charset="0"/>
                <a:ea typeface="Courier New" pitchFamily="34" charset="-122"/>
                <a:cs typeface="Courier New" pitchFamily="34" charset="-120"/>
              </a:rPr>
              <a:t>AS A POSITION</a:t>
            </a:r>
            <a:endParaRPr lang="en-US" sz="750" dirty="0"/>
          </a:p>
        </p:txBody>
      </p:sp>
      <p:sp>
        <p:nvSpPr>
          <p:cNvPr id="19" name="Text 17"/>
          <p:cNvSpPr/>
          <p:nvPr/>
        </p:nvSpPr>
        <p:spPr>
          <a:xfrm>
            <a:off x="4690872" y="3730752"/>
            <a:ext cx="3657600" cy="402336"/>
          </a:xfrm>
          <a:prstGeom prst="rect">
            <a:avLst/>
          </a:prstGeom>
          <a:noFill/>
          <a:ln/>
        </p:spPr>
        <p:txBody>
          <a:bodyPr wrap="square" lIns="0" tIns="0" rIns="0" bIns="0"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"It informs. It does not decide."</a:t>
            </a:r>
            <a:endParaRPr lang="en-US" sz="1300" dirty="0"/>
          </a:p>
        </p:txBody>
      </p:sp>
      <p:sp>
        <p:nvSpPr>
          <p:cNvPr id="20" name="Text 18"/>
          <p:cNvSpPr/>
          <p:nvPr/>
        </p:nvSpPr>
        <p:spPr>
          <a:xfrm>
            <a:off x="4690872" y="4187952"/>
            <a:ext cx="3657600" cy="658368"/>
          </a:xfrm>
          <a:prstGeom prst="rect">
            <a:avLst/>
          </a:prstGeom>
          <a:noFill/>
          <a:ln/>
        </p:spPr>
        <p:txBody>
          <a:bodyPr wrap="square" lIns="0" tIns="0" rIns="0" bIns="0" rtlCol="0" anchor="t"/>
          <a:lstStyle/>
          <a:p>
            <a:pPr indent="0" marL="0">
              <a:buNone/>
            </a:pPr>
            <a:r>
              <a:rPr lang="en-US" sz="850" dirty="0">
                <a:solidFill>
                  <a:srgbClr val="18181F"/>
                </a:solidFill>
                <a:latin typeface="Calibri" pitchFamily="34" charset="0"/>
                <a:ea typeface="Calibri" pitchFamily="34" charset="-122"/>
                <a:cs typeface="Calibri" pitchFamily="34" charset="-120"/>
              </a:rPr>
              <a:t>Structure in service of human judgment, not instead of it.</a:t>
            </a:r>
            <a:endParaRPr lang="en-US" sz="850" dirty="0"/>
          </a:p>
        </p:txBody>
      </p:sp>
      <p:sp>
        <p:nvSpPr>
          <p:cNvPr id="21" name="Text 19"/>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2" name="Text 20"/>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11</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6"/>
        </a:solidFill>
      </p:bgPr>
    </p:bg>
    <p:spTree>
      <p:nvGrpSpPr>
        <p:cNvPr id="1" name=""/>
        <p:cNvGrpSpPr/>
        <p:nvPr/>
      </p:nvGrpSpPr>
      <p:grpSpPr>
        <a:xfrm>
          <a:off x="0" y="0"/>
          <a:ext cx="0" cy="0"/>
          <a:chOff x="0" y="0"/>
          <a:chExt cx="0" cy="0"/>
        </a:xfrm>
      </p:grpSpPr>
      <p:sp>
        <p:nvSpPr>
          <p:cNvPr id="2" name="Text 0"/>
          <p:cNvSpPr/>
          <p:nvPr/>
        </p:nvSpPr>
        <p:spPr>
          <a:xfrm>
            <a:off x="914400" y="1645920"/>
            <a:ext cx="7315200" cy="1280160"/>
          </a:xfrm>
          <a:prstGeom prst="rect">
            <a:avLst/>
          </a:prstGeom>
          <a:noFill/>
          <a:ln/>
        </p:spPr>
        <p:txBody>
          <a:bodyPr wrap="square" lIns="0" tIns="0" rIns="0" bIns="0" rtlCol="0" anchor="ctr"/>
          <a:lstStyle/>
          <a:p>
            <a:pPr algn="ctr" indent="0" marL="0">
              <a:lnSpc>
                <a:spcPct val="110000"/>
              </a:lnSpc>
              <a:buNone/>
            </a:pPr>
            <a:r>
              <a:rPr lang="en-US" sz="3200" b="1" spc="-150" kern="0" dirty="0">
                <a:solidFill>
                  <a:srgbClr val="18181F"/>
                </a:solidFill>
                <a:latin typeface="Calibri" pitchFamily="34" charset="0"/>
                <a:ea typeface="Calibri" pitchFamily="34" charset="-122"/>
                <a:cs typeface="Calibri" pitchFamily="34" charset="-120"/>
              </a:rPr>
              <a:t>Under a minute.
</a:t>
            </a:r>
            <a:pPr algn="ctr" indent="0" marL="0">
              <a:lnSpc>
                <a:spcPct val="110000"/>
              </a:lnSpc>
              <a:buNone/>
            </a:pPr>
            <a:r>
              <a:rPr lang="en-US" sz="3200" b="1" spc="-150" kern="0" dirty="0">
                <a:solidFill>
                  <a:srgbClr val="2563EB"/>
                </a:solidFill>
                <a:latin typeface="Calibri" pitchFamily="34" charset="0"/>
                <a:ea typeface="Calibri" pitchFamily="34" charset="-122"/>
                <a:cs typeface="Calibri" pitchFamily="34" charset="-120"/>
              </a:rPr>
              <a:t>Everything you just heard, in motion.</a:t>
            </a:r>
            <a:endParaRPr lang="en-US" sz="3200" dirty="0"/>
          </a:p>
        </p:txBody>
      </p:sp>
      <p:sp>
        <p:nvSpPr>
          <p:cNvPr id="3" name="Text 1"/>
          <p:cNvSpPr/>
          <p:nvPr/>
        </p:nvSpPr>
        <p:spPr>
          <a:xfrm>
            <a:off x="2286000" y="3108960"/>
            <a:ext cx="4572000" cy="457200"/>
          </a:xfrm>
          <a:prstGeom prst="rect">
            <a:avLst/>
          </a:prstGeom>
          <a:noFill/>
          <a:ln/>
        </p:spPr>
        <p:txBody>
          <a:bodyPr wrap="square" lIns="0" tIns="0" rIns="0" bIns="0"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 Video: nexus_process.gif ]</a:t>
            </a:r>
            <a:endParaRPr lang="en-US" sz="1000" dirty="0"/>
          </a:p>
        </p:txBody>
      </p:sp>
      <p:sp>
        <p:nvSpPr>
          <p:cNvPr id="4" name="Text 2"/>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5" name="Text 3"/>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4F6"/>
        </a:solidFill>
      </p:bgPr>
    </p:bg>
    <p:spTree>
      <p:nvGrpSpPr>
        <p:cNvPr id="1" name=""/>
        <p:cNvGrpSpPr/>
        <p:nvPr/>
      </p:nvGrpSpPr>
      <p:grpSpPr>
        <a:xfrm>
          <a:off x="0" y="0"/>
          <a:ext cx="0" cy="0"/>
          <a:chOff x="0" y="0"/>
          <a:chExt cx="0" cy="0"/>
        </a:xfrm>
      </p:grpSpPr>
      <p:sp>
        <p:nvSpPr>
          <p:cNvPr id="2" name="Text 0"/>
          <p:cNvSpPr/>
          <p:nvPr/>
        </p:nvSpPr>
        <p:spPr>
          <a:xfrm>
            <a:off x="457200" y="640080"/>
            <a:ext cx="7315200" cy="3108960"/>
          </a:xfrm>
          <a:prstGeom prst="rect">
            <a:avLst/>
          </a:prstGeom>
          <a:noFill/>
          <a:ln/>
        </p:spPr>
        <p:txBody>
          <a:bodyPr wrap="square" lIns="0" tIns="0" rIns="0" bIns="0" rtlCol="0" anchor="ctr"/>
          <a:lstStyle/>
          <a:p>
            <a:pPr indent="0" marL="0">
              <a:lnSpc>
                <a:spcPct val="95000"/>
              </a:lnSpc>
              <a:buNone/>
            </a:pPr>
            <a:r>
              <a:rPr lang="en-US" sz="7200" b="1" spc="-300" kern="0" dirty="0">
                <a:solidFill>
                  <a:srgbClr val="18181F"/>
                </a:solidFill>
                <a:latin typeface="Calibri" pitchFamily="34" charset="0"/>
                <a:ea typeface="Calibri" pitchFamily="34" charset="-122"/>
                <a:cs typeface="Calibri" pitchFamily="34" charset="-120"/>
              </a:rPr>
              <a:t>Thank
</a:t>
            </a:r>
            <a:pPr indent="0" marL="0">
              <a:lnSpc>
                <a:spcPct val="95000"/>
              </a:lnSpc>
              <a:buNone/>
            </a:pPr>
            <a:r>
              <a:rPr lang="en-US" sz="7200" b="1" spc="-300" kern="0" dirty="0">
                <a:solidFill>
                  <a:srgbClr val="2563EB"/>
                </a:solidFill>
                <a:latin typeface="Calibri" pitchFamily="34" charset="0"/>
                <a:ea typeface="Calibri" pitchFamily="34" charset="-122"/>
                <a:cs typeface="Calibri" pitchFamily="34" charset="-120"/>
              </a:rPr>
              <a:t>you.</a:t>
            </a:r>
            <a:endParaRPr lang="en-US" sz="7200" dirty="0"/>
          </a:p>
        </p:txBody>
      </p:sp>
      <p:sp>
        <p:nvSpPr>
          <p:cNvPr id="3" name="Text 1"/>
          <p:cNvSpPr/>
          <p:nvPr/>
        </p:nvSpPr>
        <p:spPr>
          <a:xfrm>
            <a:off x="457200" y="3749040"/>
            <a:ext cx="6400800" cy="594360"/>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NEXUS · Evidence-based interface selection.</a:t>
            </a:r>
            <a:endParaRPr lang="en-US" sz="1150" dirty="0"/>
          </a:p>
          <a:p>
            <a:pPr indent="0" marL="0">
              <a:buNone/>
            </a:pPr>
            <a:r>
              <a:rPr lang="en-US" sz="1150" dirty="0">
                <a:solidFill>
                  <a:srgbClr val="4B5563"/>
                </a:solidFill>
                <a:latin typeface="Calibri" pitchFamily="34" charset="0"/>
                <a:ea typeface="Calibri" pitchFamily="34" charset="-122"/>
                <a:cs typeface="Calibri" pitchFamily="34" charset="-120"/>
              </a:rPr>
              <a:t>Open source, and yours to use.</a:t>
            </a:r>
            <a:endParaRPr lang="en-US" sz="1150" dirty="0"/>
          </a:p>
        </p:txBody>
      </p:sp>
      <p:sp>
        <p:nvSpPr>
          <p:cNvPr id="4" name="Text 2"/>
          <p:cNvSpPr/>
          <p:nvPr/>
        </p:nvSpPr>
        <p:spPr>
          <a:xfrm>
            <a:off x="457200" y="4462272"/>
            <a:ext cx="2743200" cy="219456"/>
          </a:xfrm>
          <a:prstGeom prst="rect">
            <a:avLst/>
          </a:prstGeom>
          <a:noFill/>
          <a:ln/>
        </p:spPr>
        <p:txBody>
          <a:bodyPr wrap="square" lIns="0" tIns="0" rIns="0" bIns="0" rtlCol="0" anchor="ctr"/>
          <a:lstStyle/>
          <a:p>
            <a:pPr indent="0" marL="0">
              <a:buNone/>
            </a:pPr>
            <a:r>
              <a:rPr lang="en-US" sz="800" b="1" dirty="0">
                <a:solidFill>
                  <a:srgbClr val="2563EB"/>
                </a:solidFill>
                <a:latin typeface="Courier New" pitchFamily="34" charset="0"/>
                <a:ea typeface="Courier New" pitchFamily="34" charset="-122"/>
                <a:cs typeface="Courier New" pitchFamily="34" charset="-120"/>
              </a:rPr>
              <a:t>TOOL  </a:t>
            </a:r>
            <a:pPr indent="0" marL="0">
              <a:buNone/>
            </a:pPr>
            <a:r>
              <a:rPr lang="en-US" sz="800" dirty="0">
                <a:solidFill>
                  <a:srgbClr val="6B7280"/>
                </a:solidFill>
                <a:latin typeface="Courier New" pitchFamily="34" charset="0"/>
                <a:ea typeface="Courier New" pitchFamily="34" charset="-122"/>
                <a:cs typeface="Courier New" pitchFamily="34" charset="-120"/>
              </a:rPr>
              <a:t>nexus-flame-delta.vercel.app</a:t>
            </a:r>
            <a:endParaRPr lang="en-US" sz="800" dirty="0"/>
          </a:p>
        </p:txBody>
      </p:sp>
      <p:sp>
        <p:nvSpPr>
          <p:cNvPr id="5" name="Text 3"/>
          <p:cNvSpPr/>
          <p:nvPr/>
        </p:nvSpPr>
        <p:spPr>
          <a:xfrm>
            <a:off x="3291840" y="4462272"/>
            <a:ext cx="2743200" cy="219456"/>
          </a:xfrm>
          <a:prstGeom prst="rect">
            <a:avLst/>
          </a:prstGeom>
          <a:noFill/>
          <a:ln/>
        </p:spPr>
        <p:txBody>
          <a:bodyPr wrap="square" lIns="0" tIns="0" rIns="0" bIns="0" rtlCol="0" anchor="ctr"/>
          <a:lstStyle/>
          <a:p>
            <a:pPr indent="0" marL="0">
              <a:buNone/>
            </a:pPr>
            <a:r>
              <a:rPr lang="en-US" sz="800" b="1" dirty="0">
                <a:solidFill>
                  <a:srgbClr val="2563EB"/>
                </a:solidFill>
                <a:latin typeface="Courier New" pitchFamily="34" charset="0"/>
                <a:ea typeface="Courier New" pitchFamily="34" charset="-122"/>
                <a:cs typeface="Courier New" pitchFamily="34" charset="-120"/>
              </a:rPr>
              <a:t>CODE  </a:t>
            </a:r>
            <a:pPr indent="0" marL="0">
              <a:buNone/>
            </a:pPr>
            <a:r>
              <a:rPr lang="en-US" sz="800" dirty="0">
                <a:solidFill>
                  <a:srgbClr val="6B7280"/>
                </a:solidFill>
                <a:latin typeface="Courier New" pitchFamily="34" charset="0"/>
                <a:ea typeface="Courier New" pitchFamily="34" charset="-122"/>
                <a:cs typeface="Courier New" pitchFamily="34" charset="-120"/>
              </a:rPr>
              <a:t>github.com/Zarfet/reason-road</a:t>
            </a:r>
            <a:endParaRPr lang="en-US" sz="800" dirty="0"/>
          </a:p>
        </p:txBody>
      </p:sp>
      <p:sp>
        <p:nvSpPr>
          <p:cNvPr id="6" name="Text 4"/>
          <p:cNvSpPr/>
          <p:nvPr/>
        </p:nvSpPr>
        <p:spPr>
          <a:xfrm>
            <a:off x="6126480" y="4462272"/>
            <a:ext cx="2743200" cy="219456"/>
          </a:xfrm>
          <a:prstGeom prst="rect">
            <a:avLst/>
          </a:prstGeom>
          <a:noFill/>
          <a:ln/>
        </p:spPr>
        <p:txBody>
          <a:bodyPr wrap="square" lIns="0" tIns="0" rIns="0" bIns="0" rtlCol="0" anchor="ctr"/>
          <a:lstStyle/>
          <a:p>
            <a:pPr indent="0" marL="0">
              <a:buNone/>
            </a:pPr>
            <a:r>
              <a:rPr lang="en-US" sz="800" b="1" dirty="0">
                <a:solidFill>
                  <a:srgbClr val="2563EB"/>
                </a:solidFill>
                <a:latin typeface="Courier New" pitchFamily="34" charset="0"/>
                <a:ea typeface="Courier New" pitchFamily="34" charset="-122"/>
                <a:cs typeface="Courier New" pitchFamily="34" charset="-120"/>
              </a:rPr>
              <a:t>LICENSE  </a:t>
            </a:r>
            <a:pPr indent="0" marL="0">
              <a:buNone/>
            </a:pPr>
            <a:r>
              <a:rPr lang="en-US" sz="800" dirty="0">
                <a:solidFill>
                  <a:srgbClr val="6B7280"/>
                </a:solidFill>
                <a:latin typeface="Courier New" pitchFamily="34" charset="0"/>
                <a:ea typeface="Courier New" pitchFamily="34" charset="-122"/>
                <a:cs typeface="Courier New" pitchFamily="34" charset="-120"/>
              </a:rPr>
              <a:t>MIT</a:t>
            </a:r>
            <a:endParaRPr lang="en-US" sz="800" dirty="0"/>
          </a:p>
        </p:txBody>
      </p:sp>
      <p:sp>
        <p:nvSpPr>
          <p:cNvPr id="7" name="Text 5"/>
          <p:cNvSpPr/>
          <p:nvPr/>
        </p:nvSpPr>
        <p:spPr>
          <a:xfrm>
            <a:off x="6400800" y="320040"/>
            <a:ext cx="2468880" cy="219456"/>
          </a:xfrm>
          <a:prstGeom prst="rect">
            <a:avLst/>
          </a:prstGeom>
          <a:noFill/>
          <a:ln/>
        </p:spPr>
        <p:txBody>
          <a:bodyPr wrap="square" lIns="0" tIns="0" rIns="0" bIns="0" rtlCol="0" anchor="ctr"/>
          <a:lstStyle/>
          <a:p>
            <a:pPr algn="r" indent="0" marL="0">
              <a:buNone/>
            </a:pPr>
            <a:r>
              <a:rPr lang="en-US" sz="800" spc="100" kern="0" dirty="0">
                <a:solidFill>
                  <a:srgbClr val="2563EB"/>
                </a:solidFill>
                <a:latin typeface="Courier New" pitchFamily="34" charset="0"/>
                <a:ea typeface="Courier New" pitchFamily="34" charset="-122"/>
                <a:cs typeface="Courier New" pitchFamily="34" charset="-120"/>
              </a:rPr>
              <a:t>End · Questions welcome</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BACKUP · FRAMEWORK SELECTION</a:t>
            </a:r>
            <a:endParaRPr lang="en-US" sz="800" dirty="0"/>
          </a:p>
        </p:txBody>
      </p:sp>
      <p:sp>
        <p:nvSpPr>
          <p:cNvPr id="4" name="Text 2"/>
          <p:cNvSpPr/>
          <p:nvPr/>
        </p:nvSpPr>
        <p:spPr>
          <a:xfrm>
            <a:off x="457200" y="64008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Why DIKW and not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Cynefin, AHP, or TAM?</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3474720"/>
                <a:gridCol w="1463040"/>
                <a:gridCol w="822960"/>
                <a:gridCol w="822960"/>
                <a:gridCol w="1645920"/>
              </a:tblGrid>
              <a:tr h="384048">
                <a:tc>
                  <a:txBody>
                    <a:bodyPr/>
                    <a:lstStyle/>
                    <a:p>
                      <a:pPr indent="0" marL="0">
                        <a:buNone/>
                      </a:pPr>
                      <a:r>
                        <a:rPr lang="en-US" sz="800" spc="200" kern="0" dirty="0">
                          <a:solidFill>
                            <a:srgbClr val="6B7280"/>
                          </a:solidFill>
                          <a:latin typeface="Courier New" pitchFamily="34" charset="0"/>
                          <a:ea typeface="Courier New" pitchFamily="34" charset="-122"/>
                          <a:cs typeface="Courier New" pitchFamily="34" charset="-120"/>
                        </a:rPr>
                        <a:t>Requirement</a:t>
                      </a:r>
                      <a:endParaRPr lang="en-US" sz="8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4F4F6"/>
                    </a:solidFill>
                  </a:tcPr>
                </a:tc>
                <a:tc>
                  <a:txBody>
                    <a:bodyPr/>
                    <a:lstStyle/>
                    <a:p>
                      <a:pPr algn="ctr" indent="0" marL="0">
                        <a:buNone/>
                      </a:pPr>
                      <a:r>
                        <a:rPr lang="en-US" sz="800" spc="200" kern="0" dirty="0">
                          <a:solidFill>
                            <a:srgbClr val="6B7280"/>
                          </a:solidFill>
                          <a:latin typeface="Courier New" pitchFamily="34" charset="0"/>
                          <a:ea typeface="Courier New" pitchFamily="34" charset="-122"/>
                          <a:cs typeface="Courier New" pitchFamily="34" charset="-120"/>
                        </a:rPr>
                        <a:t>Design Thinking</a:t>
                      </a:r>
                      <a:endParaRPr lang="en-US" sz="8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4F4F6"/>
                    </a:solidFill>
                  </a:tcPr>
                </a:tc>
                <a:tc>
                  <a:txBody>
                    <a:bodyPr/>
                    <a:lstStyle/>
                    <a:p>
                      <a:pPr algn="ctr" indent="0" marL="0">
                        <a:buNone/>
                      </a:pPr>
                      <a:r>
                        <a:rPr lang="en-US" sz="800" spc="200" kern="0" dirty="0">
                          <a:solidFill>
                            <a:srgbClr val="6B7280"/>
                          </a:solidFill>
                          <a:latin typeface="Courier New" pitchFamily="34" charset="0"/>
                          <a:ea typeface="Courier New" pitchFamily="34" charset="-122"/>
                          <a:cs typeface="Courier New" pitchFamily="34" charset="-120"/>
                        </a:rPr>
                        <a:t>TAM</a:t>
                      </a:r>
                      <a:endParaRPr lang="en-US" sz="8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4F4F6"/>
                    </a:solidFill>
                  </a:tcPr>
                </a:tc>
                <a:tc>
                  <a:txBody>
                    <a:bodyPr/>
                    <a:lstStyle/>
                    <a:p>
                      <a:pPr algn="ctr" indent="0" marL="0">
                        <a:buNone/>
                      </a:pPr>
                      <a:r>
                        <a:rPr lang="en-US" sz="800" spc="200" kern="0" dirty="0">
                          <a:solidFill>
                            <a:srgbClr val="6B7280"/>
                          </a:solidFill>
                          <a:latin typeface="Courier New" pitchFamily="34" charset="0"/>
                          <a:ea typeface="Courier New" pitchFamily="34" charset="-122"/>
                          <a:cs typeface="Courier New" pitchFamily="34" charset="-120"/>
                        </a:rPr>
                        <a:t>MCDA</a:t>
                      </a:r>
                      <a:endParaRPr lang="en-US" sz="8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4F4F6"/>
                    </a:solidFill>
                  </a:tcPr>
                </a:tc>
                <a:tc>
                  <a:txBody>
                    <a:bodyPr/>
                    <a:lstStyle/>
                    <a:p>
                      <a:pPr algn="ctr" indent="0" marL="0">
                        <a:buNone/>
                      </a:pPr>
                      <a:r>
                        <a:rPr lang="en-US" sz="800" b="1" spc="200" kern="0" dirty="0">
                          <a:solidFill>
                            <a:srgbClr val="2563EB"/>
                          </a:solidFill>
                          <a:latin typeface="Courier New" pitchFamily="34" charset="0"/>
                          <a:ea typeface="Courier New" pitchFamily="34" charset="-122"/>
                          <a:cs typeface="Courier New" pitchFamily="34" charset="-120"/>
                        </a:rPr>
                        <a:t>DIKW</a:t>
                      </a:r>
                      <a:endParaRPr lang="en-US" sz="800" dirty="0">
                        <a:latin typeface="Courier New" charset="0"/>
                        <a:ea typeface="Courier New" charset="0"/>
                        <a:cs typeface="Courier New"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4F4F6"/>
                    </a:solidFill>
                  </a:tcPr>
                </a:tc>
              </a:tr>
              <a:tr h="384048">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Operates before type selection</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Partial</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r>
              <a:tr h="384048">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Accommodates values without quantification</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r>
              <a:tr h="384048">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Enables cross-type comparison</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r>
              <a:tr h="384048">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Incorporates documented failure patterns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r>
              <a:tr h="384048">
                <a:tc>
                  <a:txBody>
                    <a:bodyPr/>
                    <a:lstStyle/>
                    <a:p>
                      <a:pPr indent="0" marL="0">
                        <a:buNone/>
                      </a:pPr>
                      <a:r>
                        <a:rPr lang="en-US" sz="900" dirty="0">
                          <a:solidFill>
                            <a:srgbClr val="18181F"/>
                          </a:solidFill>
                          <a:latin typeface="Calibri" pitchFamily="34" charset="0"/>
                          <a:ea typeface="Calibri" pitchFamily="34" charset="-122"/>
                          <a:cs typeface="Calibri" pitchFamily="34" charset="-120"/>
                        </a:rPr>
                        <a:t>Accessible to non-specialist practitioners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6B728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2563EB"/>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lnL w="6350" cap="flat" cmpd="sng" algn="ctr">
                      <a:solidFill>
                        <a:srgbClr val="E4E4EA"/>
                      </a:solidFill>
                      <a:prstDash val="solid"/>
                      <a:round/>
                      <a:headEnd type="none" w="med" len="med"/>
                      <a:tailEnd type="none" w="med" len="med"/>
                    </a:lnL>
                    <a:lnR w="6350" cap="flat" cmpd="sng" algn="ctr">
                      <a:solidFill>
                        <a:srgbClr val="E4E4EA"/>
                      </a:solidFill>
                      <a:prstDash val="solid"/>
                      <a:round/>
                      <a:headEnd type="none" w="med" len="med"/>
                      <a:tailEnd type="none" w="med" len="med"/>
                    </a:lnR>
                    <a:lnT w="6350" cap="flat" cmpd="sng" algn="ctr">
                      <a:solidFill>
                        <a:srgbClr val="E4E4EA"/>
                      </a:solidFill>
                      <a:prstDash val="solid"/>
                      <a:round/>
                      <a:headEnd type="none" w="med" len="med"/>
                      <a:tailEnd type="none" w="med" len="med"/>
                    </a:lnT>
                    <a:lnB w="6350" cap="flat" cmpd="sng" algn="ctr">
                      <a:solidFill>
                        <a:srgbClr val="E4E4EA"/>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7" name="Text 4"/>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B1</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BACKUP · METHODOLOGY</a:t>
            </a:r>
            <a:endParaRPr lang="en-US" sz="800" dirty="0"/>
          </a:p>
        </p:txBody>
      </p:sp>
      <p:sp>
        <p:nvSpPr>
          <p:cNvPr id="4" name="Text 2"/>
          <p:cNvSpPr/>
          <p:nvPr/>
        </p:nvSpPr>
        <p:spPr>
          <a:xfrm>
            <a:off x="457200" y="64008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Why these five cases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and not others?</a:t>
            </a:r>
            <a:endParaRPr lang="en-US" sz="2800" dirty="0"/>
          </a:p>
        </p:txBody>
      </p:sp>
      <p:sp>
        <p:nvSpPr>
          <p:cNvPr id="5" name="Shape 3"/>
          <p:cNvSpPr/>
          <p:nvPr/>
        </p:nvSpPr>
        <p:spPr>
          <a:xfrm>
            <a:off x="457200" y="1737360"/>
            <a:ext cx="3977640" cy="1417320"/>
          </a:xfrm>
          <a:prstGeom prst="rect">
            <a:avLst/>
          </a:prstGeom>
          <a:solidFill>
            <a:srgbClr val="EEF3FF"/>
          </a:solidFill>
          <a:ln w="9525">
            <a:solidFill>
              <a:srgbClr val="2563EB"/>
            </a:solidFill>
            <a:prstDash val="solid"/>
          </a:ln>
        </p:spPr>
      </p:sp>
      <p:sp>
        <p:nvSpPr>
          <p:cNvPr id="6" name="Shape 4"/>
          <p:cNvSpPr/>
          <p:nvPr/>
        </p:nvSpPr>
        <p:spPr>
          <a:xfrm>
            <a:off x="457200" y="1737360"/>
            <a:ext cx="45720" cy="1417320"/>
          </a:xfrm>
          <a:prstGeom prst="rect">
            <a:avLst/>
          </a:prstGeom>
          <a:solidFill>
            <a:srgbClr val="2563EB"/>
          </a:solidFill>
          <a:ln w="12700">
            <a:solidFill>
              <a:srgbClr val="2563EB"/>
            </a:solidFill>
            <a:prstDash val="solid"/>
          </a:ln>
        </p:spPr>
      </p:sp>
      <p:sp>
        <p:nvSpPr>
          <p:cNvPr id="7" name="Text 5"/>
          <p:cNvSpPr/>
          <p:nvPr/>
        </p:nvSpPr>
        <p:spPr>
          <a:xfrm>
            <a:off x="457200" y="1865376"/>
            <a:ext cx="3977640" cy="201168"/>
          </a:xfrm>
          <a:prstGeom prst="rect">
            <a:avLst/>
          </a:prstGeom>
          <a:noFill/>
          <a:ln/>
        </p:spPr>
        <p:txBody>
          <a:bodyPr wrap="square" lIns="0" tIns="0" rIns="0" bIns="0" rtlCol="0" anchor="ctr"/>
          <a:lstStyle/>
          <a:p>
            <a:pPr algn="ctr" indent="0" marL="0">
              <a:buNone/>
            </a:pPr>
            <a:r>
              <a:rPr lang="en-US" sz="800" b="1" spc="150" kern="0" dirty="0">
                <a:solidFill>
                  <a:srgbClr val="2563EB"/>
                </a:solidFill>
                <a:latin typeface="Courier New" pitchFamily="34" charset="0"/>
                <a:ea typeface="Courier New" pitchFamily="34" charset="-122"/>
                <a:cs typeface="Courier New" pitchFamily="34" charset="-120"/>
              </a:rPr>
              <a:t>01</a:t>
            </a:r>
            <a:endParaRPr lang="en-US" sz="800" dirty="0"/>
          </a:p>
        </p:txBody>
      </p:sp>
      <p:sp>
        <p:nvSpPr>
          <p:cNvPr id="8" name="Text 6"/>
          <p:cNvSpPr/>
          <p:nvPr/>
        </p:nvSpPr>
        <p:spPr>
          <a:xfrm>
            <a:off x="457200" y="2103120"/>
            <a:ext cx="3977640" cy="384048"/>
          </a:xfrm>
          <a:prstGeom prst="rect">
            <a:avLst/>
          </a:prstGeom>
          <a:noFill/>
          <a:ln/>
        </p:spPr>
        <p:txBody>
          <a:bodyPr wrap="square" lIns="0" tIns="0" rIns="0" bIns="0" rtlCol="0" anchor="ctr"/>
          <a:lstStyle/>
          <a:p>
            <a:pPr algn="ctr" indent="0" marL="0">
              <a:buNone/>
            </a:pPr>
            <a:r>
              <a:rPr lang="en-US" sz="2000" b="1" dirty="0">
                <a:solidFill>
                  <a:srgbClr val="18181F"/>
                </a:solidFill>
                <a:latin typeface="Calibri" pitchFamily="34" charset="0"/>
                <a:ea typeface="Calibri" pitchFamily="34" charset="-122"/>
                <a:cs typeface="Calibri" pitchFamily="34" charset="-120"/>
              </a:rPr>
              <a:t>Commercial impact</a:t>
            </a:r>
            <a:endParaRPr lang="en-US" sz="2000" dirty="0"/>
          </a:p>
        </p:txBody>
      </p:sp>
      <p:sp>
        <p:nvSpPr>
          <p:cNvPr id="9" name="Text 7"/>
          <p:cNvSpPr/>
          <p:nvPr/>
        </p:nvSpPr>
        <p:spPr>
          <a:xfrm>
            <a:off x="621792" y="2542032"/>
            <a:ext cx="3648456" cy="50292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Min. €100M investment or significant market withdrawal.</a:t>
            </a:r>
            <a:endParaRPr lang="en-US" sz="900" dirty="0"/>
          </a:p>
        </p:txBody>
      </p:sp>
      <p:sp>
        <p:nvSpPr>
          <p:cNvPr id="10" name="Shape 8"/>
          <p:cNvSpPr/>
          <p:nvPr/>
        </p:nvSpPr>
        <p:spPr>
          <a:xfrm>
            <a:off x="4709160" y="1737360"/>
            <a:ext cx="3977640" cy="1417320"/>
          </a:xfrm>
          <a:prstGeom prst="rect">
            <a:avLst/>
          </a:prstGeom>
          <a:solidFill>
            <a:srgbClr val="FFFFFF"/>
          </a:solidFill>
          <a:ln w="6350">
            <a:solidFill>
              <a:srgbClr val="E4E4EA"/>
            </a:solidFill>
            <a:prstDash val="solid"/>
          </a:ln>
        </p:spPr>
      </p:sp>
      <p:sp>
        <p:nvSpPr>
          <p:cNvPr id="11" name="Text 9"/>
          <p:cNvSpPr/>
          <p:nvPr/>
        </p:nvSpPr>
        <p:spPr>
          <a:xfrm>
            <a:off x="4709160" y="1865376"/>
            <a:ext cx="3977640" cy="201168"/>
          </a:xfrm>
          <a:prstGeom prst="rect">
            <a:avLst/>
          </a:prstGeom>
          <a:noFill/>
          <a:ln/>
        </p:spPr>
        <p:txBody>
          <a:bodyPr wrap="square" lIns="0" tIns="0" rIns="0" bIns="0" rtlCol="0" anchor="ctr"/>
          <a:lstStyle/>
          <a:p>
            <a:pPr algn="ctr" indent="0" marL="0">
              <a:buNone/>
            </a:pPr>
            <a:r>
              <a:rPr lang="en-US" sz="800" b="1" spc="150" kern="0" dirty="0">
                <a:solidFill>
                  <a:srgbClr val="2563EB"/>
                </a:solidFill>
                <a:latin typeface="Courier New" pitchFamily="34" charset="0"/>
                <a:ea typeface="Courier New" pitchFamily="34" charset="-122"/>
                <a:cs typeface="Courier New" pitchFamily="34" charset="-120"/>
              </a:rPr>
              <a:t>02</a:t>
            </a:r>
            <a:endParaRPr lang="en-US" sz="800" dirty="0"/>
          </a:p>
        </p:txBody>
      </p:sp>
      <p:sp>
        <p:nvSpPr>
          <p:cNvPr id="12" name="Text 10"/>
          <p:cNvSpPr/>
          <p:nvPr/>
        </p:nvSpPr>
        <p:spPr>
          <a:xfrm>
            <a:off x="4709160" y="2103120"/>
            <a:ext cx="3977640" cy="384048"/>
          </a:xfrm>
          <a:prstGeom prst="rect">
            <a:avLst/>
          </a:prstGeom>
          <a:noFill/>
          <a:ln/>
        </p:spPr>
        <p:txBody>
          <a:bodyPr wrap="square" lIns="0" tIns="0" rIns="0" bIns="0" rtlCol="0" anchor="ctr"/>
          <a:lstStyle/>
          <a:p>
            <a:pPr algn="ctr" indent="0" marL="0">
              <a:buNone/>
            </a:pPr>
            <a:r>
              <a:rPr lang="en-US" sz="2000" b="1" dirty="0">
                <a:solidFill>
                  <a:srgbClr val="18181F"/>
                </a:solidFill>
                <a:latin typeface="Calibri" pitchFamily="34" charset="0"/>
                <a:ea typeface="Calibri" pitchFamily="34" charset="-122"/>
                <a:cs typeface="Calibri" pitchFamily="34" charset="-120"/>
              </a:rPr>
              <a:t>Documentation quality</a:t>
            </a:r>
            <a:endParaRPr lang="en-US" sz="2000" dirty="0"/>
          </a:p>
        </p:txBody>
      </p:sp>
      <p:sp>
        <p:nvSpPr>
          <p:cNvPr id="13" name="Text 11"/>
          <p:cNvSpPr/>
          <p:nvPr/>
        </p:nvSpPr>
        <p:spPr>
          <a:xfrm>
            <a:off x="4873752" y="2542032"/>
            <a:ext cx="3648456" cy="50292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Multiple independent sources: press, company comms, academic papers, user feedback.</a:t>
            </a:r>
            <a:endParaRPr lang="en-US" sz="900" dirty="0"/>
          </a:p>
        </p:txBody>
      </p:sp>
      <p:sp>
        <p:nvSpPr>
          <p:cNvPr id="14" name="Shape 12"/>
          <p:cNvSpPr/>
          <p:nvPr/>
        </p:nvSpPr>
        <p:spPr>
          <a:xfrm>
            <a:off x="457200" y="3429000"/>
            <a:ext cx="3977640" cy="1417320"/>
          </a:xfrm>
          <a:prstGeom prst="rect">
            <a:avLst/>
          </a:prstGeom>
          <a:solidFill>
            <a:srgbClr val="FFFFFF"/>
          </a:solidFill>
          <a:ln w="6350">
            <a:solidFill>
              <a:srgbClr val="E4E4EA"/>
            </a:solidFill>
            <a:prstDash val="solid"/>
          </a:ln>
        </p:spPr>
      </p:sp>
      <p:sp>
        <p:nvSpPr>
          <p:cNvPr id="15" name="Text 13"/>
          <p:cNvSpPr/>
          <p:nvPr/>
        </p:nvSpPr>
        <p:spPr>
          <a:xfrm>
            <a:off x="457200" y="3557016"/>
            <a:ext cx="3977640" cy="201168"/>
          </a:xfrm>
          <a:prstGeom prst="rect">
            <a:avLst/>
          </a:prstGeom>
          <a:noFill/>
          <a:ln/>
        </p:spPr>
        <p:txBody>
          <a:bodyPr wrap="square" lIns="0" tIns="0" rIns="0" bIns="0" rtlCol="0" anchor="ctr"/>
          <a:lstStyle/>
          <a:p>
            <a:pPr algn="ctr" indent="0" marL="0">
              <a:buNone/>
            </a:pPr>
            <a:r>
              <a:rPr lang="en-US" sz="800" b="1" spc="150" kern="0" dirty="0">
                <a:solidFill>
                  <a:srgbClr val="2563EB"/>
                </a:solidFill>
                <a:latin typeface="Courier New" pitchFamily="34" charset="0"/>
                <a:ea typeface="Courier New" pitchFamily="34" charset="-122"/>
                <a:cs typeface="Courier New" pitchFamily="34" charset="-120"/>
              </a:rPr>
              <a:t>03</a:t>
            </a:r>
            <a:endParaRPr lang="en-US" sz="800" dirty="0"/>
          </a:p>
        </p:txBody>
      </p:sp>
      <p:sp>
        <p:nvSpPr>
          <p:cNvPr id="16" name="Text 14"/>
          <p:cNvSpPr/>
          <p:nvPr/>
        </p:nvSpPr>
        <p:spPr>
          <a:xfrm>
            <a:off x="457200" y="3794760"/>
            <a:ext cx="3977640" cy="384048"/>
          </a:xfrm>
          <a:prstGeom prst="rect">
            <a:avLst/>
          </a:prstGeom>
          <a:noFill/>
          <a:ln/>
        </p:spPr>
        <p:txBody>
          <a:bodyPr wrap="square" lIns="0" tIns="0" rIns="0" bIns="0" rtlCol="0" anchor="ctr"/>
          <a:lstStyle/>
          <a:p>
            <a:pPr algn="ctr" indent="0" marL="0">
              <a:buNone/>
            </a:pPr>
            <a:r>
              <a:rPr lang="en-US" sz="2000" b="1" dirty="0">
                <a:solidFill>
                  <a:srgbClr val="18181F"/>
                </a:solidFill>
                <a:latin typeface="Calibri" pitchFamily="34" charset="0"/>
                <a:ea typeface="Calibri" pitchFamily="34" charset="-122"/>
                <a:cs typeface="Calibri" pitchFamily="34" charset="-120"/>
              </a:rPr>
              <a:t>Temporal coverage</a:t>
            </a:r>
            <a:endParaRPr lang="en-US" sz="2000" dirty="0"/>
          </a:p>
        </p:txBody>
      </p:sp>
      <p:sp>
        <p:nvSpPr>
          <p:cNvPr id="17" name="Text 15"/>
          <p:cNvSpPr/>
          <p:nvPr/>
        </p:nvSpPr>
        <p:spPr>
          <a:xfrm>
            <a:off x="621792" y="4233672"/>
            <a:ext cx="3648456" cy="50292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1997–2024 across five interface types: automation, spatial, AI, screen, voice.</a:t>
            </a:r>
            <a:endParaRPr lang="en-US" sz="900" dirty="0"/>
          </a:p>
        </p:txBody>
      </p:sp>
      <p:sp>
        <p:nvSpPr>
          <p:cNvPr id="18" name="Shape 16"/>
          <p:cNvSpPr/>
          <p:nvPr/>
        </p:nvSpPr>
        <p:spPr>
          <a:xfrm>
            <a:off x="4709160" y="3429000"/>
            <a:ext cx="3977640" cy="1417320"/>
          </a:xfrm>
          <a:prstGeom prst="rect">
            <a:avLst/>
          </a:prstGeom>
          <a:solidFill>
            <a:srgbClr val="FFFFFF"/>
          </a:solidFill>
          <a:ln w="6350">
            <a:solidFill>
              <a:srgbClr val="E4E4EA"/>
            </a:solidFill>
            <a:prstDash val="solid"/>
          </a:ln>
        </p:spPr>
      </p:sp>
      <p:sp>
        <p:nvSpPr>
          <p:cNvPr id="19" name="Text 17"/>
          <p:cNvSpPr/>
          <p:nvPr/>
        </p:nvSpPr>
        <p:spPr>
          <a:xfrm>
            <a:off x="4709160" y="3557016"/>
            <a:ext cx="3977640" cy="201168"/>
          </a:xfrm>
          <a:prstGeom prst="rect">
            <a:avLst/>
          </a:prstGeom>
          <a:noFill/>
          <a:ln/>
        </p:spPr>
        <p:txBody>
          <a:bodyPr wrap="square" lIns="0" tIns="0" rIns="0" bIns="0" rtlCol="0" anchor="ctr"/>
          <a:lstStyle/>
          <a:p>
            <a:pPr algn="ctr" indent="0" marL="0">
              <a:buNone/>
            </a:pPr>
            <a:r>
              <a:rPr lang="en-US" sz="800" b="1" spc="150" kern="0" dirty="0">
                <a:solidFill>
                  <a:srgbClr val="2563EB"/>
                </a:solidFill>
                <a:latin typeface="Courier New" pitchFamily="34" charset="0"/>
                <a:ea typeface="Courier New" pitchFamily="34" charset="-122"/>
                <a:cs typeface="Courier New" pitchFamily="34" charset="-120"/>
              </a:rPr>
              <a:t>04</a:t>
            </a:r>
            <a:endParaRPr lang="en-US" sz="800" dirty="0"/>
          </a:p>
        </p:txBody>
      </p:sp>
      <p:sp>
        <p:nvSpPr>
          <p:cNvPr id="20" name="Text 18"/>
          <p:cNvSpPr/>
          <p:nvPr/>
        </p:nvSpPr>
        <p:spPr>
          <a:xfrm>
            <a:off x="4709160" y="3794760"/>
            <a:ext cx="3977640" cy="384048"/>
          </a:xfrm>
          <a:prstGeom prst="rect">
            <a:avLst/>
          </a:prstGeom>
          <a:noFill/>
          <a:ln/>
        </p:spPr>
        <p:txBody>
          <a:bodyPr wrap="square" lIns="0" tIns="0" rIns="0" bIns="0" rtlCol="0" anchor="ctr"/>
          <a:lstStyle/>
          <a:p>
            <a:pPr algn="ctr" indent="0" marL="0">
              <a:buNone/>
            </a:pPr>
            <a:r>
              <a:rPr lang="en-US" sz="2000" b="1" dirty="0">
                <a:solidFill>
                  <a:srgbClr val="18181F"/>
                </a:solidFill>
                <a:latin typeface="Calibri" pitchFamily="34" charset="0"/>
                <a:ea typeface="Calibri" pitchFamily="34" charset="-122"/>
                <a:cs typeface="Calibri" pitchFamily="34" charset="-120"/>
              </a:rPr>
              <a:t>Interface type diversity</a:t>
            </a:r>
            <a:endParaRPr lang="en-US" sz="2000" dirty="0"/>
          </a:p>
        </p:txBody>
      </p:sp>
      <p:sp>
        <p:nvSpPr>
          <p:cNvPr id="21" name="Text 19"/>
          <p:cNvSpPr/>
          <p:nvPr/>
        </p:nvSpPr>
        <p:spPr>
          <a:xfrm>
            <a:off x="4873752" y="4233672"/>
            <a:ext cx="3648456" cy="50292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One case per category. Prevents skew from repeated failures in one type.</a:t>
            </a:r>
            <a:endParaRPr lang="en-US" sz="900" dirty="0"/>
          </a:p>
        </p:txBody>
      </p:sp>
      <p:sp>
        <p:nvSpPr>
          <p:cNvPr id="22" name="Text 20"/>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3" name="Text 21"/>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B2</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BACKUP · SCOPE</a:t>
            </a:r>
            <a:endParaRPr lang="en-US" sz="800" dirty="0"/>
          </a:p>
        </p:txBody>
      </p:sp>
      <p:sp>
        <p:nvSpPr>
          <p:cNvPr id="4" name="Text 2"/>
          <p:cNvSpPr/>
          <p:nvPr/>
        </p:nvSpPr>
        <p:spPr>
          <a:xfrm>
            <a:off x="457200" y="64008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Are the patterns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actually generalizable?</a:t>
            </a:r>
            <a:endParaRPr lang="en-US" sz="2800" dirty="0"/>
          </a:p>
        </p:txBody>
      </p:sp>
      <p:sp>
        <p:nvSpPr>
          <p:cNvPr id="5" name="Text 3"/>
          <p:cNvSpPr/>
          <p:nvPr/>
        </p:nvSpPr>
        <p:spPr>
          <a:xfrm>
            <a:off x="457200" y="1627632"/>
            <a:ext cx="8229600" cy="320040"/>
          </a:xfrm>
          <a:prstGeom prst="rect">
            <a:avLst/>
          </a:prstGeom>
          <a:noFill/>
          <a:ln/>
        </p:spPr>
        <p:txBody>
          <a:bodyPr wrap="square" lIns="0" tIns="0" rIns="0" bIns="0" rtlCol="0" anchor="ctr"/>
          <a:lstStyle/>
          <a:p>
            <a:pPr indent="0" marL="0">
              <a:buNone/>
            </a:pPr>
            <a:r>
              <a:rPr lang="en-US" sz="1400" dirty="0">
                <a:solidFill>
                  <a:srgbClr val="18181F"/>
                </a:solidFill>
                <a:latin typeface="Calibri" pitchFamily="34" charset="0"/>
                <a:ea typeface="Calibri" pitchFamily="34" charset="-122"/>
                <a:cs typeface="Calibri" pitchFamily="34" charset="-120"/>
              </a:rPr>
              <a:t>Recurrent across the corpus, not universal. That distinction matters.</a:t>
            </a:r>
            <a:endParaRPr lang="en-US" sz="1400" dirty="0"/>
          </a:p>
        </p:txBody>
      </p:sp>
      <p:sp>
        <p:nvSpPr>
          <p:cNvPr id="6" name="Shape 4"/>
          <p:cNvSpPr/>
          <p:nvPr/>
        </p:nvSpPr>
        <p:spPr>
          <a:xfrm>
            <a:off x="457200" y="2057400"/>
            <a:ext cx="3977640" cy="1371600"/>
          </a:xfrm>
          <a:prstGeom prst="rect">
            <a:avLst/>
          </a:prstGeom>
          <a:solidFill>
            <a:srgbClr val="EEF3FF"/>
          </a:solidFill>
          <a:ln w="6350">
            <a:solidFill>
              <a:srgbClr val="2563EB"/>
            </a:solidFill>
            <a:prstDash val="solid"/>
          </a:ln>
        </p:spPr>
      </p:sp>
      <p:sp>
        <p:nvSpPr>
          <p:cNvPr id="7" name="Text 5"/>
          <p:cNvSpPr/>
          <p:nvPr/>
        </p:nvSpPr>
        <p:spPr>
          <a:xfrm>
            <a:off x="640080" y="2185416"/>
            <a:ext cx="3703320" cy="182880"/>
          </a:xfrm>
          <a:prstGeom prst="rect">
            <a:avLst/>
          </a:prstGeom>
          <a:noFill/>
          <a:ln/>
        </p:spPr>
        <p:txBody>
          <a:bodyPr wrap="square" lIns="0" tIns="0" rIns="0" bIns="0" rtlCol="0" anchor="ctr"/>
          <a:lstStyle/>
          <a:p>
            <a:pPr indent="0" marL="0">
              <a:buNone/>
            </a:pPr>
            <a:r>
              <a:rPr lang="en-US" sz="700" b="1" spc="250" kern="0" dirty="0">
                <a:solidFill>
                  <a:srgbClr val="2563EB"/>
                </a:solidFill>
                <a:latin typeface="Courier New" pitchFamily="34" charset="0"/>
                <a:ea typeface="Courier New" pitchFamily="34" charset="-122"/>
                <a:cs typeface="Courier New" pitchFamily="34" charset="-120"/>
              </a:rPr>
              <a:t>WHAT THE CORPUS SUPPORTS</a:t>
            </a:r>
            <a:endParaRPr lang="en-US" sz="700" dirty="0"/>
          </a:p>
        </p:txBody>
      </p:sp>
      <p:sp>
        <p:nvSpPr>
          <p:cNvPr id="8" name="Text 6"/>
          <p:cNvSpPr/>
          <p:nvPr/>
        </p:nvSpPr>
        <p:spPr>
          <a:xfrm>
            <a:off x="640080" y="2441448"/>
            <a:ext cx="3703320" cy="868680"/>
          </a:xfrm>
          <a:prstGeom prst="rect">
            <a:avLst/>
          </a:prstGeom>
          <a:noFill/>
          <a:ln/>
        </p:spPr>
        <p:txBody>
          <a:bodyPr wrap="square" lIns="0" tIns="0" rIns="0" bIns="0" rtlCol="0" anchor="t"/>
          <a:lstStyle/>
          <a:p>
            <a:pPr indent="0" marL="0">
              <a:buNone/>
            </a:pPr>
            <a:r>
              <a:rPr lang="en-US" sz="950" dirty="0">
                <a:solidFill>
                  <a:srgbClr val="18181F"/>
                </a:solidFill>
                <a:latin typeface="Calibri" pitchFamily="34" charset="0"/>
                <a:ea typeface="Calibri" pitchFamily="34" charset="-122"/>
                <a:cs typeface="Calibri" pitchFamily="34" charset="-120"/>
              </a:rPr>
              <a:t>Five cases, 27 years, five interface types. All failures traceable to the same six pattern categories. Sufficient to structure a pre-selection checklist.</a:t>
            </a:r>
            <a:endParaRPr lang="en-US" sz="950" dirty="0"/>
          </a:p>
        </p:txBody>
      </p:sp>
      <p:sp>
        <p:nvSpPr>
          <p:cNvPr id="9" name="Shape 7"/>
          <p:cNvSpPr/>
          <p:nvPr/>
        </p:nvSpPr>
        <p:spPr>
          <a:xfrm>
            <a:off x="4709160" y="2057400"/>
            <a:ext cx="3977640" cy="1371600"/>
          </a:xfrm>
          <a:prstGeom prst="rect">
            <a:avLst/>
          </a:prstGeom>
          <a:solidFill>
            <a:srgbClr val="FFFFFF"/>
          </a:solidFill>
          <a:ln w="6350">
            <a:solidFill>
              <a:srgbClr val="E4E4EA"/>
            </a:solidFill>
            <a:prstDash val="solid"/>
          </a:ln>
        </p:spPr>
      </p:sp>
      <p:sp>
        <p:nvSpPr>
          <p:cNvPr id="10" name="Text 8"/>
          <p:cNvSpPr/>
          <p:nvPr/>
        </p:nvSpPr>
        <p:spPr>
          <a:xfrm>
            <a:off x="4892040" y="2185416"/>
            <a:ext cx="3703320" cy="182880"/>
          </a:xfrm>
          <a:prstGeom prst="rect">
            <a:avLst/>
          </a:prstGeom>
          <a:noFill/>
          <a:ln/>
        </p:spPr>
        <p:txBody>
          <a:bodyPr wrap="square" lIns="0" tIns="0" rIns="0" bIns="0" rtlCol="0" anchor="ctr"/>
          <a:lstStyle/>
          <a:p>
            <a:pPr indent="0" marL="0">
              <a:buNone/>
            </a:pPr>
            <a:r>
              <a:rPr lang="en-US" sz="700" b="1" spc="250" kern="0" dirty="0">
                <a:solidFill>
                  <a:srgbClr val="6B7280"/>
                </a:solidFill>
                <a:latin typeface="Courier New" pitchFamily="34" charset="0"/>
                <a:ea typeface="Courier New" pitchFamily="34" charset="-122"/>
                <a:cs typeface="Courier New" pitchFamily="34" charset="-120"/>
              </a:rPr>
              <a:t>WHAT IT DOES NOT CLAIM</a:t>
            </a:r>
            <a:endParaRPr lang="en-US" sz="700" dirty="0"/>
          </a:p>
        </p:txBody>
      </p:sp>
      <p:sp>
        <p:nvSpPr>
          <p:cNvPr id="11" name="Text 9"/>
          <p:cNvSpPr/>
          <p:nvPr/>
        </p:nvSpPr>
        <p:spPr>
          <a:xfrm>
            <a:off x="4892040" y="2441448"/>
            <a:ext cx="3703320" cy="86868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All cases are Western and high-budget. Other contexts may surface different patterns. The framework is designed to expand through community contribution.</a:t>
            </a:r>
            <a:endParaRPr lang="en-US" sz="950" dirty="0"/>
          </a:p>
        </p:txBody>
      </p:sp>
      <p:sp>
        <p:nvSpPr>
          <p:cNvPr id="12" name="Shape 10"/>
          <p:cNvSpPr/>
          <p:nvPr/>
        </p:nvSpPr>
        <p:spPr>
          <a:xfrm>
            <a:off x="457200" y="3593592"/>
            <a:ext cx="41148" cy="749808"/>
          </a:xfrm>
          <a:prstGeom prst="rect">
            <a:avLst/>
          </a:prstGeom>
          <a:solidFill>
            <a:srgbClr val="2563EB"/>
          </a:solidFill>
          <a:ln w="12700">
            <a:solidFill>
              <a:srgbClr val="2563EB"/>
            </a:solidFill>
            <a:prstDash val="solid"/>
          </a:ln>
        </p:spPr>
      </p:sp>
      <p:sp>
        <p:nvSpPr>
          <p:cNvPr id="13" name="Shape 11"/>
          <p:cNvSpPr/>
          <p:nvPr/>
        </p:nvSpPr>
        <p:spPr>
          <a:xfrm>
            <a:off x="498348" y="3593592"/>
            <a:ext cx="8188452" cy="749808"/>
          </a:xfrm>
          <a:prstGeom prst="rect">
            <a:avLst/>
          </a:prstGeom>
          <a:solidFill>
            <a:srgbClr val="FFFFFF"/>
          </a:solidFill>
          <a:ln w="6350">
            <a:solidFill>
              <a:srgbClr val="E4E4EA"/>
            </a:solidFill>
            <a:prstDash val="solid"/>
          </a:ln>
        </p:spPr>
      </p:sp>
      <p:sp>
        <p:nvSpPr>
          <p:cNvPr id="14" name="Text 12"/>
          <p:cNvSpPr/>
          <p:nvPr/>
        </p:nvSpPr>
        <p:spPr>
          <a:xfrm>
            <a:off x="621792" y="3721608"/>
            <a:ext cx="7973568" cy="548640"/>
          </a:xfrm>
          <a:prstGeom prst="rect">
            <a:avLst/>
          </a:prstGeom>
          <a:noFill/>
          <a:ln/>
        </p:spPr>
        <p:txBody>
          <a:bodyPr wrap="square" lIns="0" tIns="0" rIns="0" bIns="0" rtlCol="0" anchor="t"/>
          <a:lstStyle/>
          <a:p>
            <a:pPr indent="0" marL="0">
              <a:buNone/>
            </a:pPr>
            <a:r>
              <a:rPr lang="en-US" sz="900" dirty="0">
                <a:solidFill>
                  <a:srgbClr val="18181F"/>
                </a:solidFill>
                <a:latin typeface="Calibri" pitchFamily="34" charset="0"/>
                <a:ea typeface="Calibri" pitchFamily="34" charset="-122"/>
                <a:cs typeface="Calibri" pitchFamily="34" charset="-120"/>
              </a:rPr>
              <a:t>It structures the questions that make failure less invisible.</a:t>
            </a:r>
            <a:endParaRPr lang="en-US" sz="900" dirty="0"/>
          </a:p>
          <a:p>
            <a:pPr indent="0" marL="0">
              <a:buNone/>
            </a:pPr>
            <a:r>
              <a:rPr lang="en-US" sz="750" dirty="0">
                <a:solidFill>
                  <a:srgbClr val="6B7280"/>
                </a:solidFill>
                <a:latin typeface="Courier New" pitchFamily="34" charset="0"/>
                <a:ea typeface="Courier New" pitchFamily="34" charset="-122"/>
                <a:cs typeface="Courier New" pitchFamily="34" charset="-120"/>
              </a:rPr>
              <a:t>
</a:t>
            </a:r>
            <a:endParaRPr lang="en-US" sz="900" dirty="0"/>
          </a:p>
        </p:txBody>
      </p:sp>
      <p:sp>
        <p:nvSpPr>
          <p:cNvPr id="15" name="Text 13"/>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16" name="Text 14"/>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B3</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BACKUP · TECHNICAL</a:t>
            </a:r>
            <a:endParaRPr lang="en-US" sz="800" dirty="0"/>
          </a:p>
        </p:txBody>
      </p:sp>
      <p:sp>
        <p:nvSpPr>
          <p:cNvPr id="4" name="Text 2"/>
          <p:cNvSpPr/>
          <p:nvPr/>
        </p:nvSpPr>
        <p:spPr>
          <a:xfrm>
            <a:off x="457200" y="64008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How does the scoring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algorithm work?</a:t>
            </a:r>
            <a:endParaRPr lang="en-US" sz="2800" dirty="0"/>
          </a:p>
        </p:txBody>
      </p:sp>
      <p:sp>
        <p:nvSpPr>
          <p:cNvPr id="5" name="Shape 3"/>
          <p:cNvSpPr/>
          <p:nvPr/>
        </p:nvSpPr>
        <p:spPr>
          <a:xfrm>
            <a:off x="457200" y="1737360"/>
            <a:ext cx="3977640" cy="1417320"/>
          </a:xfrm>
          <a:prstGeom prst="rect">
            <a:avLst/>
          </a:prstGeom>
          <a:solidFill>
            <a:srgbClr val="EEF3FF"/>
          </a:solidFill>
          <a:ln w="9525">
            <a:solidFill>
              <a:srgbClr val="2563EB"/>
            </a:solidFill>
            <a:prstDash val="solid"/>
          </a:ln>
        </p:spPr>
      </p:sp>
      <p:sp>
        <p:nvSpPr>
          <p:cNvPr id="6" name="Shape 4"/>
          <p:cNvSpPr/>
          <p:nvPr/>
        </p:nvSpPr>
        <p:spPr>
          <a:xfrm>
            <a:off x="457200" y="1737360"/>
            <a:ext cx="45720" cy="1417320"/>
          </a:xfrm>
          <a:prstGeom prst="rect">
            <a:avLst/>
          </a:prstGeom>
          <a:solidFill>
            <a:srgbClr val="2563EB"/>
          </a:solidFill>
          <a:ln w="12700">
            <a:solidFill>
              <a:srgbClr val="2563EB"/>
            </a:solidFill>
            <a:prstDash val="solid"/>
          </a:ln>
        </p:spPr>
      </p:sp>
      <p:sp>
        <p:nvSpPr>
          <p:cNvPr id="7" name="Text 5"/>
          <p:cNvSpPr/>
          <p:nvPr/>
        </p:nvSpPr>
        <p:spPr>
          <a:xfrm>
            <a:off x="457200" y="1865376"/>
            <a:ext cx="3977640" cy="201168"/>
          </a:xfrm>
          <a:prstGeom prst="rect">
            <a:avLst/>
          </a:prstGeom>
          <a:noFill/>
          <a:ln/>
        </p:spPr>
        <p:txBody>
          <a:bodyPr wrap="square" lIns="0" tIns="0" rIns="0" bIns="0" rtlCol="0" anchor="ctr"/>
          <a:lstStyle/>
          <a:p>
            <a:pPr algn="ctr" indent="0" marL="0">
              <a:buNone/>
            </a:pPr>
            <a:r>
              <a:rPr lang="en-US" sz="800" b="1" spc="150" kern="0" dirty="0">
                <a:solidFill>
                  <a:srgbClr val="2563EB"/>
                </a:solidFill>
                <a:latin typeface="Courier New" pitchFamily="34" charset="0"/>
                <a:ea typeface="Courier New" pitchFamily="34" charset="-122"/>
                <a:cs typeface="Courier New" pitchFamily="34" charset="-120"/>
              </a:rPr>
              <a:t>01</a:t>
            </a:r>
            <a:endParaRPr lang="en-US" sz="800" dirty="0"/>
          </a:p>
        </p:txBody>
      </p:sp>
      <p:sp>
        <p:nvSpPr>
          <p:cNvPr id="8" name="Text 6"/>
          <p:cNvSpPr/>
          <p:nvPr/>
        </p:nvSpPr>
        <p:spPr>
          <a:xfrm>
            <a:off x="457200" y="2103120"/>
            <a:ext cx="3977640" cy="384048"/>
          </a:xfrm>
          <a:prstGeom prst="rect">
            <a:avLst/>
          </a:prstGeom>
          <a:noFill/>
          <a:ln/>
        </p:spPr>
        <p:txBody>
          <a:bodyPr wrap="square" lIns="0" tIns="0" rIns="0" bIns="0" rtlCol="0" anchor="ctr"/>
          <a:lstStyle/>
          <a:p>
            <a:pPr algn="ctr" indent="0" marL="0">
              <a:buNone/>
            </a:pPr>
            <a:r>
              <a:rPr lang="en-US" sz="2000" b="1" dirty="0">
                <a:solidFill>
                  <a:srgbClr val="18181F"/>
                </a:solidFill>
                <a:latin typeface="Calibri" pitchFamily="34" charset="0"/>
                <a:ea typeface="Calibri" pitchFamily="34" charset="-122"/>
                <a:cs typeface="Calibri" pitchFamily="34" charset="-120"/>
              </a:rPr>
              <a:t>Values filter first</a:t>
            </a:r>
            <a:endParaRPr lang="en-US" sz="2000" dirty="0"/>
          </a:p>
        </p:txBody>
      </p:sp>
      <p:sp>
        <p:nvSpPr>
          <p:cNvPr id="9" name="Text 7"/>
          <p:cNvSpPr/>
          <p:nvPr/>
        </p:nvSpPr>
        <p:spPr>
          <a:xfrm>
            <a:off x="621792" y="2542032"/>
            <a:ext cx="3648456" cy="50292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Types contradicting top-ranked values are flagged before scoring. Hard filter, not a weight.</a:t>
            </a:r>
            <a:endParaRPr lang="en-US" sz="900" dirty="0"/>
          </a:p>
        </p:txBody>
      </p:sp>
      <p:sp>
        <p:nvSpPr>
          <p:cNvPr id="10" name="Shape 8"/>
          <p:cNvSpPr/>
          <p:nvPr/>
        </p:nvSpPr>
        <p:spPr>
          <a:xfrm>
            <a:off x="4709160" y="1737360"/>
            <a:ext cx="3977640" cy="1417320"/>
          </a:xfrm>
          <a:prstGeom prst="rect">
            <a:avLst/>
          </a:prstGeom>
          <a:solidFill>
            <a:srgbClr val="FFFFFF"/>
          </a:solidFill>
          <a:ln w="6350">
            <a:solidFill>
              <a:srgbClr val="E4E4EA"/>
            </a:solidFill>
            <a:prstDash val="solid"/>
          </a:ln>
        </p:spPr>
      </p:sp>
      <p:sp>
        <p:nvSpPr>
          <p:cNvPr id="11" name="Text 9"/>
          <p:cNvSpPr/>
          <p:nvPr/>
        </p:nvSpPr>
        <p:spPr>
          <a:xfrm>
            <a:off x="4709160" y="1865376"/>
            <a:ext cx="3977640" cy="201168"/>
          </a:xfrm>
          <a:prstGeom prst="rect">
            <a:avLst/>
          </a:prstGeom>
          <a:noFill/>
          <a:ln/>
        </p:spPr>
        <p:txBody>
          <a:bodyPr wrap="square" lIns="0" tIns="0" rIns="0" bIns="0" rtlCol="0" anchor="ctr"/>
          <a:lstStyle/>
          <a:p>
            <a:pPr algn="ctr" indent="0" marL="0">
              <a:buNone/>
            </a:pPr>
            <a:r>
              <a:rPr lang="en-US" sz="800" b="1" spc="150" kern="0" dirty="0">
                <a:solidFill>
                  <a:srgbClr val="2563EB"/>
                </a:solidFill>
                <a:latin typeface="Courier New" pitchFamily="34" charset="0"/>
                <a:ea typeface="Courier New" pitchFamily="34" charset="-122"/>
                <a:cs typeface="Courier New" pitchFamily="34" charset="-120"/>
              </a:rPr>
              <a:t>02</a:t>
            </a:r>
            <a:endParaRPr lang="en-US" sz="800" dirty="0"/>
          </a:p>
        </p:txBody>
      </p:sp>
      <p:sp>
        <p:nvSpPr>
          <p:cNvPr id="12" name="Text 10"/>
          <p:cNvSpPr/>
          <p:nvPr/>
        </p:nvSpPr>
        <p:spPr>
          <a:xfrm>
            <a:off x="4709160" y="2103120"/>
            <a:ext cx="3977640" cy="384048"/>
          </a:xfrm>
          <a:prstGeom prst="rect">
            <a:avLst/>
          </a:prstGeom>
          <a:noFill/>
          <a:ln/>
        </p:spPr>
        <p:txBody>
          <a:bodyPr wrap="square" lIns="0" tIns="0" rIns="0" bIns="0" rtlCol="0" anchor="ctr"/>
          <a:lstStyle/>
          <a:p>
            <a:pPr algn="ctr" indent="0" marL="0">
              <a:buNone/>
            </a:pPr>
            <a:r>
              <a:rPr lang="en-US" sz="2000" b="1" dirty="0">
                <a:solidFill>
                  <a:srgbClr val="18181F"/>
                </a:solidFill>
                <a:latin typeface="Calibri" pitchFamily="34" charset="0"/>
                <a:ea typeface="Calibri" pitchFamily="34" charset="-122"/>
                <a:cs typeface="Calibri" pitchFamily="34" charset="-120"/>
              </a:rPr>
              <a:t>Context scoring</a:t>
            </a:r>
            <a:endParaRPr lang="en-US" sz="2000" dirty="0"/>
          </a:p>
        </p:txBody>
      </p:sp>
      <p:sp>
        <p:nvSpPr>
          <p:cNvPr id="13" name="Text 11"/>
          <p:cNvSpPr/>
          <p:nvPr/>
        </p:nvSpPr>
        <p:spPr>
          <a:xfrm>
            <a:off x="4873752" y="2542032"/>
            <a:ext cx="3648456" cy="50292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15 questions map to each type’s strengths. Responses generate a compatibility profile per type.</a:t>
            </a:r>
            <a:endParaRPr lang="en-US" sz="900" dirty="0"/>
          </a:p>
        </p:txBody>
      </p:sp>
      <p:sp>
        <p:nvSpPr>
          <p:cNvPr id="14" name="Shape 12"/>
          <p:cNvSpPr/>
          <p:nvPr/>
        </p:nvSpPr>
        <p:spPr>
          <a:xfrm>
            <a:off x="457200" y="3429000"/>
            <a:ext cx="3977640" cy="1417320"/>
          </a:xfrm>
          <a:prstGeom prst="rect">
            <a:avLst/>
          </a:prstGeom>
          <a:solidFill>
            <a:srgbClr val="FFFFFF"/>
          </a:solidFill>
          <a:ln w="6350">
            <a:solidFill>
              <a:srgbClr val="E4E4EA"/>
            </a:solidFill>
            <a:prstDash val="solid"/>
          </a:ln>
        </p:spPr>
      </p:sp>
      <p:sp>
        <p:nvSpPr>
          <p:cNvPr id="15" name="Text 13"/>
          <p:cNvSpPr/>
          <p:nvPr/>
        </p:nvSpPr>
        <p:spPr>
          <a:xfrm>
            <a:off x="457200" y="3557016"/>
            <a:ext cx="3977640" cy="201168"/>
          </a:xfrm>
          <a:prstGeom prst="rect">
            <a:avLst/>
          </a:prstGeom>
          <a:noFill/>
          <a:ln/>
        </p:spPr>
        <p:txBody>
          <a:bodyPr wrap="square" lIns="0" tIns="0" rIns="0" bIns="0" rtlCol="0" anchor="ctr"/>
          <a:lstStyle/>
          <a:p>
            <a:pPr algn="ctr" indent="0" marL="0">
              <a:buNone/>
            </a:pPr>
            <a:r>
              <a:rPr lang="en-US" sz="800" b="1" spc="150" kern="0" dirty="0">
                <a:solidFill>
                  <a:srgbClr val="2563EB"/>
                </a:solidFill>
                <a:latin typeface="Courier New" pitchFamily="34" charset="0"/>
                <a:ea typeface="Courier New" pitchFamily="34" charset="-122"/>
                <a:cs typeface="Courier New" pitchFamily="34" charset="-120"/>
              </a:rPr>
              <a:t>03</a:t>
            </a:r>
            <a:endParaRPr lang="en-US" sz="800" dirty="0"/>
          </a:p>
        </p:txBody>
      </p:sp>
      <p:sp>
        <p:nvSpPr>
          <p:cNvPr id="16" name="Text 14"/>
          <p:cNvSpPr/>
          <p:nvPr/>
        </p:nvSpPr>
        <p:spPr>
          <a:xfrm>
            <a:off x="457200" y="3794760"/>
            <a:ext cx="3977640" cy="384048"/>
          </a:xfrm>
          <a:prstGeom prst="rect">
            <a:avLst/>
          </a:prstGeom>
          <a:noFill/>
          <a:ln/>
        </p:spPr>
        <p:txBody>
          <a:bodyPr wrap="square" lIns="0" tIns="0" rIns="0" bIns="0" rtlCol="0" anchor="ctr"/>
          <a:lstStyle/>
          <a:p>
            <a:pPr algn="ctr" indent="0" marL="0">
              <a:buNone/>
            </a:pPr>
            <a:r>
              <a:rPr lang="en-US" sz="2000" b="1" dirty="0">
                <a:solidFill>
                  <a:srgbClr val="18181F"/>
                </a:solidFill>
                <a:latin typeface="Calibri" pitchFamily="34" charset="0"/>
                <a:ea typeface="Calibri" pitchFamily="34" charset="-122"/>
                <a:cs typeface="Calibri" pitchFamily="34" charset="-120"/>
              </a:rPr>
              <a:t>Pattern matching</a:t>
            </a:r>
            <a:endParaRPr lang="en-US" sz="2000" dirty="0"/>
          </a:p>
        </p:txBody>
      </p:sp>
      <p:sp>
        <p:nvSpPr>
          <p:cNvPr id="17" name="Text 15"/>
          <p:cNvSpPr/>
          <p:nvPr/>
        </p:nvSpPr>
        <p:spPr>
          <a:xfrm>
            <a:off x="621792" y="4233672"/>
            <a:ext cx="3648456" cy="50292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Failure triggers activate red flags with severity: blocking, critical, or warning.</a:t>
            </a:r>
            <a:endParaRPr lang="en-US" sz="900" dirty="0"/>
          </a:p>
        </p:txBody>
      </p:sp>
      <p:sp>
        <p:nvSpPr>
          <p:cNvPr id="18" name="Shape 16"/>
          <p:cNvSpPr/>
          <p:nvPr/>
        </p:nvSpPr>
        <p:spPr>
          <a:xfrm>
            <a:off x="4709160" y="3429000"/>
            <a:ext cx="3977640" cy="1417320"/>
          </a:xfrm>
          <a:prstGeom prst="rect">
            <a:avLst/>
          </a:prstGeom>
          <a:solidFill>
            <a:srgbClr val="FFFFFF"/>
          </a:solidFill>
          <a:ln w="6350">
            <a:solidFill>
              <a:srgbClr val="E4E4EA"/>
            </a:solidFill>
            <a:prstDash val="solid"/>
          </a:ln>
        </p:spPr>
      </p:sp>
      <p:sp>
        <p:nvSpPr>
          <p:cNvPr id="19" name="Text 17"/>
          <p:cNvSpPr/>
          <p:nvPr/>
        </p:nvSpPr>
        <p:spPr>
          <a:xfrm>
            <a:off x="4709160" y="3557016"/>
            <a:ext cx="3977640" cy="201168"/>
          </a:xfrm>
          <a:prstGeom prst="rect">
            <a:avLst/>
          </a:prstGeom>
          <a:noFill/>
          <a:ln/>
        </p:spPr>
        <p:txBody>
          <a:bodyPr wrap="square" lIns="0" tIns="0" rIns="0" bIns="0" rtlCol="0" anchor="ctr"/>
          <a:lstStyle/>
          <a:p>
            <a:pPr algn="ctr" indent="0" marL="0">
              <a:buNone/>
            </a:pPr>
            <a:r>
              <a:rPr lang="en-US" sz="800" b="1" spc="150" kern="0" dirty="0">
                <a:solidFill>
                  <a:srgbClr val="2563EB"/>
                </a:solidFill>
                <a:latin typeface="Courier New" pitchFamily="34" charset="0"/>
                <a:ea typeface="Courier New" pitchFamily="34" charset="-122"/>
                <a:cs typeface="Courier New" pitchFamily="34" charset="-120"/>
              </a:rPr>
              <a:t>04</a:t>
            </a:r>
            <a:endParaRPr lang="en-US" sz="800" dirty="0"/>
          </a:p>
        </p:txBody>
      </p:sp>
      <p:sp>
        <p:nvSpPr>
          <p:cNvPr id="20" name="Text 18"/>
          <p:cNvSpPr/>
          <p:nvPr/>
        </p:nvSpPr>
        <p:spPr>
          <a:xfrm>
            <a:off x="4709160" y="3794760"/>
            <a:ext cx="3977640" cy="384048"/>
          </a:xfrm>
          <a:prstGeom prst="rect">
            <a:avLst/>
          </a:prstGeom>
          <a:noFill/>
          <a:ln/>
        </p:spPr>
        <p:txBody>
          <a:bodyPr wrap="square" lIns="0" tIns="0" rIns="0" bIns="0" rtlCol="0" anchor="ctr"/>
          <a:lstStyle/>
          <a:p>
            <a:pPr algn="ctr" indent="0" marL="0">
              <a:buNone/>
            </a:pPr>
            <a:r>
              <a:rPr lang="en-US" sz="2000" b="1" dirty="0">
                <a:solidFill>
                  <a:srgbClr val="18181F"/>
                </a:solidFill>
                <a:latin typeface="Calibri" pitchFamily="34" charset="0"/>
                <a:ea typeface="Calibri" pitchFamily="34" charset="-122"/>
                <a:cs typeface="Calibri" pitchFamily="34" charset="-120"/>
              </a:rPr>
              <a:t>Report generation</a:t>
            </a:r>
            <a:endParaRPr lang="en-US" sz="2000" dirty="0"/>
          </a:p>
        </p:txBody>
      </p:sp>
      <p:sp>
        <p:nvSpPr>
          <p:cNvPr id="21" name="Text 19"/>
          <p:cNvSpPr/>
          <p:nvPr/>
        </p:nvSpPr>
        <p:spPr>
          <a:xfrm>
            <a:off x="4873752" y="4233672"/>
            <a:ext cx="3648456" cy="502920"/>
          </a:xfrm>
          <a:prstGeom prst="rect">
            <a:avLst/>
          </a:prstGeom>
          <a:noFill/>
          <a:ln/>
        </p:spPr>
        <p:txBody>
          <a:bodyPr wrap="square" lIns="0" tIns="0" rIns="0" bIns="0" rtlCol="0" anchor="t"/>
          <a:lstStyle/>
          <a:p>
            <a:pPr algn="ctr" indent="0" marL="0">
              <a:buNone/>
            </a:pPr>
            <a:r>
              <a:rPr lang="en-US" sz="900" dirty="0">
                <a:solidFill>
                  <a:srgbClr val="4B5563"/>
                </a:solidFill>
                <a:latin typeface="Calibri" pitchFamily="34" charset="0"/>
                <a:ea typeface="Calibri" pitchFamily="34" charset="-122"/>
                <a:cs typeface="Calibri" pitchFamily="34" charset="-120"/>
              </a:rPr>
              <a:t>Alignments and tensions, not scores. The designer sees the reasoning, not just the result.</a:t>
            </a:r>
            <a:endParaRPr lang="en-US" sz="900" dirty="0"/>
          </a:p>
        </p:txBody>
      </p:sp>
      <p:sp>
        <p:nvSpPr>
          <p:cNvPr id="22" name="Text 20"/>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3" name="Text 21"/>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B4</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BACKUP · TECHNICAL</a:t>
            </a:r>
            <a:endParaRPr lang="en-US" sz="800" dirty="0"/>
          </a:p>
        </p:txBody>
      </p:sp>
      <p:sp>
        <p:nvSpPr>
          <p:cNvPr id="4" name="Text 2"/>
          <p:cNvSpPr/>
          <p:nvPr/>
        </p:nvSpPr>
        <p:spPr>
          <a:xfrm>
            <a:off x="457200" y="64008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What if two interface types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score the same?</a:t>
            </a:r>
            <a:endParaRPr lang="en-US" sz="2800" dirty="0"/>
          </a:p>
        </p:txBody>
      </p:sp>
      <p:sp>
        <p:nvSpPr>
          <p:cNvPr id="5" name="Text 3"/>
          <p:cNvSpPr/>
          <p:nvPr/>
        </p:nvSpPr>
        <p:spPr>
          <a:xfrm>
            <a:off x="457200" y="1627632"/>
            <a:ext cx="8229600" cy="320040"/>
          </a:xfrm>
          <a:prstGeom prst="rect">
            <a:avLst/>
          </a:prstGeom>
          <a:noFill/>
          <a:ln/>
        </p:spPr>
        <p:txBody>
          <a:bodyPr wrap="square" lIns="0" tIns="0" rIns="0" bIns="0" rtlCol="0" anchor="ctr"/>
          <a:lstStyle/>
          <a:p>
            <a:pPr indent="0" marL="0">
              <a:buNone/>
            </a:pPr>
            <a:r>
              <a:rPr lang="en-US" sz="1400" dirty="0">
                <a:solidFill>
                  <a:srgbClr val="18181F"/>
                </a:solidFill>
                <a:latin typeface="Calibri" pitchFamily="34" charset="0"/>
                <a:ea typeface="Calibri" pitchFamily="34" charset="-122"/>
                <a:cs typeface="Calibri" pitchFamily="34" charset="-120"/>
              </a:rPr>
              <a:t>A tie is not a failure. It is information.</a:t>
            </a:r>
            <a:endParaRPr lang="en-US" sz="1400" dirty="0"/>
          </a:p>
        </p:txBody>
      </p:sp>
      <p:sp>
        <p:nvSpPr>
          <p:cNvPr id="6" name="Shape 4"/>
          <p:cNvSpPr/>
          <p:nvPr/>
        </p:nvSpPr>
        <p:spPr>
          <a:xfrm>
            <a:off x="457200" y="2103120"/>
            <a:ext cx="2606040" cy="1508760"/>
          </a:xfrm>
          <a:prstGeom prst="rect">
            <a:avLst/>
          </a:prstGeom>
          <a:solidFill>
            <a:srgbClr val="EEF3FF"/>
          </a:solidFill>
          <a:ln w="9525">
            <a:solidFill>
              <a:srgbClr val="2563EB"/>
            </a:solidFill>
            <a:prstDash val="solid"/>
          </a:ln>
        </p:spPr>
      </p:sp>
      <p:sp>
        <p:nvSpPr>
          <p:cNvPr id="7" name="Text 5"/>
          <p:cNvSpPr/>
          <p:nvPr/>
        </p:nvSpPr>
        <p:spPr>
          <a:xfrm>
            <a:off x="621792" y="2231136"/>
            <a:ext cx="2331720" cy="182880"/>
          </a:xfrm>
          <a:prstGeom prst="rect">
            <a:avLst/>
          </a:prstGeom>
          <a:noFill/>
          <a:ln/>
        </p:spPr>
        <p:txBody>
          <a:bodyPr wrap="square" lIns="0" tIns="0" rIns="0" bIns="0" rtlCol="0" anchor="ctr"/>
          <a:lstStyle/>
          <a:p>
            <a:pPr indent="0" marL="0">
              <a:buNone/>
            </a:pPr>
            <a:r>
              <a:rPr lang="en-US" sz="700" b="1" spc="250" kern="0" dirty="0">
                <a:solidFill>
                  <a:srgbClr val="2563EB"/>
                </a:solidFill>
                <a:latin typeface="Courier New" pitchFamily="34" charset="0"/>
                <a:ea typeface="Courier New" pitchFamily="34" charset="-122"/>
                <a:cs typeface="Courier New" pitchFamily="34" charset="-120"/>
              </a:rPr>
              <a:t>WHAT IT MEANS</a:t>
            </a:r>
            <a:endParaRPr lang="en-US" sz="700" dirty="0"/>
          </a:p>
        </p:txBody>
      </p:sp>
      <p:sp>
        <p:nvSpPr>
          <p:cNvPr id="8" name="Text 6"/>
          <p:cNvSpPr/>
          <p:nvPr/>
        </p:nvSpPr>
        <p:spPr>
          <a:xfrm>
            <a:off x="621792" y="2487168"/>
            <a:ext cx="2331720" cy="1005840"/>
          </a:xfrm>
          <a:prstGeom prst="rect">
            <a:avLst/>
          </a:prstGeom>
          <a:noFill/>
          <a:ln/>
        </p:spPr>
        <p:txBody>
          <a:bodyPr wrap="square" lIns="0" tIns="0" rIns="0" bIns="0" rtlCol="0" anchor="t"/>
          <a:lstStyle/>
          <a:p>
            <a:pPr indent="0" marL="0">
              <a:buNone/>
            </a:pPr>
            <a:r>
              <a:rPr lang="en-US" sz="950" dirty="0">
                <a:solidFill>
                  <a:srgbClr val="18181F"/>
                </a:solidFill>
                <a:latin typeface="Calibri" pitchFamily="34" charset="0"/>
                <a:ea typeface="Calibri" pitchFamily="34" charset="-122"/>
                <a:cs typeface="Calibri" pitchFamily="34" charset="-120"/>
              </a:rPr>
              <a:t>The context doesn’t strongly favour either type. Both are viable given current inputs.</a:t>
            </a:r>
            <a:endParaRPr lang="en-US" sz="950" dirty="0"/>
          </a:p>
        </p:txBody>
      </p:sp>
      <p:sp>
        <p:nvSpPr>
          <p:cNvPr id="9" name="Shape 7"/>
          <p:cNvSpPr/>
          <p:nvPr/>
        </p:nvSpPr>
        <p:spPr>
          <a:xfrm>
            <a:off x="3273552" y="2103120"/>
            <a:ext cx="2606040" cy="1508760"/>
          </a:xfrm>
          <a:prstGeom prst="rect">
            <a:avLst/>
          </a:prstGeom>
          <a:solidFill>
            <a:srgbClr val="FFFFFF"/>
          </a:solidFill>
          <a:ln w="6350">
            <a:solidFill>
              <a:srgbClr val="E4E4EA"/>
            </a:solidFill>
            <a:prstDash val="solid"/>
          </a:ln>
        </p:spPr>
      </p:sp>
      <p:sp>
        <p:nvSpPr>
          <p:cNvPr id="10" name="Text 8"/>
          <p:cNvSpPr/>
          <p:nvPr/>
        </p:nvSpPr>
        <p:spPr>
          <a:xfrm>
            <a:off x="3438144" y="2231136"/>
            <a:ext cx="2331720" cy="182880"/>
          </a:xfrm>
          <a:prstGeom prst="rect">
            <a:avLst/>
          </a:prstGeom>
          <a:noFill/>
          <a:ln/>
        </p:spPr>
        <p:txBody>
          <a:bodyPr wrap="square" lIns="0" tIns="0" rIns="0" bIns="0" rtlCol="0" anchor="ctr"/>
          <a:lstStyle/>
          <a:p>
            <a:pPr indent="0" marL="0">
              <a:buNone/>
            </a:pPr>
            <a:r>
              <a:rPr lang="en-US" sz="700" b="1" spc="250" kern="0" dirty="0">
                <a:solidFill>
                  <a:srgbClr val="6B7280"/>
                </a:solidFill>
                <a:latin typeface="Courier New" pitchFamily="34" charset="0"/>
                <a:ea typeface="Courier New" pitchFamily="34" charset="-122"/>
                <a:cs typeface="Courier New" pitchFamily="34" charset="-120"/>
              </a:rPr>
              <a:t>WHAT THE REPORT SHOWS</a:t>
            </a:r>
            <a:endParaRPr lang="en-US" sz="700" dirty="0"/>
          </a:p>
        </p:txBody>
      </p:sp>
      <p:sp>
        <p:nvSpPr>
          <p:cNvPr id="11" name="Text 9"/>
          <p:cNvSpPr/>
          <p:nvPr/>
        </p:nvSpPr>
        <p:spPr>
          <a:xfrm>
            <a:off x="3438144" y="2487168"/>
            <a:ext cx="2331720" cy="100584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Both types side by side: red flags and alignments compared directly. Tension profiles, not scores.</a:t>
            </a:r>
            <a:endParaRPr lang="en-US" sz="950" dirty="0"/>
          </a:p>
        </p:txBody>
      </p:sp>
      <p:sp>
        <p:nvSpPr>
          <p:cNvPr id="12" name="Shape 10"/>
          <p:cNvSpPr/>
          <p:nvPr/>
        </p:nvSpPr>
        <p:spPr>
          <a:xfrm>
            <a:off x="6089904" y="2103120"/>
            <a:ext cx="2606040" cy="1508760"/>
          </a:xfrm>
          <a:prstGeom prst="rect">
            <a:avLst/>
          </a:prstGeom>
          <a:solidFill>
            <a:srgbClr val="FFFFFF"/>
          </a:solidFill>
          <a:ln w="6350">
            <a:solidFill>
              <a:srgbClr val="E4E4EA"/>
            </a:solidFill>
            <a:prstDash val="solid"/>
          </a:ln>
        </p:spPr>
      </p:sp>
      <p:sp>
        <p:nvSpPr>
          <p:cNvPr id="13" name="Text 11"/>
          <p:cNvSpPr/>
          <p:nvPr/>
        </p:nvSpPr>
        <p:spPr>
          <a:xfrm>
            <a:off x="6254496" y="2231136"/>
            <a:ext cx="2331720" cy="182880"/>
          </a:xfrm>
          <a:prstGeom prst="rect">
            <a:avLst/>
          </a:prstGeom>
          <a:noFill/>
          <a:ln/>
        </p:spPr>
        <p:txBody>
          <a:bodyPr wrap="square" lIns="0" tIns="0" rIns="0" bIns="0" rtlCol="0" anchor="ctr"/>
          <a:lstStyle/>
          <a:p>
            <a:pPr indent="0" marL="0">
              <a:buNone/>
            </a:pPr>
            <a:r>
              <a:rPr lang="en-US" sz="700" b="1" spc="250" kern="0" dirty="0">
                <a:solidFill>
                  <a:srgbClr val="6B7280"/>
                </a:solidFill>
                <a:latin typeface="Courier New" pitchFamily="34" charset="0"/>
                <a:ea typeface="Courier New" pitchFamily="34" charset="-122"/>
                <a:cs typeface="Courier New" pitchFamily="34" charset="-120"/>
              </a:rPr>
              <a:t>WHAT THE DESIGNER DOES</a:t>
            </a:r>
            <a:endParaRPr lang="en-US" sz="700" dirty="0"/>
          </a:p>
        </p:txBody>
      </p:sp>
      <p:sp>
        <p:nvSpPr>
          <p:cNvPr id="14" name="Text 12"/>
          <p:cNvSpPr/>
          <p:nvPr/>
        </p:nvSpPr>
        <p:spPr>
          <a:xfrm>
            <a:off x="6254496" y="2487168"/>
            <a:ext cx="2331720" cy="100584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Decides based on specific risks. The “informs, not decides” principle in practice.</a:t>
            </a:r>
            <a:endParaRPr lang="en-US" sz="950" dirty="0"/>
          </a:p>
        </p:txBody>
      </p:sp>
      <p:sp>
        <p:nvSpPr>
          <p:cNvPr id="15" name="Text 13"/>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16" name="Text 14"/>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B5</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BACKUP · FUTURE</a:t>
            </a:r>
            <a:endParaRPr lang="en-US" sz="800" dirty="0"/>
          </a:p>
        </p:txBody>
      </p:sp>
      <p:sp>
        <p:nvSpPr>
          <p:cNvPr id="4" name="Text 2"/>
          <p:cNvSpPr/>
          <p:nvPr/>
        </p:nvSpPr>
        <p:spPr>
          <a:xfrm>
            <a:off x="457200" y="64008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How does NEXUS evolve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after this defense?</a:t>
            </a:r>
            <a:endParaRPr lang="en-US" sz="2800" dirty="0"/>
          </a:p>
        </p:txBody>
      </p:sp>
      <p:sp>
        <p:nvSpPr>
          <p:cNvPr id="5" name="Shape 3"/>
          <p:cNvSpPr/>
          <p:nvPr/>
        </p:nvSpPr>
        <p:spPr>
          <a:xfrm>
            <a:off x="457200" y="1691640"/>
            <a:ext cx="3931920" cy="1005840"/>
          </a:xfrm>
          <a:prstGeom prst="rect">
            <a:avLst/>
          </a:prstGeom>
          <a:solidFill>
            <a:srgbClr val="EEF3FF"/>
          </a:solidFill>
          <a:ln w="9525">
            <a:solidFill>
              <a:srgbClr val="2563EB"/>
            </a:solidFill>
            <a:prstDash val="solid"/>
          </a:ln>
        </p:spPr>
      </p:sp>
      <p:sp>
        <p:nvSpPr>
          <p:cNvPr id="6" name="Shape 4"/>
          <p:cNvSpPr/>
          <p:nvPr/>
        </p:nvSpPr>
        <p:spPr>
          <a:xfrm>
            <a:off x="457200" y="1691640"/>
            <a:ext cx="45720" cy="1005840"/>
          </a:xfrm>
          <a:prstGeom prst="rect">
            <a:avLst/>
          </a:prstGeom>
          <a:solidFill>
            <a:srgbClr val="2563EB"/>
          </a:solidFill>
          <a:ln w="12700">
            <a:solidFill>
              <a:srgbClr val="2563EB"/>
            </a:solidFill>
            <a:prstDash val="solid"/>
          </a:ln>
        </p:spPr>
      </p:sp>
      <p:sp>
        <p:nvSpPr>
          <p:cNvPr id="7" name="Text 5"/>
          <p:cNvSpPr/>
          <p:nvPr/>
        </p:nvSpPr>
        <p:spPr>
          <a:xfrm>
            <a:off x="640080" y="1783080"/>
            <a:ext cx="1005840" cy="201168"/>
          </a:xfrm>
          <a:prstGeom prst="rect">
            <a:avLst/>
          </a:prstGeom>
          <a:noFill/>
          <a:ln/>
        </p:spPr>
        <p:txBody>
          <a:bodyPr wrap="square" lIns="0" tIns="0" rIns="0" bIns="0" rtlCol="0" anchor="ctr"/>
          <a:lstStyle/>
          <a:p>
            <a:pPr indent="0" marL="0">
              <a:buNone/>
            </a:pPr>
            <a:r>
              <a:rPr lang="en-US" sz="750" b="1" spc="150" kern="0" dirty="0">
                <a:solidFill>
                  <a:srgbClr val="2563EB"/>
                </a:solidFill>
                <a:latin typeface="Courier New" pitchFamily="34" charset="0"/>
                <a:ea typeface="Courier New" pitchFamily="34" charset="-122"/>
                <a:cs typeface="Courier New" pitchFamily="34" charset="-120"/>
              </a:rPr>
              <a:t>Year 1 —</a:t>
            </a:r>
            <a:endParaRPr lang="en-US" sz="750" dirty="0"/>
          </a:p>
        </p:txBody>
      </p:sp>
      <p:sp>
        <p:nvSpPr>
          <p:cNvPr id="8" name="Text 6"/>
          <p:cNvSpPr/>
          <p:nvPr/>
        </p:nvSpPr>
        <p:spPr>
          <a:xfrm>
            <a:off x="1664208" y="1764792"/>
            <a:ext cx="2606040" cy="256032"/>
          </a:xfrm>
          <a:prstGeom prst="rect">
            <a:avLst/>
          </a:prstGeom>
          <a:noFill/>
          <a:ln/>
        </p:spPr>
        <p:txBody>
          <a:bodyPr wrap="square" lIns="0" tIns="0" rIns="0" bIns="0" rtlCol="0" anchor="ctr"/>
          <a:lstStyle/>
          <a:p>
            <a:pPr indent="0" marL="0">
              <a:buNone/>
            </a:pPr>
            <a:r>
              <a:rPr lang="en-US" sz="1200" b="1" dirty="0">
                <a:solidFill>
                  <a:srgbClr val="18181F"/>
                </a:solidFill>
                <a:latin typeface="Calibri" pitchFamily="34" charset="0"/>
                <a:ea typeface="Calibri" pitchFamily="34" charset="-122"/>
                <a:cs typeface="Calibri" pitchFamily="34" charset="-120"/>
              </a:rPr>
              <a:t>Single maintainer</a:t>
            </a:r>
            <a:endParaRPr lang="en-US" sz="1200" dirty="0"/>
          </a:p>
        </p:txBody>
      </p:sp>
      <p:sp>
        <p:nvSpPr>
          <p:cNvPr id="9" name="Text 7"/>
          <p:cNvSpPr/>
          <p:nvPr/>
        </p:nvSpPr>
        <p:spPr>
          <a:xfrm>
            <a:off x="640080" y="2075688"/>
            <a:ext cx="3657600" cy="502920"/>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Author maintains quality. Community PRs accepted via structured review.</a:t>
            </a:r>
            <a:endParaRPr lang="en-US" sz="900" dirty="0"/>
          </a:p>
        </p:txBody>
      </p:sp>
      <p:sp>
        <p:nvSpPr>
          <p:cNvPr id="10" name="Shape 8"/>
          <p:cNvSpPr/>
          <p:nvPr/>
        </p:nvSpPr>
        <p:spPr>
          <a:xfrm>
            <a:off x="457200" y="2880360"/>
            <a:ext cx="3931920" cy="1005840"/>
          </a:xfrm>
          <a:prstGeom prst="rect">
            <a:avLst/>
          </a:prstGeom>
          <a:solidFill>
            <a:srgbClr val="FFFFFF"/>
          </a:solidFill>
          <a:ln w="6350">
            <a:solidFill>
              <a:srgbClr val="E4E4EA"/>
            </a:solidFill>
            <a:prstDash val="solid"/>
          </a:ln>
        </p:spPr>
      </p:sp>
      <p:sp>
        <p:nvSpPr>
          <p:cNvPr id="11" name="Text 9"/>
          <p:cNvSpPr/>
          <p:nvPr/>
        </p:nvSpPr>
        <p:spPr>
          <a:xfrm>
            <a:off x="640080" y="2971800"/>
            <a:ext cx="1005840" cy="201168"/>
          </a:xfrm>
          <a:prstGeom prst="rect">
            <a:avLst/>
          </a:prstGeom>
          <a:noFill/>
          <a:ln/>
        </p:spPr>
        <p:txBody>
          <a:bodyPr wrap="square" lIns="0" tIns="0" rIns="0" bIns="0" rtlCol="0" anchor="ctr"/>
          <a:lstStyle/>
          <a:p>
            <a:pPr indent="0" marL="0">
              <a:buNone/>
            </a:pPr>
            <a:r>
              <a:rPr lang="en-US" sz="750" b="1" spc="150" kern="0" dirty="0">
                <a:solidFill>
                  <a:srgbClr val="2563EB"/>
                </a:solidFill>
                <a:latin typeface="Courier New" pitchFamily="34" charset="0"/>
                <a:ea typeface="Courier New" pitchFamily="34" charset="-122"/>
                <a:cs typeface="Courier New" pitchFamily="34" charset="-120"/>
              </a:rPr>
              <a:t>Year 2 —</a:t>
            </a:r>
            <a:endParaRPr lang="en-US" sz="750" dirty="0"/>
          </a:p>
        </p:txBody>
      </p:sp>
      <p:sp>
        <p:nvSpPr>
          <p:cNvPr id="12" name="Text 10"/>
          <p:cNvSpPr/>
          <p:nvPr/>
        </p:nvSpPr>
        <p:spPr>
          <a:xfrm>
            <a:off x="1664208" y="2953512"/>
            <a:ext cx="2606040" cy="256032"/>
          </a:xfrm>
          <a:prstGeom prst="rect">
            <a:avLst/>
          </a:prstGeom>
          <a:noFill/>
          <a:ln/>
        </p:spPr>
        <p:txBody>
          <a:bodyPr wrap="square" lIns="0" tIns="0" rIns="0" bIns="0" rtlCol="0" anchor="ctr"/>
          <a:lstStyle/>
          <a:p>
            <a:pPr indent="0" marL="0">
              <a:buNone/>
            </a:pPr>
            <a:r>
              <a:rPr lang="en-US" sz="1200" b="1" dirty="0">
                <a:solidFill>
                  <a:srgbClr val="18181F"/>
                </a:solidFill>
                <a:latin typeface="Calibri" pitchFamily="34" charset="0"/>
                <a:ea typeface="Calibri" pitchFamily="34" charset="-122"/>
                <a:cs typeface="Calibri" pitchFamily="34" charset="-120"/>
              </a:rPr>
              <a:t>Community steering</a:t>
            </a:r>
            <a:endParaRPr lang="en-US" sz="1200" dirty="0"/>
          </a:p>
        </p:txBody>
      </p:sp>
      <p:sp>
        <p:nvSpPr>
          <p:cNvPr id="13" name="Text 11"/>
          <p:cNvSpPr/>
          <p:nvPr/>
        </p:nvSpPr>
        <p:spPr>
          <a:xfrm>
            <a:off x="640080" y="3264408"/>
            <a:ext cx="3657600" cy="502920"/>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Contributor council governs. Domain-specific forks enabled.</a:t>
            </a:r>
            <a:endParaRPr lang="en-US" sz="900" dirty="0"/>
          </a:p>
        </p:txBody>
      </p:sp>
      <p:sp>
        <p:nvSpPr>
          <p:cNvPr id="14" name="Shape 12"/>
          <p:cNvSpPr/>
          <p:nvPr/>
        </p:nvSpPr>
        <p:spPr>
          <a:xfrm>
            <a:off x="457200" y="4069080"/>
            <a:ext cx="3931920" cy="1005840"/>
          </a:xfrm>
          <a:prstGeom prst="rect">
            <a:avLst/>
          </a:prstGeom>
          <a:solidFill>
            <a:srgbClr val="FFFFFF"/>
          </a:solidFill>
          <a:ln w="6350">
            <a:solidFill>
              <a:srgbClr val="E4E4EA"/>
            </a:solidFill>
            <a:prstDash val="solid"/>
          </a:ln>
        </p:spPr>
      </p:sp>
      <p:sp>
        <p:nvSpPr>
          <p:cNvPr id="15" name="Text 13"/>
          <p:cNvSpPr/>
          <p:nvPr/>
        </p:nvSpPr>
        <p:spPr>
          <a:xfrm>
            <a:off x="640080" y="4160520"/>
            <a:ext cx="1005840" cy="201168"/>
          </a:xfrm>
          <a:prstGeom prst="rect">
            <a:avLst/>
          </a:prstGeom>
          <a:noFill/>
          <a:ln/>
        </p:spPr>
        <p:txBody>
          <a:bodyPr wrap="square" lIns="0" tIns="0" rIns="0" bIns="0" rtlCol="0" anchor="ctr"/>
          <a:lstStyle/>
          <a:p>
            <a:pPr indent="0" marL="0">
              <a:buNone/>
            </a:pPr>
            <a:r>
              <a:rPr lang="en-US" sz="750" b="1" spc="150" kern="0" dirty="0">
                <a:solidFill>
                  <a:srgbClr val="2563EB"/>
                </a:solidFill>
                <a:latin typeface="Courier New" pitchFamily="34" charset="0"/>
                <a:ea typeface="Courier New" pitchFamily="34" charset="-122"/>
                <a:cs typeface="Courier New" pitchFamily="34" charset="-120"/>
              </a:rPr>
              <a:t>Year 3 —</a:t>
            </a:r>
            <a:endParaRPr lang="en-US" sz="750" dirty="0"/>
          </a:p>
        </p:txBody>
      </p:sp>
      <p:sp>
        <p:nvSpPr>
          <p:cNvPr id="16" name="Text 14"/>
          <p:cNvSpPr/>
          <p:nvPr/>
        </p:nvSpPr>
        <p:spPr>
          <a:xfrm>
            <a:off x="1664208" y="4142232"/>
            <a:ext cx="2606040" cy="256032"/>
          </a:xfrm>
          <a:prstGeom prst="rect">
            <a:avLst/>
          </a:prstGeom>
          <a:noFill/>
          <a:ln/>
        </p:spPr>
        <p:txBody>
          <a:bodyPr wrap="square" lIns="0" tIns="0" rIns="0" bIns="0" rtlCol="0" anchor="ctr"/>
          <a:lstStyle/>
          <a:p>
            <a:pPr indent="0" marL="0">
              <a:buNone/>
            </a:pPr>
            <a:r>
              <a:rPr lang="en-US" sz="1200" b="1" dirty="0">
                <a:solidFill>
                  <a:srgbClr val="18181F"/>
                </a:solidFill>
                <a:latin typeface="Calibri" pitchFamily="34" charset="0"/>
                <a:ea typeface="Calibri" pitchFamily="34" charset="-122"/>
                <a:cs typeface="Calibri" pitchFamily="34" charset="-120"/>
              </a:rPr>
              <a:t>Distributed ownership</a:t>
            </a:r>
            <a:endParaRPr lang="en-US" sz="1200" dirty="0"/>
          </a:p>
        </p:txBody>
      </p:sp>
      <p:sp>
        <p:nvSpPr>
          <p:cNvPr id="17" name="Text 15"/>
          <p:cNvSpPr/>
          <p:nvPr/>
        </p:nvSpPr>
        <p:spPr>
          <a:xfrm>
            <a:off x="640080" y="4453128"/>
            <a:ext cx="3657600" cy="502920"/>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Full community control. Plugin architecture for swappable AI providers.</a:t>
            </a:r>
            <a:endParaRPr lang="en-US" sz="900" dirty="0"/>
          </a:p>
        </p:txBody>
      </p:sp>
      <p:sp>
        <p:nvSpPr>
          <p:cNvPr id="18" name="Shape 16"/>
          <p:cNvSpPr/>
          <p:nvPr/>
        </p:nvSpPr>
        <p:spPr>
          <a:xfrm>
            <a:off x="4663440" y="1691640"/>
            <a:ext cx="41148" cy="3017520"/>
          </a:xfrm>
          <a:prstGeom prst="rect">
            <a:avLst/>
          </a:prstGeom>
          <a:solidFill>
            <a:srgbClr val="2563EB"/>
          </a:solidFill>
          <a:ln w="12700">
            <a:solidFill>
              <a:srgbClr val="2563EB"/>
            </a:solidFill>
            <a:prstDash val="solid"/>
          </a:ln>
        </p:spPr>
      </p:sp>
      <p:sp>
        <p:nvSpPr>
          <p:cNvPr id="19" name="Shape 17"/>
          <p:cNvSpPr/>
          <p:nvPr/>
        </p:nvSpPr>
        <p:spPr>
          <a:xfrm>
            <a:off x="4704588" y="1691640"/>
            <a:ext cx="3982212" cy="3017520"/>
          </a:xfrm>
          <a:prstGeom prst="rect">
            <a:avLst/>
          </a:prstGeom>
          <a:solidFill>
            <a:srgbClr val="FFFFFF"/>
          </a:solidFill>
          <a:ln w="6350">
            <a:solidFill>
              <a:srgbClr val="E4E4EA"/>
            </a:solidFill>
            <a:prstDash val="solid"/>
          </a:ln>
        </p:spPr>
      </p:sp>
      <p:sp>
        <p:nvSpPr>
          <p:cNvPr id="20" name="Text 18"/>
          <p:cNvSpPr/>
          <p:nvPr/>
        </p:nvSpPr>
        <p:spPr>
          <a:xfrm>
            <a:off x="4828032" y="1819656"/>
            <a:ext cx="3767328" cy="2816352"/>
          </a:xfrm>
          <a:prstGeom prst="rect">
            <a:avLst/>
          </a:prstGeom>
          <a:noFill/>
          <a:ln/>
        </p:spPr>
        <p:txBody>
          <a:bodyPr wrap="square" lIns="0" tIns="0" rIns="0" bIns="0" rtlCol="0" anchor="t"/>
          <a:lstStyle/>
          <a:p>
            <a:pPr indent="0" marL="0">
              <a:buNone/>
            </a:pPr>
            <a:r>
              <a:rPr lang="en-US" sz="900" dirty="0">
                <a:solidFill>
                  <a:srgbClr val="18181F"/>
                </a:solidFill>
                <a:latin typeface="Calibri" pitchFamily="34" charset="0"/>
                <a:ea typeface="Calibri" pitchFamily="34" charset="-122"/>
                <a:cs typeface="Calibri" pitchFamily="34" charset="-120"/>
              </a:rPr>
              <a:t>MIT license means anyone can use, modify, and extend it. No permission required, no payment needed.</a:t>
            </a:r>
            <a:endParaRPr lang="en-US" sz="900" dirty="0"/>
          </a:p>
          <a:p>
            <a:pPr indent="0" marL="0">
              <a:buNone/>
            </a:pPr>
            <a:r>
              <a:rPr lang="en-US" sz="750" dirty="0">
                <a:solidFill>
                  <a:srgbClr val="6B7280"/>
                </a:solidFill>
                <a:latin typeface="Courier New" pitchFamily="34" charset="0"/>
                <a:ea typeface="Courier New" pitchFamily="34" charset="-122"/>
                <a:cs typeface="Courier New" pitchFamily="34" charset="-120"/>
              </a:rPr>
              <a:t>
</a:t>
            </a:r>
            <a:endParaRPr lang="en-US" sz="900" dirty="0"/>
          </a:p>
        </p:txBody>
      </p:sp>
      <p:sp>
        <p:nvSpPr>
          <p:cNvPr id="21" name="Text 19"/>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2" name="Text 20"/>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B6</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BACKUP · SCOPE</a:t>
            </a:r>
            <a:endParaRPr lang="en-US" sz="800" dirty="0"/>
          </a:p>
        </p:txBody>
      </p:sp>
      <p:sp>
        <p:nvSpPr>
          <p:cNvPr id="4" name="Text 2"/>
          <p:cNvSpPr/>
          <p:nvPr/>
        </p:nvSpPr>
        <p:spPr>
          <a:xfrm>
            <a:off x="457200" y="64008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Is this a master’s thesis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or a doctoral dissertation?</a:t>
            </a:r>
            <a:endParaRPr lang="en-US" sz="2800" dirty="0"/>
          </a:p>
        </p:txBody>
      </p:sp>
      <p:sp>
        <p:nvSpPr>
          <p:cNvPr id="5" name="Text 3"/>
          <p:cNvSpPr/>
          <p:nvPr/>
        </p:nvSpPr>
        <p:spPr>
          <a:xfrm>
            <a:off x="457200" y="1627632"/>
            <a:ext cx="8229600" cy="320040"/>
          </a:xfrm>
          <a:prstGeom prst="rect">
            <a:avLst/>
          </a:prstGeom>
          <a:noFill/>
          <a:ln/>
        </p:spPr>
        <p:txBody>
          <a:bodyPr wrap="square" lIns="0" tIns="0" rIns="0" bIns="0" rtlCol="0" anchor="ctr"/>
          <a:lstStyle/>
          <a:p>
            <a:pPr indent="0" marL="0">
              <a:buNone/>
            </a:pPr>
            <a:r>
              <a:rPr lang="en-US" sz="1400" dirty="0">
                <a:solidFill>
                  <a:srgbClr val="18181F"/>
                </a:solidFill>
                <a:latin typeface="Calibri" pitchFamily="34" charset="0"/>
                <a:ea typeface="Calibri" pitchFamily="34" charset="-122"/>
                <a:cs typeface="Calibri" pitchFamily="34" charset="-120"/>
              </a:rPr>
              <a:t>Deliberately bounded. One primary contribution, three subordinate.</a:t>
            </a:r>
            <a:endParaRPr lang="en-US" sz="1400" dirty="0"/>
          </a:p>
        </p:txBody>
      </p:sp>
      <p:sp>
        <p:nvSpPr>
          <p:cNvPr id="6" name="Shape 4"/>
          <p:cNvSpPr/>
          <p:nvPr/>
        </p:nvSpPr>
        <p:spPr>
          <a:xfrm>
            <a:off x="457200" y="2057400"/>
            <a:ext cx="3977640" cy="1371600"/>
          </a:xfrm>
          <a:prstGeom prst="rect">
            <a:avLst/>
          </a:prstGeom>
          <a:solidFill>
            <a:srgbClr val="EEF3FF"/>
          </a:solidFill>
          <a:ln w="6350">
            <a:solidFill>
              <a:srgbClr val="2563EB"/>
            </a:solidFill>
            <a:prstDash val="solid"/>
          </a:ln>
        </p:spPr>
      </p:sp>
      <p:sp>
        <p:nvSpPr>
          <p:cNvPr id="7" name="Text 5"/>
          <p:cNvSpPr/>
          <p:nvPr/>
        </p:nvSpPr>
        <p:spPr>
          <a:xfrm>
            <a:off x="640080" y="2185416"/>
            <a:ext cx="3703320" cy="182880"/>
          </a:xfrm>
          <a:prstGeom prst="rect">
            <a:avLst/>
          </a:prstGeom>
          <a:noFill/>
          <a:ln/>
        </p:spPr>
        <p:txBody>
          <a:bodyPr wrap="square" lIns="0" tIns="0" rIns="0" bIns="0" rtlCol="0" anchor="ctr"/>
          <a:lstStyle/>
          <a:p>
            <a:pPr indent="0" marL="0">
              <a:buNone/>
            </a:pPr>
            <a:r>
              <a:rPr lang="en-US" sz="700" b="1" spc="250" kern="0" dirty="0">
                <a:solidFill>
                  <a:srgbClr val="2563EB"/>
                </a:solidFill>
                <a:latin typeface="Courier New" pitchFamily="34" charset="0"/>
                <a:ea typeface="Courier New" pitchFamily="34" charset="-122"/>
                <a:cs typeface="Courier New" pitchFamily="34" charset="-120"/>
              </a:rPr>
              <a:t>PRIMARY — METHODOLOGICAL</a:t>
            </a:r>
            <a:endParaRPr lang="en-US" sz="700" dirty="0"/>
          </a:p>
        </p:txBody>
      </p:sp>
      <p:sp>
        <p:nvSpPr>
          <p:cNvPr id="8" name="Text 6"/>
          <p:cNvSpPr/>
          <p:nvPr/>
        </p:nvSpPr>
        <p:spPr>
          <a:xfrm>
            <a:off x="640080" y="2441448"/>
            <a:ext cx="3703320" cy="868680"/>
          </a:xfrm>
          <a:prstGeom prst="rect">
            <a:avLst/>
          </a:prstGeom>
          <a:noFill/>
          <a:ln/>
        </p:spPr>
        <p:txBody>
          <a:bodyPr wrap="square" lIns="0" tIns="0" rIns="0" bIns="0" rtlCol="0" anchor="t"/>
          <a:lstStyle/>
          <a:p>
            <a:pPr indent="0" marL="0">
              <a:buNone/>
            </a:pPr>
            <a:r>
              <a:rPr lang="en-US" sz="950" dirty="0">
                <a:solidFill>
                  <a:srgbClr val="18181F"/>
                </a:solidFill>
                <a:latin typeface="Calibri" pitchFamily="34" charset="0"/>
                <a:ea typeface="Calibri" pitchFamily="34" charset="-122"/>
                <a:cs typeface="Calibri" pitchFamily="34" charset="-120"/>
              </a:rPr>
              <a:t>Replicable retrospective validation and values-first filtering. The field can build on this independently of the platform.</a:t>
            </a:r>
            <a:endParaRPr lang="en-US" sz="950" dirty="0"/>
          </a:p>
        </p:txBody>
      </p:sp>
      <p:sp>
        <p:nvSpPr>
          <p:cNvPr id="9" name="Shape 7"/>
          <p:cNvSpPr/>
          <p:nvPr/>
        </p:nvSpPr>
        <p:spPr>
          <a:xfrm>
            <a:off x="4709160" y="2057400"/>
            <a:ext cx="3977640" cy="1371600"/>
          </a:xfrm>
          <a:prstGeom prst="rect">
            <a:avLst/>
          </a:prstGeom>
          <a:solidFill>
            <a:srgbClr val="FFFFFF"/>
          </a:solidFill>
          <a:ln w="6350">
            <a:solidFill>
              <a:srgbClr val="E4E4EA"/>
            </a:solidFill>
            <a:prstDash val="solid"/>
          </a:ln>
        </p:spPr>
      </p:sp>
      <p:sp>
        <p:nvSpPr>
          <p:cNvPr id="10" name="Text 8"/>
          <p:cNvSpPr/>
          <p:nvPr/>
        </p:nvSpPr>
        <p:spPr>
          <a:xfrm>
            <a:off x="4892040" y="2185416"/>
            <a:ext cx="3703320" cy="182880"/>
          </a:xfrm>
          <a:prstGeom prst="rect">
            <a:avLst/>
          </a:prstGeom>
          <a:noFill/>
          <a:ln/>
        </p:spPr>
        <p:txBody>
          <a:bodyPr wrap="square" lIns="0" tIns="0" rIns="0" bIns="0" rtlCol="0" anchor="ctr"/>
          <a:lstStyle/>
          <a:p>
            <a:pPr indent="0" marL="0">
              <a:buNone/>
            </a:pPr>
            <a:r>
              <a:rPr lang="en-US" sz="700" b="1" spc="250" kern="0" dirty="0">
                <a:solidFill>
                  <a:srgbClr val="6B7280"/>
                </a:solidFill>
                <a:latin typeface="Courier New" pitchFamily="34" charset="0"/>
                <a:ea typeface="Courier New" pitchFamily="34" charset="-122"/>
                <a:cs typeface="Courier New" pitchFamily="34" charset="-120"/>
              </a:rPr>
              <a:t>SUBORDINATE CONTRIBUTIONS</a:t>
            </a:r>
            <a:endParaRPr lang="en-US" sz="700" dirty="0"/>
          </a:p>
        </p:txBody>
      </p:sp>
      <p:sp>
        <p:nvSpPr>
          <p:cNvPr id="11" name="Text 9"/>
          <p:cNvSpPr/>
          <p:nvPr/>
        </p:nvSpPr>
        <p:spPr>
          <a:xfrm>
            <a:off x="4892040" y="2441448"/>
            <a:ext cx="3703320" cy="868680"/>
          </a:xfrm>
          <a:prstGeom prst="rect">
            <a:avLst/>
          </a:prstGeom>
          <a:noFill/>
          <a:ln/>
        </p:spPr>
        <p:txBody>
          <a:bodyPr wrap="square" lIns="0" tIns="0" rIns="0" bIns="0" rtlCol="0" anchor="t"/>
          <a:lstStyle/>
          <a:p>
            <a:pPr indent="0" marL="0">
              <a:buNone/>
            </a:pPr>
            <a:r>
              <a:rPr lang="en-US" sz="950" dirty="0">
                <a:solidFill>
                  <a:srgbClr val="4B5563"/>
                </a:solidFill>
                <a:latin typeface="Calibri" pitchFamily="34" charset="0"/>
                <a:ea typeface="Calibri" pitchFamily="34" charset="-122"/>
                <a:cs typeface="Calibri" pitchFamily="34" charset="-120"/>
              </a:rPr>
              <a:t>Theoretical: first DIKW application. Practical: NEXUS as proof of concept. Infrastructural: open-source governance model.</a:t>
            </a:r>
            <a:endParaRPr lang="en-US" sz="950" dirty="0"/>
          </a:p>
        </p:txBody>
      </p:sp>
      <p:sp>
        <p:nvSpPr>
          <p:cNvPr id="12" name="Shape 10"/>
          <p:cNvSpPr/>
          <p:nvPr/>
        </p:nvSpPr>
        <p:spPr>
          <a:xfrm>
            <a:off x="457200" y="3593592"/>
            <a:ext cx="41148" cy="749808"/>
          </a:xfrm>
          <a:prstGeom prst="rect">
            <a:avLst/>
          </a:prstGeom>
          <a:solidFill>
            <a:srgbClr val="2563EB"/>
          </a:solidFill>
          <a:ln w="12700">
            <a:solidFill>
              <a:srgbClr val="2563EB"/>
            </a:solidFill>
            <a:prstDash val="solid"/>
          </a:ln>
        </p:spPr>
      </p:sp>
      <p:sp>
        <p:nvSpPr>
          <p:cNvPr id="13" name="Shape 11"/>
          <p:cNvSpPr/>
          <p:nvPr/>
        </p:nvSpPr>
        <p:spPr>
          <a:xfrm>
            <a:off x="498348" y="3593592"/>
            <a:ext cx="8188452" cy="749808"/>
          </a:xfrm>
          <a:prstGeom prst="rect">
            <a:avLst/>
          </a:prstGeom>
          <a:solidFill>
            <a:srgbClr val="FFFFFF"/>
          </a:solidFill>
          <a:ln w="6350">
            <a:solidFill>
              <a:srgbClr val="E4E4EA"/>
            </a:solidFill>
            <a:prstDash val="solid"/>
          </a:ln>
        </p:spPr>
      </p:sp>
      <p:sp>
        <p:nvSpPr>
          <p:cNvPr id="14" name="Text 12"/>
          <p:cNvSpPr/>
          <p:nvPr/>
        </p:nvSpPr>
        <p:spPr>
          <a:xfrm>
            <a:off x="621792" y="3721608"/>
            <a:ext cx="7973568" cy="548640"/>
          </a:xfrm>
          <a:prstGeom prst="rect">
            <a:avLst/>
          </a:prstGeom>
          <a:noFill/>
          <a:ln/>
        </p:spPr>
        <p:txBody>
          <a:bodyPr wrap="square" lIns="0" tIns="0" rIns="0" bIns="0" rtlCol="0" anchor="t"/>
          <a:lstStyle/>
          <a:p>
            <a:pPr indent="0" marL="0">
              <a:buNone/>
            </a:pPr>
            <a:r>
              <a:rPr lang="en-US" sz="900" dirty="0">
                <a:solidFill>
                  <a:srgbClr val="18181F"/>
                </a:solidFill>
                <a:latin typeface="Calibri" pitchFamily="34" charset="0"/>
                <a:ea typeface="Calibri" pitchFamily="34" charset="-122"/>
                <a:cs typeface="Calibri" pitchFamily="34" charset="-120"/>
              </a:rPr>
              <a:t>Field validation across organizations is the explicit next step, it is not a gap in this work.</a:t>
            </a:r>
            <a:endParaRPr lang="en-US" sz="900" dirty="0"/>
          </a:p>
          <a:p>
            <a:pPr indent="0" marL="0">
              <a:buNone/>
            </a:pPr>
            <a:r>
              <a:rPr lang="en-US" sz="750" dirty="0">
                <a:solidFill>
                  <a:srgbClr val="6B7280"/>
                </a:solidFill>
                <a:latin typeface="Courier New" pitchFamily="34" charset="0"/>
                <a:ea typeface="Courier New" pitchFamily="34" charset="-122"/>
                <a:cs typeface="Courier New" pitchFamily="34" charset="-120"/>
              </a:rPr>
              <a:t>
</a:t>
            </a:r>
            <a:endParaRPr lang="en-US" sz="900" dirty="0"/>
          </a:p>
        </p:txBody>
      </p:sp>
      <p:sp>
        <p:nvSpPr>
          <p:cNvPr id="15" name="Text 13"/>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16" name="Text 14"/>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B7</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4F6"/>
        </a:solidFill>
      </p:bgPr>
    </p:bg>
    <p:spTree>
      <p:nvGrpSpPr>
        <p:cNvPr id="1" name=""/>
        <p:cNvGrpSpPr/>
        <p:nvPr/>
      </p:nvGrpSpPr>
      <p:grpSpPr>
        <a:xfrm>
          <a:off x="0" y="0"/>
          <a:ext cx="0" cy="0"/>
          <a:chOff x="0" y="0"/>
          <a:chExt cx="0" cy="0"/>
        </a:xfrm>
      </p:grpSpPr>
      <p:sp>
        <p:nvSpPr>
          <p:cNvPr id="2" name="Shape 0"/>
          <p:cNvSpPr/>
          <p:nvPr/>
        </p:nvSpPr>
        <p:spPr>
          <a:xfrm>
            <a:off x="457200" y="397764"/>
            <a:ext cx="274320" cy="13716"/>
          </a:xfrm>
          <a:prstGeom prst="rect">
            <a:avLst/>
          </a:prstGeom>
          <a:solidFill>
            <a:srgbClr val="2563EB"/>
          </a:solidFill>
          <a:ln w="12700">
            <a:solidFill>
              <a:srgbClr val="2563EB"/>
            </a:solidFill>
            <a:prstDash val="solid"/>
          </a:ln>
        </p:spPr>
      </p:sp>
      <p:sp>
        <p:nvSpPr>
          <p:cNvPr id="3" name="Text 1"/>
          <p:cNvSpPr/>
          <p:nvPr/>
        </p:nvSpPr>
        <p:spPr>
          <a:xfrm>
            <a:off x="804672" y="347472"/>
            <a:ext cx="7772400" cy="201168"/>
          </a:xfrm>
          <a:prstGeom prst="rect">
            <a:avLst/>
          </a:prstGeom>
          <a:noFill/>
          <a:ln/>
        </p:spPr>
        <p:txBody>
          <a:bodyPr wrap="square" lIns="0" tIns="0" rIns="0" bIns="0" rtlCol="0" anchor="ctr"/>
          <a:lstStyle/>
          <a:p>
            <a:pPr indent="0" marL="0">
              <a:buNone/>
            </a:pPr>
            <a:r>
              <a:rPr lang="en-US" sz="800" b="1" spc="400" kern="0" dirty="0">
                <a:solidFill>
                  <a:srgbClr val="2563EB"/>
                </a:solidFill>
                <a:latin typeface="Courier New" pitchFamily="34" charset="0"/>
                <a:ea typeface="Courier New" pitchFamily="34" charset="-122"/>
                <a:cs typeface="Courier New" pitchFamily="34" charset="-120"/>
              </a:rPr>
              <a:t>BACKUP · ARCHITECTURE</a:t>
            </a:r>
            <a:endParaRPr lang="en-US" sz="800" dirty="0"/>
          </a:p>
        </p:txBody>
      </p:sp>
      <p:sp>
        <p:nvSpPr>
          <p:cNvPr id="4" name="Text 2"/>
          <p:cNvSpPr/>
          <p:nvPr/>
        </p:nvSpPr>
        <p:spPr>
          <a:xfrm>
            <a:off x="457200" y="594360"/>
            <a:ext cx="8229600" cy="914400"/>
          </a:xfrm>
          <a:prstGeom prst="rect">
            <a:avLst/>
          </a:prstGeom>
          <a:noFill/>
          <a:ln/>
        </p:spPr>
        <p:txBody>
          <a:bodyPr wrap="square" lIns="0" tIns="0" rIns="0" bIns="0" rtlCol="0" anchor="ctr"/>
          <a:lstStyle/>
          <a:p>
            <a:pPr indent="0" marL="0">
              <a:lnSpc>
                <a:spcPct val="105000"/>
              </a:lnSpc>
              <a:buNone/>
            </a:pPr>
            <a:r>
              <a:rPr lang="en-US" sz="2800" b="1" spc="-100" kern="0" dirty="0">
                <a:solidFill>
                  <a:srgbClr val="18181F"/>
                </a:solidFill>
                <a:latin typeface="Calibri" pitchFamily="34" charset="0"/>
                <a:ea typeface="Calibri" pitchFamily="34" charset="-122"/>
                <a:cs typeface="Calibri" pitchFamily="34" charset="-120"/>
              </a:rPr>
              <a:t>Input to output.
</a:t>
            </a:r>
            <a:pPr indent="0" marL="0">
              <a:lnSpc>
                <a:spcPct val="105000"/>
              </a:lnSpc>
              <a:buNone/>
            </a:pPr>
            <a:r>
              <a:rPr lang="en-US" sz="2800" b="1" spc="-100" kern="0" dirty="0">
                <a:solidFill>
                  <a:srgbClr val="2563EB"/>
                </a:solidFill>
                <a:latin typeface="Calibri" pitchFamily="34" charset="0"/>
                <a:ea typeface="Calibri" pitchFamily="34" charset="-122"/>
                <a:cs typeface="Calibri" pitchFamily="34" charset="-120"/>
              </a:rPr>
              <a:t>Every step transparent.</a:t>
            </a:r>
            <a:endParaRPr lang="en-US" sz="2800" dirty="0"/>
          </a:p>
        </p:txBody>
      </p:sp>
      <p:sp>
        <p:nvSpPr>
          <p:cNvPr id="5" name="Shape 3"/>
          <p:cNvSpPr/>
          <p:nvPr/>
        </p:nvSpPr>
        <p:spPr>
          <a:xfrm>
            <a:off x="457200" y="1691640"/>
            <a:ext cx="2697480" cy="1188720"/>
          </a:xfrm>
          <a:prstGeom prst="rect">
            <a:avLst>
              <a:gd name="adj" fmla="val 6154"/>
            </a:avLst>
          </a:prstGeom>
          <a:solidFill>
            <a:srgbClr val="FFFFFF"/>
          </a:solidFill>
          <a:ln w="6350">
            <a:solidFill>
              <a:srgbClr val="E4E4EA"/>
            </a:solidFill>
            <a:prstDash val="solid"/>
          </a:ln>
        </p:spPr>
      </p:sp>
      <p:sp>
        <p:nvSpPr>
          <p:cNvPr id="6" name="Text 4"/>
          <p:cNvSpPr/>
          <p:nvPr/>
        </p:nvSpPr>
        <p:spPr>
          <a:xfrm>
            <a:off x="594360" y="1783080"/>
            <a:ext cx="2423160" cy="256032"/>
          </a:xfrm>
          <a:prstGeom prst="rect">
            <a:avLst/>
          </a:prstGeom>
          <a:noFill/>
          <a:ln/>
        </p:spPr>
        <p:txBody>
          <a:bodyPr wrap="square" lIns="0" tIns="0" rIns="0" bIns="0" rtlCol="0" anchor="ctr"/>
          <a:lstStyle/>
          <a:p>
            <a:pPr indent="0" marL="0">
              <a:buNone/>
            </a:pPr>
            <a:r>
              <a:rPr lang="en-US" sz="900" b="1" dirty="0">
                <a:solidFill>
                  <a:srgbClr val="2563EB"/>
                </a:solidFill>
                <a:latin typeface="Courier New" pitchFamily="34" charset="0"/>
                <a:ea typeface="Courier New" pitchFamily="34" charset="-122"/>
                <a:cs typeface="Courier New" pitchFamily="34" charset="-120"/>
              </a:rPr>
              <a:t>01 — Values ranking</a:t>
            </a:r>
            <a:endParaRPr lang="en-US" sz="900" dirty="0"/>
          </a:p>
        </p:txBody>
      </p:sp>
      <p:sp>
        <p:nvSpPr>
          <p:cNvPr id="7" name="Text 5"/>
          <p:cNvSpPr/>
          <p:nvPr/>
        </p:nvSpPr>
        <p:spPr>
          <a:xfrm>
            <a:off x="594360" y="2075688"/>
            <a:ext cx="2423160" cy="69494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Organisation ranks what it stands for. Primary filter — evaluated before all else.</a:t>
            </a:r>
            <a:endParaRPr lang="en-US" sz="900" dirty="0"/>
          </a:p>
        </p:txBody>
      </p:sp>
      <p:sp>
        <p:nvSpPr>
          <p:cNvPr id="8" name="Text 6"/>
          <p:cNvSpPr/>
          <p:nvPr/>
        </p:nvSpPr>
        <p:spPr>
          <a:xfrm>
            <a:off x="3172968" y="2212848"/>
            <a:ext cx="228600" cy="228600"/>
          </a:xfrm>
          <a:prstGeom prst="rect">
            <a:avLst/>
          </a:prstGeom>
          <a:noFill/>
          <a:ln/>
        </p:spPr>
        <p:txBody>
          <a:bodyPr wrap="square" lIns="0" tIns="0" rIns="0" bIns="0" rtlCol="0" anchor="ctr"/>
          <a:lstStyle/>
          <a:p>
            <a:pPr algn="ctr" indent="0" marL="0">
              <a:buNone/>
            </a:pPr>
            <a:r>
              <a:rPr lang="en-US" sz="1200" dirty="0">
                <a:solidFill>
                  <a:srgbClr val="6B7280"/>
                </a:solidFill>
              </a:rPr>
              <a:t>→</a:t>
            </a:r>
            <a:endParaRPr lang="en-US" sz="1200" dirty="0"/>
          </a:p>
        </p:txBody>
      </p:sp>
      <p:sp>
        <p:nvSpPr>
          <p:cNvPr id="9" name="Shape 7"/>
          <p:cNvSpPr/>
          <p:nvPr/>
        </p:nvSpPr>
        <p:spPr>
          <a:xfrm>
            <a:off x="3291840" y="1691640"/>
            <a:ext cx="2697480" cy="1188720"/>
          </a:xfrm>
          <a:prstGeom prst="rect">
            <a:avLst>
              <a:gd name="adj" fmla="val 6154"/>
            </a:avLst>
          </a:prstGeom>
          <a:solidFill>
            <a:srgbClr val="FFFFFF"/>
          </a:solidFill>
          <a:ln w="6350">
            <a:solidFill>
              <a:srgbClr val="E4E4EA"/>
            </a:solidFill>
            <a:prstDash val="solid"/>
          </a:ln>
        </p:spPr>
      </p:sp>
      <p:sp>
        <p:nvSpPr>
          <p:cNvPr id="10" name="Text 8"/>
          <p:cNvSpPr/>
          <p:nvPr/>
        </p:nvSpPr>
        <p:spPr>
          <a:xfrm>
            <a:off x="3429000" y="1783080"/>
            <a:ext cx="2423160" cy="256032"/>
          </a:xfrm>
          <a:prstGeom prst="rect">
            <a:avLst/>
          </a:prstGeom>
          <a:noFill/>
          <a:ln/>
        </p:spPr>
        <p:txBody>
          <a:bodyPr wrap="square" lIns="0" tIns="0" rIns="0" bIns="0" rtlCol="0" anchor="ctr"/>
          <a:lstStyle/>
          <a:p>
            <a:pPr indent="0" marL="0">
              <a:buNone/>
            </a:pPr>
            <a:r>
              <a:rPr lang="en-US" sz="900" b="1" dirty="0">
                <a:solidFill>
                  <a:srgbClr val="2563EB"/>
                </a:solidFill>
                <a:latin typeface="Courier New" pitchFamily="34" charset="0"/>
                <a:ea typeface="Courier New" pitchFamily="34" charset="-122"/>
                <a:cs typeface="Courier New" pitchFamily="34" charset="-120"/>
              </a:rPr>
              <a:t>02 — 9 Assessment questions</a:t>
            </a:r>
            <a:endParaRPr lang="en-US" sz="900" dirty="0"/>
          </a:p>
        </p:txBody>
      </p:sp>
      <p:sp>
        <p:nvSpPr>
          <p:cNvPr id="11" name="Text 9"/>
          <p:cNvSpPr/>
          <p:nvPr/>
        </p:nvSpPr>
        <p:spPr>
          <a:xfrm>
            <a:off x="3429000" y="2075688"/>
            <a:ext cx="2423160" cy="69494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Context · risk · constraints. Mapped to DIKW layer. Order cannot be reversed.</a:t>
            </a:r>
            <a:endParaRPr lang="en-US" sz="900" dirty="0"/>
          </a:p>
        </p:txBody>
      </p:sp>
      <p:sp>
        <p:nvSpPr>
          <p:cNvPr id="12" name="Text 10"/>
          <p:cNvSpPr/>
          <p:nvPr/>
        </p:nvSpPr>
        <p:spPr>
          <a:xfrm>
            <a:off x="6007608" y="2212848"/>
            <a:ext cx="228600" cy="228600"/>
          </a:xfrm>
          <a:prstGeom prst="rect">
            <a:avLst/>
          </a:prstGeom>
          <a:noFill/>
          <a:ln/>
        </p:spPr>
        <p:txBody>
          <a:bodyPr wrap="square" lIns="0" tIns="0" rIns="0" bIns="0" rtlCol="0" anchor="ctr"/>
          <a:lstStyle/>
          <a:p>
            <a:pPr algn="ctr" indent="0" marL="0">
              <a:buNone/>
            </a:pPr>
            <a:r>
              <a:rPr lang="en-US" sz="1200" dirty="0">
                <a:solidFill>
                  <a:srgbClr val="6B7280"/>
                </a:solidFill>
              </a:rPr>
              <a:t>→</a:t>
            </a:r>
            <a:endParaRPr lang="en-US" sz="1200" dirty="0"/>
          </a:p>
        </p:txBody>
      </p:sp>
      <p:sp>
        <p:nvSpPr>
          <p:cNvPr id="13" name="Shape 11"/>
          <p:cNvSpPr/>
          <p:nvPr/>
        </p:nvSpPr>
        <p:spPr>
          <a:xfrm>
            <a:off x="6126480" y="1691640"/>
            <a:ext cx="2697480" cy="1188720"/>
          </a:xfrm>
          <a:prstGeom prst="rect">
            <a:avLst>
              <a:gd name="adj" fmla="val 6154"/>
            </a:avLst>
          </a:prstGeom>
          <a:solidFill>
            <a:srgbClr val="FFFFFF"/>
          </a:solidFill>
          <a:ln w="6350">
            <a:solidFill>
              <a:srgbClr val="E4E4EA"/>
            </a:solidFill>
            <a:prstDash val="solid"/>
          </a:ln>
        </p:spPr>
      </p:sp>
      <p:sp>
        <p:nvSpPr>
          <p:cNvPr id="14" name="Text 12"/>
          <p:cNvSpPr/>
          <p:nvPr/>
        </p:nvSpPr>
        <p:spPr>
          <a:xfrm>
            <a:off x="6263640" y="1783080"/>
            <a:ext cx="2423160" cy="256032"/>
          </a:xfrm>
          <a:prstGeom prst="rect">
            <a:avLst/>
          </a:prstGeom>
          <a:noFill/>
          <a:ln/>
        </p:spPr>
        <p:txBody>
          <a:bodyPr wrap="square" lIns="0" tIns="0" rIns="0" bIns="0" rtlCol="0" anchor="ctr"/>
          <a:lstStyle/>
          <a:p>
            <a:pPr indent="0" marL="0">
              <a:buNone/>
            </a:pPr>
            <a:r>
              <a:rPr lang="en-US" sz="900" b="1" dirty="0">
                <a:solidFill>
                  <a:srgbClr val="2563EB"/>
                </a:solidFill>
                <a:latin typeface="Courier New" pitchFamily="34" charset="0"/>
                <a:ea typeface="Courier New" pitchFamily="34" charset="-122"/>
                <a:cs typeface="Courier New" pitchFamily="34" charset="-120"/>
              </a:rPr>
              <a:t>03 — Weighted scoring engine</a:t>
            </a:r>
            <a:endParaRPr lang="en-US" sz="900" dirty="0"/>
          </a:p>
        </p:txBody>
      </p:sp>
      <p:sp>
        <p:nvSpPr>
          <p:cNvPr id="15" name="Text 13"/>
          <p:cNvSpPr/>
          <p:nvPr/>
        </p:nvSpPr>
        <p:spPr>
          <a:xfrm>
            <a:off x="6263640" y="2075688"/>
            <a:ext cx="2423160" cy="69494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Each answer scored on fixed scale. Weights by DIKW layer (Wisdom highest).</a:t>
            </a:r>
            <a:endParaRPr lang="en-US" sz="900" dirty="0"/>
          </a:p>
        </p:txBody>
      </p:sp>
      <p:sp>
        <p:nvSpPr>
          <p:cNvPr id="16" name="Text 14"/>
          <p:cNvSpPr/>
          <p:nvPr/>
        </p:nvSpPr>
        <p:spPr>
          <a:xfrm>
            <a:off x="7470648" y="2926080"/>
            <a:ext cx="228600" cy="228600"/>
          </a:xfrm>
          <a:prstGeom prst="rect">
            <a:avLst/>
          </a:prstGeom>
          <a:noFill/>
          <a:ln/>
        </p:spPr>
        <p:txBody>
          <a:bodyPr wrap="square" lIns="0" tIns="0" rIns="0" bIns="0" rtlCol="0" anchor="ctr"/>
          <a:lstStyle/>
          <a:p>
            <a:pPr algn="ctr" indent="0" marL="0">
              <a:buNone/>
            </a:pPr>
            <a:r>
              <a:rPr lang="en-US" sz="1200" dirty="0">
                <a:solidFill>
                  <a:srgbClr val="6B7280"/>
                </a:solidFill>
              </a:rPr>
              <a:t>↓</a:t>
            </a:r>
            <a:endParaRPr lang="en-US" sz="1200" dirty="0"/>
          </a:p>
        </p:txBody>
      </p:sp>
      <p:sp>
        <p:nvSpPr>
          <p:cNvPr id="17" name="Shape 15"/>
          <p:cNvSpPr/>
          <p:nvPr/>
        </p:nvSpPr>
        <p:spPr>
          <a:xfrm>
            <a:off x="457200" y="3063240"/>
            <a:ext cx="2697480" cy="1188720"/>
          </a:xfrm>
          <a:prstGeom prst="rect">
            <a:avLst>
              <a:gd name="adj" fmla="val 6154"/>
            </a:avLst>
          </a:prstGeom>
          <a:solidFill>
            <a:srgbClr val="FFFFFF"/>
          </a:solidFill>
          <a:ln w="6350">
            <a:solidFill>
              <a:srgbClr val="E4E4EA"/>
            </a:solidFill>
            <a:prstDash val="solid"/>
          </a:ln>
        </p:spPr>
      </p:sp>
      <p:sp>
        <p:nvSpPr>
          <p:cNvPr id="18" name="Text 16"/>
          <p:cNvSpPr/>
          <p:nvPr/>
        </p:nvSpPr>
        <p:spPr>
          <a:xfrm>
            <a:off x="594360" y="3154680"/>
            <a:ext cx="2423160" cy="256032"/>
          </a:xfrm>
          <a:prstGeom prst="rect">
            <a:avLst/>
          </a:prstGeom>
          <a:noFill/>
          <a:ln/>
        </p:spPr>
        <p:txBody>
          <a:bodyPr wrap="square" lIns="0" tIns="0" rIns="0" bIns="0" rtlCol="0" anchor="ctr"/>
          <a:lstStyle/>
          <a:p>
            <a:pPr indent="0" marL="0">
              <a:buNone/>
            </a:pPr>
            <a:r>
              <a:rPr lang="en-US" sz="900" b="1" dirty="0">
                <a:solidFill>
                  <a:srgbClr val="2563EB"/>
                </a:solidFill>
                <a:latin typeface="Courier New" pitchFamily="34" charset="0"/>
                <a:ea typeface="Courier New" pitchFamily="34" charset="-122"/>
                <a:cs typeface="Courier New" pitchFamily="34" charset="-120"/>
              </a:rPr>
              <a:t>04 — 5 Interface type scores</a:t>
            </a:r>
            <a:endParaRPr lang="en-US" sz="900" dirty="0"/>
          </a:p>
        </p:txBody>
      </p:sp>
      <p:sp>
        <p:nvSpPr>
          <p:cNvPr id="19" name="Text 17"/>
          <p:cNvSpPr/>
          <p:nvPr/>
        </p:nvSpPr>
        <p:spPr>
          <a:xfrm>
            <a:off x="594360" y="3447288"/>
            <a:ext cx="2423160" cy="69494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Screen · Voice · AR/VR · Conversational AI · Automation. Ranked by compatibility.</a:t>
            </a:r>
            <a:endParaRPr lang="en-US" sz="900" dirty="0"/>
          </a:p>
        </p:txBody>
      </p:sp>
      <p:sp>
        <p:nvSpPr>
          <p:cNvPr id="20" name="Text 18"/>
          <p:cNvSpPr/>
          <p:nvPr/>
        </p:nvSpPr>
        <p:spPr>
          <a:xfrm>
            <a:off x="3172968" y="3584448"/>
            <a:ext cx="228600" cy="228600"/>
          </a:xfrm>
          <a:prstGeom prst="rect">
            <a:avLst/>
          </a:prstGeom>
          <a:noFill/>
          <a:ln/>
        </p:spPr>
        <p:txBody>
          <a:bodyPr wrap="square" lIns="0" tIns="0" rIns="0" bIns="0" rtlCol="0" anchor="ctr"/>
          <a:lstStyle/>
          <a:p>
            <a:pPr algn="ctr" indent="0" marL="0">
              <a:buNone/>
            </a:pPr>
            <a:r>
              <a:rPr lang="en-US" sz="1200" dirty="0">
                <a:solidFill>
                  <a:srgbClr val="6B7280"/>
                </a:solidFill>
              </a:rPr>
              <a:t>→</a:t>
            </a:r>
            <a:endParaRPr lang="en-US" sz="1200" dirty="0"/>
          </a:p>
        </p:txBody>
      </p:sp>
      <p:sp>
        <p:nvSpPr>
          <p:cNvPr id="21" name="Shape 19"/>
          <p:cNvSpPr/>
          <p:nvPr/>
        </p:nvSpPr>
        <p:spPr>
          <a:xfrm>
            <a:off x="3291840" y="3063240"/>
            <a:ext cx="2697480" cy="1188720"/>
          </a:xfrm>
          <a:prstGeom prst="rect">
            <a:avLst>
              <a:gd name="adj" fmla="val 6154"/>
            </a:avLst>
          </a:prstGeom>
          <a:solidFill>
            <a:srgbClr val="FFFFFF"/>
          </a:solidFill>
          <a:ln w="6350">
            <a:solidFill>
              <a:srgbClr val="E4E4EA"/>
            </a:solidFill>
            <a:prstDash val="solid"/>
          </a:ln>
        </p:spPr>
      </p:sp>
      <p:sp>
        <p:nvSpPr>
          <p:cNvPr id="22" name="Text 20"/>
          <p:cNvSpPr/>
          <p:nvPr/>
        </p:nvSpPr>
        <p:spPr>
          <a:xfrm>
            <a:off x="3429000" y="3154680"/>
            <a:ext cx="2423160" cy="256032"/>
          </a:xfrm>
          <a:prstGeom prst="rect">
            <a:avLst/>
          </a:prstGeom>
          <a:noFill/>
          <a:ln/>
        </p:spPr>
        <p:txBody>
          <a:bodyPr wrap="square" lIns="0" tIns="0" rIns="0" bIns="0" rtlCol="0" anchor="ctr"/>
          <a:lstStyle/>
          <a:p>
            <a:pPr indent="0" marL="0">
              <a:buNone/>
            </a:pPr>
            <a:r>
              <a:rPr lang="en-US" sz="900" b="1" dirty="0">
                <a:solidFill>
                  <a:srgbClr val="2563EB"/>
                </a:solidFill>
                <a:latin typeface="Courier New" pitchFamily="34" charset="0"/>
                <a:ea typeface="Courier New" pitchFamily="34" charset="-122"/>
                <a:cs typeface="Courier New" pitchFamily="34" charset="-120"/>
              </a:rPr>
              <a:t>05 — Red flag detection</a:t>
            </a:r>
            <a:endParaRPr lang="en-US" sz="900" dirty="0"/>
          </a:p>
        </p:txBody>
      </p:sp>
      <p:sp>
        <p:nvSpPr>
          <p:cNvPr id="23" name="Text 21"/>
          <p:cNvSpPr/>
          <p:nvPr/>
        </p:nvSpPr>
        <p:spPr>
          <a:xfrm>
            <a:off x="3429000" y="3447288"/>
            <a:ext cx="2423160" cy="69494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Cross-checks top recommendation against top-ranked values. Conflicts surface as warnings.</a:t>
            </a:r>
            <a:endParaRPr lang="en-US" sz="900" dirty="0"/>
          </a:p>
        </p:txBody>
      </p:sp>
      <p:sp>
        <p:nvSpPr>
          <p:cNvPr id="24" name="Text 22"/>
          <p:cNvSpPr/>
          <p:nvPr/>
        </p:nvSpPr>
        <p:spPr>
          <a:xfrm>
            <a:off x="6007608" y="3584448"/>
            <a:ext cx="228600" cy="228600"/>
          </a:xfrm>
          <a:prstGeom prst="rect">
            <a:avLst/>
          </a:prstGeom>
          <a:noFill/>
          <a:ln/>
        </p:spPr>
        <p:txBody>
          <a:bodyPr wrap="square" lIns="0" tIns="0" rIns="0" bIns="0" rtlCol="0" anchor="ctr"/>
          <a:lstStyle/>
          <a:p>
            <a:pPr algn="ctr" indent="0" marL="0">
              <a:buNone/>
            </a:pPr>
            <a:r>
              <a:rPr lang="en-US" sz="1200" dirty="0">
                <a:solidFill>
                  <a:srgbClr val="6B7280"/>
                </a:solidFill>
              </a:rPr>
              <a:t>→</a:t>
            </a:r>
            <a:endParaRPr lang="en-US" sz="1200" dirty="0"/>
          </a:p>
        </p:txBody>
      </p:sp>
      <p:sp>
        <p:nvSpPr>
          <p:cNvPr id="25" name="Shape 23"/>
          <p:cNvSpPr/>
          <p:nvPr/>
        </p:nvSpPr>
        <p:spPr>
          <a:xfrm>
            <a:off x="6126480" y="3063240"/>
            <a:ext cx="2697480" cy="1188720"/>
          </a:xfrm>
          <a:prstGeom prst="rect">
            <a:avLst>
              <a:gd name="adj" fmla="val 6154"/>
            </a:avLst>
          </a:prstGeom>
          <a:solidFill>
            <a:srgbClr val="FFFFFF"/>
          </a:solidFill>
          <a:ln w="6350">
            <a:solidFill>
              <a:srgbClr val="E4E4EA"/>
            </a:solidFill>
            <a:prstDash val="solid"/>
          </a:ln>
        </p:spPr>
      </p:sp>
      <p:sp>
        <p:nvSpPr>
          <p:cNvPr id="26" name="Text 24"/>
          <p:cNvSpPr/>
          <p:nvPr/>
        </p:nvSpPr>
        <p:spPr>
          <a:xfrm>
            <a:off x="6263640" y="3154680"/>
            <a:ext cx="2423160" cy="256032"/>
          </a:xfrm>
          <a:prstGeom prst="rect">
            <a:avLst/>
          </a:prstGeom>
          <a:noFill/>
          <a:ln/>
        </p:spPr>
        <p:txBody>
          <a:bodyPr wrap="square" lIns="0" tIns="0" rIns="0" bIns="0" rtlCol="0" anchor="ctr"/>
          <a:lstStyle/>
          <a:p>
            <a:pPr indent="0" marL="0">
              <a:buNone/>
            </a:pPr>
            <a:r>
              <a:rPr lang="en-US" sz="900" b="1" dirty="0">
                <a:solidFill>
                  <a:srgbClr val="2563EB"/>
                </a:solidFill>
                <a:latin typeface="Courier New" pitchFamily="34" charset="0"/>
                <a:ea typeface="Courier New" pitchFamily="34" charset="-122"/>
                <a:cs typeface="Courier New" pitchFamily="34" charset="-120"/>
              </a:rPr>
              <a:t>06 — Structured report</a:t>
            </a:r>
            <a:endParaRPr lang="en-US" sz="900" dirty="0"/>
          </a:p>
        </p:txBody>
      </p:sp>
      <p:sp>
        <p:nvSpPr>
          <p:cNvPr id="27" name="Text 25"/>
          <p:cNvSpPr/>
          <p:nvPr/>
        </p:nvSpPr>
        <p:spPr>
          <a:xfrm>
            <a:off x="6263640" y="3447288"/>
            <a:ext cx="2423160" cy="694944"/>
          </a:xfrm>
          <a:prstGeom prst="rect">
            <a:avLst/>
          </a:prstGeom>
          <a:noFill/>
          <a:ln/>
        </p:spPr>
        <p:txBody>
          <a:bodyPr wrap="square" lIns="0" tIns="0" rIns="0" bIns="0" rtlCol="0" anchor="t"/>
          <a:lstStyle/>
          <a:p>
            <a:pPr indent="0" marL="0">
              <a:buNone/>
            </a:pPr>
            <a:r>
              <a:rPr lang="en-US" sz="900" dirty="0">
                <a:solidFill>
                  <a:srgbClr val="4B5563"/>
                </a:solidFill>
                <a:latin typeface="Calibri" pitchFamily="34" charset="0"/>
                <a:ea typeface="Calibri" pitchFamily="34" charset="-122"/>
                <a:cs typeface="Calibri" pitchFamily="34" charset="-120"/>
              </a:rPr>
              <a:t>Alignments, tensions, precedents. Designer reads it. Designer decides.</a:t>
            </a:r>
            <a:endParaRPr lang="en-US" sz="900" dirty="0"/>
          </a:p>
        </p:txBody>
      </p:sp>
      <p:sp>
        <p:nvSpPr>
          <p:cNvPr id="28" name="Text 26"/>
          <p:cNvSpPr/>
          <p:nvPr/>
        </p:nvSpPr>
        <p:spPr>
          <a:xfrm>
            <a:off x="457200" y="4864608"/>
            <a:ext cx="2743200" cy="182880"/>
          </a:xfrm>
          <a:prstGeom prst="rect">
            <a:avLst/>
          </a:prstGeom>
          <a:noFill/>
          <a:ln/>
        </p:spPr>
        <p:txBody>
          <a:bodyPr wrap="square" lIns="0" tIns="0" rIns="0" bIns="0" rtlCol="0" anchor="ctr"/>
          <a:lstStyle/>
          <a:p>
            <a:pPr indent="0" marL="0">
              <a:buNone/>
            </a:pPr>
            <a:r>
              <a:rPr lang="en-US" sz="700" b="1" spc="200" kern="0" dirty="0">
                <a:solidFill>
                  <a:srgbClr val="18181F"/>
                </a:solidFill>
                <a:latin typeface="Courier New" pitchFamily="34" charset="0"/>
                <a:ea typeface="Courier New" pitchFamily="34" charset="-122"/>
                <a:cs typeface="Courier New" pitchFamily="34" charset="-120"/>
              </a:rPr>
              <a:t>NEXUS</a:t>
            </a:r>
            <a:pPr indent="0" marL="0">
              <a:buNone/>
            </a:pPr>
            <a:r>
              <a:rPr lang="en-US" sz="700" spc="200" kern="0" dirty="0">
                <a:solidFill>
                  <a:srgbClr val="6B7280"/>
                </a:solidFill>
                <a:latin typeface="Courier New" pitchFamily="34" charset="0"/>
                <a:ea typeface="Courier New" pitchFamily="34" charset="-122"/>
                <a:cs typeface="Courier New" pitchFamily="34" charset="-120"/>
              </a:rPr>
              <a:t> · Defense</a:t>
            </a:r>
            <a:endParaRPr lang="en-US" sz="700" dirty="0"/>
          </a:p>
        </p:txBody>
      </p:sp>
      <p:sp>
        <p:nvSpPr>
          <p:cNvPr id="29" name="Text 27"/>
          <p:cNvSpPr/>
          <p:nvPr/>
        </p:nvSpPr>
        <p:spPr>
          <a:xfrm>
            <a:off x="7772400" y="4864608"/>
            <a:ext cx="914400" cy="182880"/>
          </a:xfrm>
          <a:prstGeom prst="rect">
            <a:avLst/>
          </a:prstGeom>
          <a:noFill/>
          <a:ln/>
        </p:spPr>
        <p:txBody>
          <a:bodyPr wrap="square" lIns="0" tIns="0" rIns="0" bIns="0" rtlCol="0" anchor="ctr"/>
          <a:lstStyle/>
          <a:p>
            <a:pPr algn="r" indent="0" marL="0">
              <a:buNone/>
            </a:pPr>
            <a:r>
              <a:rPr lang="en-US" sz="700" spc="200" kern="0" dirty="0">
                <a:solidFill>
                  <a:srgbClr val="6B7280"/>
                </a:solidFill>
                <a:latin typeface="Courier New" pitchFamily="34" charset="0"/>
                <a:ea typeface="Courier New" pitchFamily="34" charset="-122"/>
                <a:cs typeface="Courier New" pitchFamily="34" charset="-120"/>
              </a:rPr>
              <a:t>B8</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 — Defense</dc:title>
  <dc:subject>PptxGenJS Presentation</dc:subject>
  <dc:creator>ZARATE Ilverzon</dc:creator>
  <cp:lastModifiedBy>ZARATE Ilverzon</cp:lastModifiedBy>
  <cp:revision>1</cp:revision>
  <dcterms:created xsi:type="dcterms:W3CDTF">2026-06-28T00:37:41Z</dcterms:created>
  <dcterms:modified xsi:type="dcterms:W3CDTF">2026-06-28T00:37:41Z</dcterms:modified>
</cp:coreProperties>
</file>